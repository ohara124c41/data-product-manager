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b3f6b4eae4420e" /><Relationship Type="http://schemas.openxmlformats.org/officeDocument/2006/relationships/extended-properties" Target="/docProps/app.xml" Id="Rf59382f8bb0e463d" /><Relationship Type="http://schemas.openxmlformats.org/officeDocument/2006/relationships/officeDocument" Target="/ppt/presentation.xml" Id="R77b711d189064eac"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4d7920c1f64a4cb8"/>
  </p:sldMasterIdLst>
  <p:notesMasterIdLst>
    <p:notesMasterId xmlns:r="http://schemas.openxmlformats.org/officeDocument/2006/relationships" r:id="R870d980c41c04873"/>
  </p:notesMasterIdLst>
  <p:sldIdLst>
    <p:sldId xmlns:r="http://schemas.openxmlformats.org/officeDocument/2006/relationships" id="256" r:id="R5374961eb5ab45a1"/>
    <p:sldId xmlns:r="http://schemas.openxmlformats.org/officeDocument/2006/relationships" id="257" r:id="Ref95f5142f1e42b2"/>
    <p:sldId xmlns:r="http://schemas.openxmlformats.org/officeDocument/2006/relationships" id="258" r:id="R68d2fb9d819a4417"/>
    <p:sldId xmlns:r="http://schemas.openxmlformats.org/officeDocument/2006/relationships" id="259" r:id="R0e414953fed040ad"/>
    <p:sldId xmlns:r="http://schemas.openxmlformats.org/officeDocument/2006/relationships" id="260" r:id="R1798919c0bd640a4"/>
    <p:sldId xmlns:r="http://schemas.openxmlformats.org/officeDocument/2006/relationships" id="261" r:id="R0f3632cc28f3474d"/>
    <p:sldId xmlns:r="http://schemas.openxmlformats.org/officeDocument/2006/relationships" id="262" r:id="R9291b076165d44f1"/>
    <p:sldId xmlns:r="http://schemas.openxmlformats.org/officeDocument/2006/relationships" id="263" r:id="Rd4942f55bd2e4ba7"/>
    <p:sldId xmlns:r="http://schemas.openxmlformats.org/officeDocument/2006/relationships" id="264" r:id="Rbab6a402eee24412"/>
    <p:sldId xmlns:r="http://schemas.openxmlformats.org/officeDocument/2006/relationships" id="265" r:id="Rf66ba0099ef54763"/>
    <p:sldId xmlns:r="http://schemas.openxmlformats.org/officeDocument/2006/relationships" id="266" r:id="R393b193cd65146e5"/>
    <p:sldId xmlns:r="http://schemas.openxmlformats.org/officeDocument/2006/relationships" id="267" r:id="R9bd39e6c7f304317"/>
    <p:sldId xmlns:r="http://schemas.openxmlformats.org/officeDocument/2006/relationships" id="268" r:id="Rc96a077f01b44248"/>
    <p:sldId xmlns:r="http://schemas.openxmlformats.org/officeDocument/2006/relationships" id="269" r:id="R7f48748492224f46"/>
    <p:sldId xmlns:r="http://schemas.openxmlformats.org/officeDocument/2006/relationships" id="270" r:id="R933a931586244385"/>
    <p:sldId xmlns:r="http://schemas.openxmlformats.org/officeDocument/2006/relationships" id="271" r:id="Rbe6051fc95754ca7"/>
    <p:sldId xmlns:r="http://schemas.openxmlformats.org/officeDocument/2006/relationships" id="272" r:id="Ree122b0a8ee44177"/>
    <p:sldId xmlns:r="http://schemas.openxmlformats.org/officeDocument/2006/relationships" id="273" r:id="Rc3dd253f344b4a61"/>
    <p:sldId xmlns:r="http://schemas.openxmlformats.org/officeDocument/2006/relationships" id="274" r:id="Raa5d39ca474c4d6d"/>
    <p:sldId xmlns:r="http://schemas.openxmlformats.org/officeDocument/2006/relationships" id="275" r:id="R3ed6395a4a294bdf"/>
    <p:sldId xmlns:r="http://schemas.openxmlformats.org/officeDocument/2006/relationships" id="276" r:id="R02af541020894dcf"/>
    <p:sldId xmlns:r="http://schemas.openxmlformats.org/officeDocument/2006/relationships" id="277" r:id="Ra85754ed7997426b"/>
    <p:sldId xmlns:r="http://schemas.openxmlformats.org/officeDocument/2006/relationships" id="278" r:id="Ref735a7715b9498a"/>
    <p:sldId xmlns:r="http://schemas.openxmlformats.org/officeDocument/2006/relationships" id="279" r:id="R56e9e63b66ec4c8e"/>
    <p:sldId xmlns:r="http://schemas.openxmlformats.org/officeDocument/2006/relationships" id="280" r:id="R01ad26141a924336"/>
    <p:sldId xmlns:r="http://schemas.openxmlformats.org/officeDocument/2006/relationships" id="281" r:id="Rb83d5b8dee084e2e"/>
    <p:sldId xmlns:r="http://schemas.openxmlformats.org/officeDocument/2006/relationships" id="282" r:id="Rb005d2ba0f00429c"/>
    <p:sldId xmlns:r="http://schemas.openxmlformats.org/officeDocument/2006/relationships" id="283" r:id="R67cc82c4900e44fc"/>
    <p:sldId xmlns:r="http://schemas.openxmlformats.org/officeDocument/2006/relationships" id="284" r:id="Reacc04d0dc89435b"/>
    <p:sldId xmlns:r="http://schemas.openxmlformats.org/officeDocument/2006/relationships" id="285" r:id="Rac7e022624d6414f"/>
    <p:sldId xmlns:r="http://schemas.openxmlformats.org/officeDocument/2006/relationships" id="286" r:id="Rd77895a740c34f20"/>
    <p:sldId xmlns:r="http://schemas.openxmlformats.org/officeDocument/2006/relationships" id="287" r:id="R8540aa1615be40dc"/>
    <p:sldId xmlns:r="http://schemas.openxmlformats.org/officeDocument/2006/relationships" id="288" r:id="Re732696168bd4477"/>
    <p:sldId xmlns:r="http://schemas.openxmlformats.org/officeDocument/2006/relationships" id="289" r:id="Rd17a94f4711a4857"/>
    <p:sldId xmlns:r="http://schemas.openxmlformats.org/officeDocument/2006/relationships" id="290" r:id="R56e7ba4750c346ff"/>
    <p:sldId xmlns:r="http://schemas.openxmlformats.org/officeDocument/2006/relationships" id="291" r:id="Rdcbffeb913bb4566"/>
    <p:sldId xmlns:r="http://schemas.openxmlformats.org/officeDocument/2006/relationships" id="292" r:id="Rd6df6f03ea264e52"/>
    <p:sldId xmlns:r="http://schemas.openxmlformats.org/officeDocument/2006/relationships" id="293" r:id="R174aa308501d49d8"/>
    <p:sldId xmlns:r="http://schemas.openxmlformats.org/officeDocument/2006/relationships" id="294" r:id="R51ac2a1c02b7497e"/>
    <p:sldId xmlns:r="http://schemas.openxmlformats.org/officeDocument/2006/relationships" id="295" r:id="R335d41e72c4c44d5"/>
    <p:sldId xmlns:r="http://schemas.openxmlformats.org/officeDocument/2006/relationships" id="296" r:id="Rc4a2dee0866e4f3c"/>
    <p:sldId xmlns:r="http://schemas.openxmlformats.org/officeDocument/2006/relationships" id="297" r:id="Rc5ff6e4c59db4031"/>
    <p:sldId xmlns:r="http://schemas.openxmlformats.org/officeDocument/2006/relationships" id="298" r:id="R912227b51e304ec8"/>
    <p:sldId xmlns:r="http://schemas.openxmlformats.org/officeDocument/2006/relationships" id="299" r:id="Ree18b403db1b421c"/>
    <p:sldId xmlns:r="http://schemas.openxmlformats.org/officeDocument/2006/relationships" id="300" r:id="R464e6ae427954319"/>
    <p:sldId xmlns:r="http://schemas.openxmlformats.org/officeDocument/2006/relationships" id="301" r:id="R3e2187ade15b40cd"/>
    <p:sldId xmlns:r="http://schemas.openxmlformats.org/officeDocument/2006/relationships" id="302" r:id="R54d3a2687e7b4342"/>
    <p:sldId xmlns:r="http://schemas.openxmlformats.org/officeDocument/2006/relationships" id="303" r:id="R5270cf223da24088"/>
    <p:sldId xmlns:r="http://schemas.openxmlformats.org/officeDocument/2006/relationships" id="304" r:id="Rbbfb5d23bd764523"/>
    <p:sldId xmlns:r="http://schemas.openxmlformats.org/officeDocument/2006/relationships" id="305" r:id="R82b557a02fa14b60"/>
  </p:sldIdLst>
  <p:sldSz cx="9144000" cy="5143500"/>
  <p:notesSz cx="6858000" cy="9144000"/>
  <p:embeddedFontLst>
    <p:embeddedFont>
      <p:font typeface="Nunito"/>
      <p:regular xmlns:r="http://schemas.openxmlformats.org/officeDocument/2006/relationships" r:id="R669714dd8c7b4c33"/>
      <p:bold xmlns:r="http://schemas.openxmlformats.org/officeDocument/2006/relationships" r:id="Rc156ee4a8c2b4f09"/>
      <p:italic xmlns:r="http://schemas.openxmlformats.org/officeDocument/2006/relationships" r:id="R6dc856adfe2b4186"/>
      <p:boldItalic xmlns:r="http://schemas.openxmlformats.org/officeDocument/2006/relationships" r:id="R8713feecb1c94a69"/>
    </p:embeddedFont>
    <p:embeddedFont>
      <p:font typeface="Nunito Light"/>
      <p:regular xmlns:r="http://schemas.openxmlformats.org/officeDocument/2006/relationships" r:id="R341ab0df273a4876"/>
      <p:bold xmlns:r="http://schemas.openxmlformats.org/officeDocument/2006/relationships" r:id="Rf084eacae84b4084"/>
      <p:italic xmlns:r="http://schemas.openxmlformats.org/officeDocument/2006/relationships" r:id="R9c5d68a376024f30"/>
      <p:boldItalic xmlns:r="http://schemas.openxmlformats.org/officeDocument/2006/relationships" r:id="Rc3865d2c5b44417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499d383247f4ac2" /><Relationship Type="http://schemas.openxmlformats.org/officeDocument/2006/relationships/slideMaster" Target="/ppt/slideMasters/slideMaster1.xml" Id="R4d7920c1f64a4cb8" /><Relationship Type="http://schemas.openxmlformats.org/officeDocument/2006/relationships/notesMaster" Target="/ppt/notesMasters/notesMaster1.xml" Id="R870d980c41c04873" /><Relationship Type="http://schemas.openxmlformats.org/officeDocument/2006/relationships/presProps" Target="/ppt/presProps.xml" Id="Rcbdc9fe46ad747fa" /><Relationship Type="http://schemas.openxmlformats.org/officeDocument/2006/relationships/viewProps" Target="/ppt/viewProps.xml" Id="Rb3b619baa76a4431" /><Relationship Type="http://schemas.openxmlformats.org/officeDocument/2006/relationships/tableStyles" Target="/ppt/tableStyles.xml" Id="R94c40374105c4aaa" /><Relationship Type="http://schemas.openxmlformats.org/officeDocument/2006/relationships/font" Target="/ppt/fonts/font.dat" Id="R669714dd8c7b4c33" /><Relationship Type="http://schemas.openxmlformats.org/officeDocument/2006/relationships/font" Target="/ppt/fonts/font2.dat" Id="Rc156ee4a8c2b4f09" /><Relationship Type="http://schemas.openxmlformats.org/officeDocument/2006/relationships/font" Target="/ppt/fonts/font3.dat" Id="R6dc856adfe2b4186" /><Relationship Type="http://schemas.openxmlformats.org/officeDocument/2006/relationships/font" Target="/ppt/fonts/font4.dat" Id="R8713feecb1c94a69" /><Relationship Type="http://schemas.openxmlformats.org/officeDocument/2006/relationships/font" Target="/ppt/fonts/font5.dat" Id="R341ab0df273a4876" /><Relationship Type="http://schemas.openxmlformats.org/officeDocument/2006/relationships/font" Target="/ppt/fonts/font6.dat" Id="Rf084eacae84b4084" /><Relationship Type="http://schemas.openxmlformats.org/officeDocument/2006/relationships/font" Target="/ppt/fonts/font7.dat" Id="R9c5d68a376024f30" /><Relationship Type="http://schemas.openxmlformats.org/officeDocument/2006/relationships/font" Target="/ppt/fonts/font8.dat" Id="Rc3865d2c5b444178" /><Relationship Type="http://schemas.openxmlformats.org/officeDocument/2006/relationships/slide" Target="/ppt/slides/slide1.xml" Id="R5374961eb5ab45a1" /><Relationship Type="http://schemas.openxmlformats.org/officeDocument/2006/relationships/slide" Target="/ppt/slides/slide2.xml" Id="Ref95f5142f1e42b2" /><Relationship Type="http://schemas.openxmlformats.org/officeDocument/2006/relationships/slide" Target="/ppt/slides/slide3.xml" Id="R68d2fb9d819a4417" /><Relationship Type="http://schemas.openxmlformats.org/officeDocument/2006/relationships/slide" Target="/ppt/slides/slide4.xml" Id="R0e414953fed040ad" /><Relationship Type="http://schemas.openxmlformats.org/officeDocument/2006/relationships/slide" Target="/ppt/slides/slide5.xml" Id="R1798919c0bd640a4" /><Relationship Type="http://schemas.openxmlformats.org/officeDocument/2006/relationships/slide" Target="/ppt/slides/slide6.xml" Id="R0f3632cc28f3474d" /><Relationship Type="http://schemas.openxmlformats.org/officeDocument/2006/relationships/slide" Target="/ppt/slides/slide7.xml" Id="R9291b076165d44f1" /><Relationship Type="http://schemas.openxmlformats.org/officeDocument/2006/relationships/slide" Target="/ppt/slides/slide8.xml" Id="Rd4942f55bd2e4ba7" /><Relationship Type="http://schemas.openxmlformats.org/officeDocument/2006/relationships/slide" Target="/ppt/slides/slide9.xml" Id="Rbab6a402eee24412" /><Relationship Type="http://schemas.openxmlformats.org/officeDocument/2006/relationships/slide" Target="/ppt/slides/slide10.xml" Id="Rf66ba0099ef54763" /><Relationship Type="http://schemas.openxmlformats.org/officeDocument/2006/relationships/slide" Target="/ppt/slides/slide11.xml" Id="R393b193cd65146e5" /><Relationship Type="http://schemas.openxmlformats.org/officeDocument/2006/relationships/slide" Target="/ppt/slides/slide12.xml" Id="R9bd39e6c7f304317" /><Relationship Type="http://schemas.openxmlformats.org/officeDocument/2006/relationships/slide" Target="/ppt/slides/slide13.xml" Id="Rc96a077f01b44248" /><Relationship Type="http://schemas.openxmlformats.org/officeDocument/2006/relationships/slide" Target="/ppt/slides/slide14.xml" Id="R7f48748492224f46" /><Relationship Type="http://schemas.openxmlformats.org/officeDocument/2006/relationships/slide" Target="/ppt/slides/slide15.xml" Id="R933a931586244385" /><Relationship Type="http://schemas.openxmlformats.org/officeDocument/2006/relationships/slide" Target="/ppt/slides/slide16.xml" Id="Rbe6051fc95754ca7" /><Relationship Type="http://schemas.openxmlformats.org/officeDocument/2006/relationships/slide" Target="/ppt/slides/slide17.xml" Id="Ree122b0a8ee44177" /><Relationship Type="http://schemas.openxmlformats.org/officeDocument/2006/relationships/slide" Target="/ppt/slides/slide18.xml" Id="Rc3dd253f344b4a61" /><Relationship Type="http://schemas.openxmlformats.org/officeDocument/2006/relationships/slide" Target="/ppt/slides/slide19.xml" Id="Raa5d39ca474c4d6d" /><Relationship Type="http://schemas.openxmlformats.org/officeDocument/2006/relationships/slide" Target="/ppt/slides/slide20.xml" Id="R3ed6395a4a294bdf" /><Relationship Type="http://schemas.openxmlformats.org/officeDocument/2006/relationships/slide" Target="/ppt/slides/slide21.xml" Id="R02af541020894dcf" /><Relationship Type="http://schemas.openxmlformats.org/officeDocument/2006/relationships/slide" Target="/ppt/slides/slide22.xml" Id="Ra85754ed7997426b" /><Relationship Type="http://schemas.openxmlformats.org/officeDocument/2006/relationships/slide" Target="/ppt/slides/slide23.xml" Id="Ref735a7715b9498a" /><Relationship Type="http://schemas.openxmlformats.org/officeDocument/2006/relationships/slide" Target="/ppt/slides/slide24.xml" Id="R56e9e63b66ec4c8e" /><Relationship Type="http://schemas.openxmlformats.org/officeDocument/2006/relationships/slide" Target="/ppt/slides/slide25.xml" Id="R01ad26141a924336" /><Relationship Type="http://schemas.openxmlformats.org/officeDocument/2006/relationships/slide" Target="/ppt/slides/slide26.xml" Id="Rb83d5b8dee084e2e" /><Relationship Type="http://schemas.openxmlformats.org/officeDocument/2006/relationships/slide" Target="/ppt/slides/slide27.xml" Id="Rb005d2ba0f00429c" /><Relationship Type="http://schemas.openxmlformats.org/officeDocument/2006/relationships/slide" Target="/ppt/slides/slide28.xml" Id="R67cc82c4900e44fc" /><Relationship Type="http://schemas.openxmlformats.org/officeDocument/2006/relationships/slide" Target="/ppt/slides/slide29.xml" Id="Reacc04d0dc89435b" /><Relationship Type="http://schemas.openxmlformats.org/officeDocument/2006/relationships/slide" Target="/ppt/slides/slide30.xml" Id="Rac7e022624d6414f" /><Relationship Type="http://schemas.openxmlformats.org/officeDocument/2006/relationships/slide" Target="/ppt/slides/slide31.xml" Id="Rd77895a740c34f20" /><Relationship Type="http://schemas.openxmlformats.org/officeDocument/2006/relationships/slide" Target="/ppt/slides/slide32.xml" Id="R8540aa1615be40dc" /><Relationship Type="http://schemas.openxmlformats.org/officeDocument/2006/relationships/slide" Target="/ppt/slides/slide33.xml" Id="Re732696168bd4477" /><Relationship Type="http://schemas.openxmlformats.org/officeDocument/2006/relationships/slide" Target="/ppt/slides/slide34.xml" Id="Rd17a94f4711a4857" /><Relationship Type="http://schemas.openxmlformats.org/officeDocument/2006/relationships/slide" Target="/ppt/slides/slide35.xml" Id="R56e7ba4750c346ff" /><Relationship Type="http://schemas.openxmlformats.org/officeDocument/2006/relationships/slide" Target="/ppt/slides/slide36.xml" Id="Rdcbffeb913bb4566" /><Relationship Type="http://schemas.openxmlformats.org/officeDocument/2006/relationships/slide" Target="/ppt/slides/slide37.xml" Id="Rd6df6f03ea264e52" /><Relationship Type="http://schemas.openxmlformats.org/officeDocument/2006/relationships/slide" Target="/ppt/slides/slide38.xml" Id="R174aa308501d49d8" /><Relationship Type="http://schemas.openxmlformats.org/officeDocument/2006/relationships/slide" Target="/ppt/slides/slide39.xml" Id="R51ac2a1c02b7497e" /><Relationship Type="http://schemas.openxmlformats.org/officeDocument/2006/relationships/slide" Target="/ppt/slides/slide40.xml" Id="R335d41e72c4c44d5" /><Relationship Type="http://schemas.openxmlformats.org/officeDocument/2006/relationships/slide" Target="/ppt/slides/slide41.xml" Id="Rc4a2dee0866e4f3c" /><Relationship Type="http://schemas.openxmlformats.org/officeDocument/2006/relationships/slide" Target="/ppt/slides/slide42.xml" Id="Rc5ff6e4c59db4031" /><Relationship Type="http://schemas.openxmlformats.org/officeDocument/2006/relationships/slide" Target="/ppt/slides/slide43.xml" Id="R912227b51e304ec8" /><Relationship Type="http://schemas.openxmlformats.org/officeDocument/2006/relationships/slide" Target="/ppt/slides/slide44.xml" Id="Ree18b403db1b421c" /><Relationship Type="http://schemas.openxmlformats.org/officeDocument/2006/relationships/slide" Target="/ppt/slides/slide45.xml" Id="R464e6ae427954319" /><Relationship Type="http://schemas.openxmlformats.org/officeDocument/2006/relationships/slide" Target="/ppt/slides/slide46.xml" Id="R3e2187ade15b40cd" /><Relationship Type="http://schemas.openxmlformats.org/officeDocument/2006/relationships/slide" Target="/ppt/slides/slide47.xml" Id="R54d3a2687e7b4342" /><Relationship Type="http://schemas.openxmlformats.org/officeDocument/2006/relationships/slide" Target="/ppt/slides/slide48.xml" Id="R5270cf223da24088" /><Relationship Type="http://schemas.openxmlformats.org/officeDocument/2006/relationships/slide" Target="/ppt/slides/slide49.xml" Id="Rbbfb5d23bd764523" /><Relationship Type="http://schemas.openxmlformats.org/officeDocument/2006/relationships/slide" Target="/ppt/slides/slide50.xml" Id="R82b557a02fa14b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e190732add45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6c8d0b811442fc" /><Relationship Type="http://schemas.openxmlformats.org/officeDocument/2006/relationships/notesMaster" Target="/ppt/notesMasters/notesMaster1.xml" Id="R0297f5072e7e45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b5cdfb0710427d" /><Relationship Type="http://schemas.openxmlformats.org/officeDocument/2006/relationships/notesMaster" Target="/ppt/notesMasters/notesMaster1.xml" Id="Rac3bcc4fd18448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84d7c2882e4878" /><Relationship Type="http://schemas.openxmlformats.org/officeDocument/2006/relationships/notesMaster" Target="/ppt/notesMasters/notesMaster1.xml" Id="R9e2206db20ab4f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488d08aac846ed" /><Relationship Type="http://schemas.openxmlformats.org/officeDocument/2006/relationships/notesMaster" Target="/ppt/notesMasters/notesMaster1.xml" Id="Re4f1a9c0ee3d48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ac57c31f5c4c27" /><Relationship Type="http://schemas.openxmlformats.org/officeDocument/2006/relationships/notesMaster" Target="/ppt/notesMasters/notesMaster1.xml" Id="Rb7eb54c7bb1749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7cdcb96c81449c" /><Relationship Type="http://schemas.openxmlformats.org/officeDocument/2006/relationships/notesMaster" Target="/ppt/notesMasters/notesMaster1.xml" Id="Rc4eab7e3821a4e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ea22039c9c4c86" /><Relationship Type="http://schemas.openxmlformats.org/officeDocument/2006/relationships/notesMaster" Target="/ppt/notesMasters/notesMaster1.xml" Id="R6b0b69f9131649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4c1bf66de04d52" /><Relationship Type="http://schemas.openxmlformats.org/officeDocument/2006/relationships/notesMaster" Target="/ppt/notesMasters/notesMaster1.xml" Id="R31b1ba5670cd46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8f21c3a7194866" /><Relationship Type="http://schemas.openxmlformats.org/officeDocument/2006/relationships/notesMaster" Target="/ppt/notesMasters/notesMaster1.xml" Id="R2a8a8b53e3414f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9183d6d909460f" /><Relationship Type="http://schemas.openxmlformats.org/officeDocument/2006/relationships/notesMaster" Target="/ppt/notesMasters/notesMaster1.xml" Id="Rb438464e155542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3e13ebc6774dae" /><Relationship Type="http://schemas.openxmlformats.org/officeDocument/2006/relationships/notesMaster" Target="/ppt/notesMasters/notesMaster1.xml" Id="Rffdea054612949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735447c8174f0f" /><Relationship Type="http://schemas.openxmlformats.org/officeDocument/2006/relationships/notesMaster" Target="/ppt/notesMasters/notesMaster1.xml" Id="Rf35cb790d5a44b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e675a263f747f5" /><Relationship Type="http://schemas.openxmlformats.org/officeDocument/2006/relationships/notesMaster" Target="/ppt/notesMasters/notesMaster1.xml" Id="Rec9ab48d92ac40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89f482db3e4f2e" /><Relationship Type="http://schemas.openxmlformats.org/officeDocument/2006/relationships/notesMaster" Target="/ppt/notesMasters/notesMaster1.xml" Id="R941341f36bd04b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9e2020c0344f53" /><Relationship Type="http://schemas.openxmlformats.org/officeDocument/2006/relationships/notesMaster" Target="/ppt/notesMasters/notesMaster1.xml" Id="R796b3f21e8564f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8a1f1a244b4547" /><Relationship Type="http://schemas.openxmlformats.org/officeDocument/2006/relationships/notesMaster" Target="/ppt/notesMasters/notesMaster1.xml" Id="Rfad715efb0c648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fc70c14a0349c3" /><Relationship Type="http://schemas.openxmlformats.org/officeDocument/2006/relationships/notesMaster" Target="/ppt/notesMasters/notesMaster1.xml" Id="R25c43035108041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af92a4e4114d09" /><Relationship Type="http://schemas.openxmlformats.org/officeDocument/2006/relationships/notesMaster" Target="/ppt/notesMasters/notesMaster1.xml" Id="R8e1f3ad00ac44e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538e38fa5434661" /><Relationship Type="http://schemas.openxmlformats.org/officeDocument/2006/relationships/notesMaster" Target="/ppt/notesMasters/notesMaster1.xml" Id="R606c2a6ba254495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582105e01cd4423" /><Relationship Type="http://schemas.openxmlformats.org/officeDocument/2006/relationships/notesMaster" Target="/ppt/notesMasters/notesMaster1.xml" Id="Rf7ffb965283147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aa0c0b37bb4309" /><Relationship Type="http://schemas.openxmlformats.org/officeDocument/2006/relationships/notesMaster" Target="/ppt/notesMasters/notesMaster1.xml" Id="R0f43d6fe79c348e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cb7c4d7d584581" /><Relationship Type="http://schemas.openxmlformats.org/officeDocument/2006/relationships/notesMaster" Target="/ppt/notesMasters/notesMaster1.xml" Id="R0eb942fd90a045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503795b4e2742bf" /><Relationship Type="http://schemas.openxmlformats.org/officeDocument/2006/relationships/notesMaster" Target="/ppt/notesMasters/notesMaster1.xml" Id="Rdacdea72fce44f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3c9fe4de2747f1" /><Relationship Type="http://schemas.openxmlformats.org/officeDocument/2006/relationships/notesMaster" Target="/ppt/notesMasters/notesMaster1.xml" Id="Re9919bdf852343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4a48c7e1c9c4fec" /><Relationship Type="http://schemas.openxmlformats.org/officeDocument/2006/relationships/notesMaster" Target="/ppt/notesMasters/notesMaster1.xml" Id="R5e5f0e11f90e4f7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4c3156306f4423" /><Relationship Type="http://schemas.openxmlformats.org/officeDocument/2006/relationships/notesMaster" Target="/ppt/notesMasters/notesMaster1.xml" Id="R9d42f02a9b6b4c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71346aa3a8c4d3b" /><Relationship Type="http://schemas.openxmlformats.org/officeDocument/2006/relationships/notesMaster" Target="/ppt/notesMasters/notesMaster1.xml" Id="Ra2d60cdec78747c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f2ece327f6d406e" /><Relationship Type="http://schemas.openxmlformats.org/officeDocument/2006/relationships/notesMaster" Target="/ppt/notesMasters/notesMaster1.xml" Id="Ra30c4bf53aca478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4baec5c069d483a" /><Relationship Type="http://schemas.openxmlformats.org/officeDocument/2006/relationships/notesMaster" Target="/ppt/notesMasters/notesMaster1.xml" Id="R1dc85cba92ea4db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f3e55efe7e4077" /><Relationship Type="http://schemas.openxmlformats.org/officeDocument/2006/relationships/notesMaster" Target="/ppt/notesMasters/notesMaster1.xml" Id="R0634429474b14c0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672a3f2a9574dfe" /><Relationship Type="http://schemas.openxmlformats.org/officeDocument/2006/relationships/notesMaster" Target="/ppt/notesMasters/notesMaster1.xml" Id="Rd83c8e5dea5d434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9882117d57b4b51" /><Relationship Type="http://schemas.openxmlformats.org/officeDocument/2006/relationships/notesMaster" Target="/ppt/notesMasters/notesMaster1.xml" Id="R91f778857691492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67bc5a9b2f84432" /><Relationship Type="http://schemas.openxmlformats.org/officeDocument/2006/relationships/notesMaster" Target="/ppt/notesMasters/notesMaster1.xml" Id="R2b0b76e29a6a47c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90a10cd4db34191" /><Relationship Type="http://schemas.openxmlformats.org/officeDocument/2006/relationships/notesMaster" Target="/ppt/notesMasters/notesMaster1.xml" Id="R6dfd9341ff4a4f4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d2062e71a242c9" /><Relationship Type="http://schemas.openxmlformats.org/officeDocument/2006/relationships/notesMaster" Target="/ppt/notesMasters/notesMaster1.xml" Id="Re357ac27d95a4ea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22d9e25ba8f4b45" /><Relationship Type="http://schemas.openxmlformats.org/officeDocument/2006/relationships/notesMaster" Target="/ppt/notesMasters/notesMaster1.xml" Id="R2dd0b0453959412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26c36dd9d8e490f" /><Relationship Type="http://schemas.openxmlformats.org/officeDocument/2006/relationships/notesMaster" Target="/ppt/notesMasters/notesMaster1.xml" Id="Rf64dc4e68e4a410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e44316418e84f46" /><Relationship Type="http://schemas.openxmlformats.org/officeDocument/2006/relationships/notesMaster" Target="/ppt/notesMasters/notesMaster1.xml" Id="Rd31092ad4aad432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e6eb7bb70684c5e" /><Relationship Type="http://schemas.openxmlformats.org/officeDocument/2006/relationships/notesMaster" Target="/ppt/notesMasters/notesMaster1.xml" Id="Ref7abba2a9074ab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a75ad047f854b14" /><Relationship Type="http://schemas.openxmlformats.org/officeDocument/2006/relationships/notesMaster" Target="/ppt/notesMasters/notesMaster1.xml" Id="Rb4744e1be069456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d356919a5cb47a2" /><Relationship Type="http://schemas.openxmlformats.org/officeDocument/2006/relationships/notesMaster" Target="/ppt/notesMasters/notesMaster1.xml" Id="R08b1fcc26c3c435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227ed4a505a4bcd" /><Relationship Type="http://schemas.openxmlformats.org/officeDocument/2006/relationships/notesMaster" Target="/ppt/notesMasters/notesMaster1.xml" Id="R36e4c0c0db5943f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53cd85363c9498a" /><Relationship Type="http://schemas.openxmlformats.org/officeDocument/2006/relationships/notesMaster" Target="/ppt/notesMasters/notesMaster1.xml" Id="R710e6cfbd54341e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70121c640b44034" /><Relationship Type="http://schemas.openxmlformats.org/officeDocument/2006/relationships/notesMaster" Target="/ppt/notesMasters/notesMaster1.xml" Id="R448f88d967b845b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eb99072b2724d82" /><Relationship Type="http://schemas.openxmlformats.org/officeDocument/2006/relationships/notesMaster" Target="/ppt/notesMasters/notesMaster1.xml" Id="R2d230290bfae4d6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b6c987ed50645bc" /><Relationship Type="http://schemas.openxmlformats.org/officeDocument/2006/relationships/notesMaster" Target="/ppt/notesMasters/notesMaster1.xml" Id="R0d9decb64765452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4fab858cefe4500" /><Relationship Type="http://schemas.openxmlformats.org/officeDocument/2006/relationships/notesMaster" Target="/ppt/notesMasters/notesMaster1.xml" Id="R6e11082558d54ce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55319b5001944c2" /><Relationship Type="http://schemas.openxmlformats.org/officeDocument/2006/relationships/notesMaster" Target="/ppt/notesMasters/notesMaster1.xml" Id="R8095a89917c54d2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8ecba370ad7401c" /><Relationship Type="http://schemas.openxmlformats.org/officeDocument/2006/relationships/notesMaster" Target="/ppt/notesMasters/notesMaster1.xml" Id="R1f22adf8cf864f0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e9e8a0c5ae64bc6" /><Relationship Type="http://schemas.openxmlformats.org/officeDocument/2006/relationships/notesMaster" Target="/ppt/notesMasters/notesMaster1.xml" Id="Raa78ea5f6c904d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Supplied project requirements and PowerPoint prompts</a:t>
            </a:r>
            <a:endParaRPr/>
          </a:p>
          <a:p xmlns:a="http://schemas.openxmlformats.org/drawingml/2006/main">
            <a:pPr marL="0" lvl="0" indent="0" algn="l">
              <a:spcBef>
                <a:spcPts val="0"/>
              </a:spcBef>
              <a:spcAft>
                <a:spcPts val="0"/>
              </a:spcAft>
              <a:buNone/>
            </a:pPr>
            <a:r>
              <a:t>- taxi_rides.csv and user-research.csv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Supplied project requirements and PowerPoint prompts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taxi_rides.csv</a:t>
            </a:r>
            <a:endParaRPr/>
          </a:p>
          <a:p xmlns:a="http://schemas.openxmlformats.org/drawingml/2006/main">
            <a:pPr marL="0" lvl="0" indent="0" algn="l">
              <a:spcBef>
                <a:spcPts val="0"/>
              </a:spcBef>
              <a:spcAft>
                <a:spcPts val="0"/>
              </a:spcAft>
              <a:buNone/>
            </a:pPr>
            <a:r>
              <a:t>- flyber-analysis-output/data_quality_reconciliation.csv</a:t>
            </a:r>
            <a:endParaRPr/>
          </a:p>
          <a:p xmlns:a="http://schemas.openxmlformats.org/drawingml/2006/main">
            <a:pPr marL="0" lvl="0" indent="0" algn="l">
              <a:spcBef>
                <a:spcPts val="0"/>
              </a:spcBef>
              <a:spcAft>
                <a:spcPts val="0"/>
              </a:spcAft>
              <a:buNone/>
            </a:pPr>
            <a:r>
              <a:t>- NYC NTA overlay: https://data.cityofnewyork.us/City-Government/2020-Neighborhood-Tabulation-Areas-NTAs-/9nt8-h7nd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flyber-analysis-output/descriptive_statistics.csv</a:t>
            </a:r>
            <a:endParaRPr/>
          </a:p>
          <a:p xmlns:a="http://schemas.openxmlformats.org/drawingml/2006/main">
            <a:pPr marL="0" lvl="0" indent="0" algn="l">
              <a:spcBef>
                <a:spcPts val="0"/>
              </a:spcBef>
              <a:spcAft>
                <a:spcPts val="0"/>
              </a:spcAft>
              <a:buNone/>
            </a:pPr>
            <a:r>
              <a:t>- Historical fare basis: https://www.nyc.gov/assets/tlc/downloads/pdf/taxi_information.pdf</a:t>
            </a:r>
            <a:endParaRPr/>
          </a:p>
          <a:p xmlns:a="http://schemas.openxmlformats.org/drawingml/2006/main">
            <a:pPr marL="0" lvl="0" indent="0" algn="l">
              <a:spcBef>
                <a:spcPts val="0"/>
              </a:spcBef>
              <a:spcAft>
                <a:spcPts val="0"/>
              </a:spcAft>
              <a:buNone/>
            </a:pPr>
            <a:r>
              <a:t>Fare proxy excludes tolls, tips, special surcharges, and mixed meter states.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taxi_rides.csv</a:t>
            </a:r>
            <a:endParaRPr/>
          </a:p>
          <a:p xmlns:a="http://schemas.openxmlformats.org/drawingml/2006/main">
            <a:pPr marL="0" lvl="0" indent="0" algn="l">
              <a:spcBef>
                <a:spcPts val="0"/>
              </a:spcBef>
              <a:spcAft>
                <a:spcPts val="0"/>
              </a:spcAft>
              <a:buNone/>
            </a:pPr>
            <a:r>
              <a:t>- flyber-analysis-output/passenger_counts.csv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taxi_rides.csv</a:t>
            </a:r>
            <a:endParaRPr/>
          </a:p>
          <a:p xmlns:a="http://schemas.openxmlformats.org/drawingml/2006/main">
            <a:pPr marL="0" lvl="0" indent="0" algn="l">
              <a:spcBef>
                <a:spcPts val="0"/>
              </a:spcBef>
              <a:spcAft>
                <a:spcPts val="0"/>
              </a:spcAft>
              <a:buNone/>
            </a:pPr>
            <a:r>
              <a:t>- flyber-analysis-output/pickup_neighborhoods.csv</a:t>
            </a:r>
            <a:endParaRPr/>
          </a:p>
          <a:p xmlns:a="http://schemas.openxmlformats.org/drawingml/2006/main">
            <a:pPr marL="0" lvl="0" indent="0" algn="l">
              <a:spcBef>
                <a:spcPts val="0"/>
              </a:spcBef>
              <a:spcAft>
                <a:spcPts val="0"/>
              </a:spcAft>
              <a:buNone/>
            </a:pPr>
            <a:r>
              <a:t>- flyber-analysis-output/dropoff_neighborhoods.csv</a:t>
            </a:r>
            <a:endParaRPr/>
          </a:p>
          <a:p xmlns:a="http://schemas.openxmlformats.org/drawingml/2006/main">
            <a:pPr marL="0" lvl="0" indent="0" algn="l">
              <a:spcBef>
                <a:spcPts val="0"/>
              </a:spcBef>
              <a:spcAft>
                <a:spcPts val="0"/>
              </a:spcAft>
              <a:buNone/>
            </a:pPr>
            <a:r>
              <a:t>- NYC NTA overlay: https://data.cityofnewyork.us/City-Government/2020-Neighborhood-Tabulation-Areas-NTAs-/9nt8-h7nd</a:t>
            </a:r>
            <a:endParaRPr/>
          </a:p>
          <a:p xmlns:a="http://schemas.openxmlformats.org/drawingml/2006/main">
            <a:pPr marL="0" lvl="0" indent="0" algn="l">
              <a:spcBef>
                <a:spcPts val="0"/>
              </a:spcBef>
              <a:spcAft>
                <a:spcPts val="0"/>
              </a:spcAft>
              <a:buNone/>
            </a:pPr>
            <a:r>
              <a:t>2020 boundaries are an approximation for 2016 rides.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taxi_rides.csv</a:t>
            </a:r>
            <a:endParaRPr/>
          </a:p>
          <a:p xmlns:a="http://schemas.openxmlformats.org/drawingml/2006/main">
            <a:pPr marL="0" lvl="0" indent="0" algn="l">
              <a:spcBef>
                <a:spcPts val="0"/>
              </a:spcBef>
              <a:spcAft>
                <a:spcPts val="0"/>
              </a:spcAft>
              <a:buNone/>
            </a:pPr>
            <a:r>
              <a:t>- flyber-analysis-output/pickups_by_hour.csv</a:t>
            </a:r>
            <a:endParaRPr/>
          </a:p>
          <a:p xmlns:a="http://schemas.openxmlformats.org/drawingml/2006/main">
            <a:pPr marL="0" lvl="0" indent="0" algn="l">
              <a:spcBef>
                <a:spcPts val="0"/>
              </a:spcBef>
              <a:spcAft>
                <a:spcPts val="0"/>
              </a:spcAft>
              <a:buNone/>
            </a:pPr>
            <a:r>
              <a:t>- flyber-analysis-output/pickups_by_day.csv</a:t>
            </a:r>
            <a:endParaRPr/>
          </a:p>
          <a:p xmlns:a="http://schemas.openxmlformats.org/drawingml/2006/main">
            <a:pPr marL="0" lvl="0" indent="0" algn="l">
              <a:spcBef>
                <a:spcPts val="0"/>
              </a:spcBef>
              <a:spcAft>
                <a:spcPts val="0"/>
              </a:spcAft>
              <a:buNone/>
            </a:pPr>
            <a:r>
              <a:t>- flyber-analysis-output/pickups_by_month.csv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user-research.csv</a:t>
            </a:r>
            <a:endParaRPr/>
          </a:p>
          <a:p xmlns:a="http://schemas.openxmlformats.org/drawingml/2006/main">
            <a:pPr marL="0" lvl="0" indent="0" algn="l">
              <a:spcBef>
                <a:spcPts val="0"/>
              </a:spcBef>
              <a:spcAft>
                <a:spcPts val="0"/>
              </a:spcAft>
              <a:buNone/>
            </a:pPr>
            <a:r>
              <a:t>- flyber-analysis-output/survey_adoption_segments.csv</a:t>
            </a:r>
            <a:endParaRPr/>
          </a:p>
          <a:p xmlns:a="http://schemas.openxmlformats.org/drawingml/2006/main">
            <a:pPr marL="0" lvl="0" indent="0" algn="l">
              <a:spcBef>
                <a:spcPts val="0"/>
              </a:spcBef>
              <a:spcAft>
                <a:spcPts val="0"/>
              </a:spcAft>
              <a:buNone/>
            </a:pPr>
            <a:r>
              <a:t>Unweighted stated-preference survey; do not generalize directly to NYC.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user-research.csv</a:t>
            </a:r>
            <a:endParaRPr/>
          </a:p>
          <a:p xmlns:a="http://schemas.openxmlformats.org/drawingml/2006/main">
            <a:pPr marL="0" lvl="0" indent="0" algn="l">
              <a:spcBef>
                <a:spcPts val="0"/>
              </a:spcBef>
              <a:spcAft>
                <a:spcPts val="0"/>
              </a:spcAft>
              <a:buNone/>
            </a:pPr>
            <a:r>
              <a:t>- flyber-analysis-output/survey_willingness_to_pay.csv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user-research.csv</a:t>
            </a:r>
            <a:endParaRPr/>
          </a:p>
          <a:p xmlns:a="http://schemas.openxmlformats.org/drawingml/2006/main">
            <a:pPr marL="0" lvl="0" indent="0" algn="l">
              <a:spcBef>
                <a:spcPts val="0"/>
              </a:spcBef>
              <a:spcAft>
                <a:spcPts val="0"/>
              </a:spcAft>
              <a:buNone/>
            </a:pPr>
            <a:r>
              <a:t>- flyber-analysis-output/survey_objections.csv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taxi_rides.csv</a:t>
            </a:r>
            <a:endParaRPr/>
          </a:p>
          <a:p xmlns:a="http://schemas.openxmlformats.org/drawingml/2006/main">
            <a:pPr marL="0" lvl="0" indent="0" algn="l">
              <a:spcBef>
                <a:spcPts val="0"/>
              </a:spcBef>
              <a:spcAft>
                <a:spcPts val="0"/>
              </a:spcAft>
              <a:buNone/>
            </a:pPr>
            <a:r>
              <a:t>- user-research.csv</a:t>
            </a:r>
            <a:endParaRPr/>
          </a:p>
          <a:p xmlns:a="http://schemas.openxmlformats.org/drawingml/2006/main">
            <a:pPr marL="0" lvl="0" indent="0" algn="l">
              <a:spcBef>
                <a:spcPts val="0"/>
              </a:spcBef>
              <a:spcAft>
                <a:spcPts val="0"/>
              </a:spcAft>
              <a:buNone/>
            </a:pPr>
            <a:r>
              <a:t>- flyber-analysis-output/analysis_summary.json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Supplied PowerPoint template, KPI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Supplied PowerPoint template, KPI-threshold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flyber-analysis-output/analysis_summary.json</a:t>
            </a:r>
            <a:endParaRPr/>
          </a:p>
          <a:p xmlns:a="http://schemas.openxmlformats.org/drawingml/2006/main">
            <a:pPr marL="0" lvl="0" indent="0" algn="l">
              <a:spcBef>
                <a:spcPts val="0"/>
              </a:spcBef>
              <a:spcAft>
                <a:spcPts val="0"/>
              </a:spcAft>
              <a:buNone/>
            </a:pPr>
            <a:r>
              <a:t>- NYC heliport context: https://council.nyc.gov/data/helicopter-noise-and-safety/</a:t>
            </a:r>
            <a:endParaRPr/>
          </a:p>
          <a:p xmlns:a="http://schemas.openxmlformats.org/drawingml/2006/main">
            <a:pPr marL="0" lvl="0" indent="0" algn="l">
              <a:spcBef>
                <a:spcPts val="0"/>
              </a:spcBef>
              <a:spcAft>
                <a:spcPts val="0"/>
              </a:spcAft>
              <a:buNone/>
            </a:pPr>
            <a:r>
              <a:t>- Historical taxi fare basis: https://www.nyc.gov/assets/tlc/downloads/pdf/taxi_information.pdf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Optimizely A/B Test Sample Size Calculator: https://www.optimizely.com/tools/sample-size-calculator</a:t>
            </a:r>
            <a:endParaRPr/>
          </a:p>
          <a:p xmlns:a="http://schemas.openxmlformats.org/drawingml/2006/main">
            <a:pPr marL="0" lvl="0" indent="0" algn="l">
              <a:spcBef>
                <a:spcPts val="0"/>
              </a:spcBef>
              <a:spcAft>
                <a:spcPts val="0"/>
              </a:spcAft>
              <a:buNone/>
            </a:pPr>
            <a:r>
              <a:t>- Calculator checked 2026-08-07: baseline 20%, relative MDE 25%, significance 95%, result 670 prospects per variation</a:t>
            </a:r>
            <a:endParaRPr/>
          </a:p>
          <a:p xmlns:a="http://schemas.openxmlformats.org/drawingml/2006/main">
            <a:pPr marL="0" lvl="0" indent="0" algn="l">
              <a:spcBef>
                <a:spcPts val="0"/>
              </a:spcBef>
              <a:spcAft>
                <a:spcPts val="0"/>
              </a:spcAft>
              <a:buNone/>
            </a:pPr>
            <a:r>
              <a:t>- Capacity and duration are planning assumptions, not observed Flyber operating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Supplied PowerPoint template, instrumentation requirement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Supplied PowerPoint template, qualitative-feedback requirement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taxi_rides.csv</a:t>
            </a:r>
            <a:endParaRPr/>
          </a:p>
          <a:p xmlns:a="http://schemas.openxmlformats.org/drawingml/2006/main">
            <a:pPr marL="0" lvl="0" indent="0" algn="l">
              <a:spcBef>
                <a:spcPts val="0"/>
              </a:spcBef>
              <a:spcAft>
                <a:spcPts val="0"/>
              </a:spcAft>
              <a:buNone/>
            </a:pPr>
            <a:r>
              <a:t>- user-research.csv</a:t>
            </a:r>
            <a:endParaRPr/>
          </a:p>
          <a:p xmlns:a="http://schemas.openxmlformats.org/drawingml/2006/main">
            <a:pPr marL="0" lvl="0" indent="0" algn="l">
              <a:spcBef>
                <a:spcPts val="0"/>
              </a:spcBef>
              <a:spcAft>
                <a:spcPts val="0"/>
              </a:spcAft>
              <a:buNone/>
            </a:pPr>
            <a:r>
              <a:t>- flyber-analysis-output/analysis_summary.json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flyber-analysis-output/analysis_summary.json</a:t>
            </a:r>
            <a:endParaRPr/>
          </a:p>
          <a:p xmlns:a="http://schemas.openxmlformats.org/drawingml/2006/main">
            <a:pPr marL="0" lvl="0" indent="0" algn="l">
              <a:spcBef>
                <a:spcPts val="0"/>
              </a:spcBef>
              <a:spcAft>
                <a:spcPts val="0"/>
              </a:spcAft>
              <a:buNone/>
            </a:pPr>
            <a:r>
              <a:t>- NYC heliport context: https://council.nyc.gov/data/helicopter-noise-and-safety/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Supplied PowerPoint template, final-proposal stakeholder requirement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Published Tableau Public workbook: https://public.tableau.com/app/profile/christopher.ohara/viz/FlyberMVPLaunchStrategy_17861346231600/PickupOpportunityMap#1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5a5a3dd12d40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34b5bc6eae48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e32b71766d44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b7836668274e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4db3c6c81f49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21d50e50a5474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c591eced3384c6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06713743ae44fa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f6473ea2d7c421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d11689d04a24e8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bc4b8c51e874c81"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525766B2-A1D5-4429-8235-8A1BD0FDF626}"/>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endParaRPr/>
          </a:p>
        </p:txBody>
      </p:sp>
      <p:sp>
        <p:nvSpPr>
          <p:cNvPr id="11" name="Google Shape;11;p2">
            <a:extLst xmlns:a="http://schemas.openxmlformats.org/drawingml/2006/main">
              <a:ext uri="{FF2B5EF4-FFF2-40B4-BE49-F238E27FC236}">
                <a16:creationId xmlns:a16="http://schemas.microsoft.com/office/drawing/2014/main" id="{FA637B41-0A49-4EAD-B3AB-C38AB585704D}"/>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2">
            <a:extLst xmlns:a="http://schemas.openxmlformats.org/drawingml/2006/main">
              <a:ext uri="{FF2B5EF4-FFF2-40B4-BE49-F238E27FC236}">
                <a16:creationId xmlns:a16="http://schemas.microsoft.com/office/drawing/2014/main" id="{B994280E-180A-4DE0-8816-B051D51A779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9A40201E-24A7-48A5-AADC-2CFB7D36BCCE}"/>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a:endParaRPr/>
          </a:p>
        </p:txBody>
      </p:sp>
      <p:sp>
        <p:nvSpPr>
          <p:cNvPr id="15" name="Google Shape;15;p3">
            <a:extLst xmlns:a="http://schemas.openxmlformats.org/drawingml/2006/main">
              <a:ext uri="{FF2B5EF4-FFF2-40B4-BE49-F238E27FC236}">
                <a16:creationId xmlns:a16="http://schemas.microsoft.com/office/drawing/2014/main" id="{AEA27A84-DB7F-40B2-9CEC-287F2F95CB0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D59AABF5-E11E-4965-A96D-D6914F63943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18" name="Google Shape;18;p4">
            <a:extLst xmlns:a="http://schemas.openxmlformats.org/drawingml/2006/main">
              <a:ext uri="{FF2B5EF4-FFF2-40B4-BE49-F238E27FC236}">
                <a16:creationId xmlns:a16="http://schemas.microsoft.com/office/drawing/2014/main" id="{65C99C10-1A48-4284-91DB-9D6C94508465}"/>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42900">
              <a:spcBef>
                <a:spcPts val="0"/>
              </a:spcBef>
              <a:spcAft>
                <a:spcPts val="0"/>
              </a:spcAft>
              <a:buSzPts val="1800"/>
              <a:buChar char="●"/>
              <a:defRPr/>
            </a:lvl1pPr>
            <a:lvl2pPr marL="914400" indent="-317500">
              <a:spcBef>
                <a:spcPts val="1600"/>
              </a:spcBef>
              <a:spcAft>
                <a:spcPts val="0"/>
              </a:spcAft>
              <a:buSzPts val="1400"/>
              <a:buChar char="○"/>
              <a:defRPr/>
            </a:lvl2pPr>
            <a:lvl3pPr marL="1371600" indent="-317500">
              <a:spcBef>
                <a:spcPts val="1600"/>
              </a:spcBef>
              <a:spcAft>
                <a:spcPts val="0"/>
              </a:spcAft>
              <a:buSzPts val="1400"/>
              <a:buChar char="■"/>
              <a:defRPr/>
            </a:lvl3pPr>
            <a:lvl4pPr marL="1828800" indent="-317500">
              <a:spcBef>
                <a:spcPts val="1600"/>
              </a:spcBef>
              <a:spcAft>
                <a:spcPts val="0"/>
              </a:spcAft>
              <a:buSzPts val="1400"/>
              <a:buChar char="●"/>
              <a:defRPr/>
            </a:lvl4pPr>
            <a:lvl5pPr marL="2286000" indent="-317500">
              <a:spcBef>
                <a:spcPts val="1600"/>
              </a:spcBef>
              <a:spcAft>
                <a:spcPts val="0"/>
              </a:spcAft>
              <a:buSzPts val="1400"/>
              <a:buChar char="○"/>
              <a:defRPr/>
            </a:lvl5pPr>
            <a:lvl6pPr marL="2743200" indent="-317500">
              <a:spcBef>
                <a:spcPts val="1600"/>
              </a:spcBef>
              <a:spcAft>
                <a:spcPts val="0"/>
              </a:spcAft>
              <a:buSzPts val="1400"/>
              <a:buChar char="■"/>
              <a:defRPr/>
            </a:lvl6pPr>
            <a:lvl7pPr marL="3200400" indent="-317500">
              <a:spcBef>
                <a:spcPts val="1600"/>
              </a:spcBef>
              <a:spcAft>
                <a:spcPts val="0"/>
              </a:spcAft>
              <a:buSzPts val="1400"/>
              <a:buChar char="●"/>
              <a:defRPr/>
            </a:lvl7pPr>
            <a:lvl8pPr marL="3657600" indent="-317500">
              <a:spcBef>
                <a:spcPts val="1600"/>
              </a:spcBef>
              <a:spcAft>
                <a:spcPts val="0"/>
              </a:spcAft>
              <a:buSzPts val="1400"/>
              <a:buChar char="○"/>
              <a:defRPr/>
            </a:lvl8pPr>
            <a:lvl9pPr marL="4114800" indent="-317500">
              <a:spcBef>
                <a:spcPts val="1600"/>
              </a:spcBef>
              <a:spcAft>
                <a:spcPts val="1600"/>
              </a:spcAft>
              <a:buSzPts val="1400"/>
              <a:buChar char="■"/>
              <a:defRPr/>
            </a:lvl9pPr>
          </a:lstStyle>
          <a:p xmlns:a="http://schemas.openxmlformats.org/drawingml/2006/main">
            <a:endParaRPr/>
          </a:p>
        </p:txBody>
      </p:sp>
      <p:sp>
        <p:nvSpPr>
          <p:cNvPr id="19" name="Google Shape;19;p4">
            <a:extLst xmlns:a="http://schemas.openxmlformats.org/drawingml/2006/main">
              <a:ext uri="{FF2B5EF4-FFF2-40B4-BE49-F238E27FC236}">
                <a16:creationId xmlns:a16="http://schemas.microsoft.com/office/drawing/2014/main" id="{34B902BE-8FEC-4937-AA7D-7AE6F885AD1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8AF4A27F-3376-4C35-97DD-9CAF1081820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2" name="Google Shape;22;p5">
            <a:extLst xmlns:a="http://schemas.openxmlformats.org/drawingml/2006/main">
              <a:ext uri="{FF2B5EF4-FFF2-40B4-BE49-F238E27FC236}">
                <a16:creationId xmlns:a16="http://schemas.microsoft.com/office/drawing/2014/main" id="{9751AF8D-DF52-4AFD-B57E-D33CF3BA5FC9}"/>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0"/>
              </a:spcBef>
              <a:spcAft>
                <a:spcPts val="0"/>
              </a:spcAft>
              <a:buSzPts val="1400"/>
              <a:buChar char="●"/>
              <a:defRPr sz="14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xmlns:a="http://schemas.openxmlformats.org/drawingml/2006/main">
            <a:endParaRPr/>
          </a:p>
        </p:txBody>
      </p:sp>
      <p:sp>
        <p:nvSpPr>
          <p:cNvPr id="23" name="Google Shape;23;p5">
            <a:extLst xmlns:a="http://schemas.openxmlformats.org/drawingml/2006/main">
              <a:ext uri="{FF2B5EF4-FFF2-40B4-BE49-F238E27FC236}">
                <a16:creationId xmlns:a16="http://schemas.microsoft.com/office/drawing/2014/main" id="{4188225A-5BF5-4A34-9AB3-5B964BCF1D11}"/>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0"/>
              </a:spcBef>
              <a:spcAft>
                <a:spcPts val="0"/>
              </a:spcAft>
              <a:buSzPts val="1400"/>
              <a:buChar char="●"/>
              <a:defRPr sz="14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xmlns:a="http://schemas.openxmlformats.org/drawingml/2006/main">
            <a:endParaRPr/>
          </a:p>
        </p:txBody>
      </p:sp>
      <p:sp>
        <p:nvSpPr>
          <p:cNvPr id="24" name="Google Shape;24;p5">
            <a:extLst xmlns:a="http://schemas.openxmlformats.org/drawingml/2006/main">
              <a:ext uri="{FF2B5EF4-FFF2-40B4-BE49-F238E27FC236}">
                <a16:creationId xmlns:a16="http://schemas.microsoft.com/office/drawing/2014/main" id="{093154C2-21D2-48E9-AE91-280F24E617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B75FCE20-662E-46C7-9F3E-2E933231D72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7" name="Google Shape;27;p6">
            <a:extLst xmlns:a="http://schemas.openxmlformats.org/drawingml/2006/main">
              <a:ext uri="{FF2B5EF4-FFF2-40B4-BE49-F238E27FC236}">
                <a16:creationId xmlns:a16="http://schemas.microsoft.com/office/drawing/2014/main" id="{0F9BA6C1-E0A3-4DD3-B1EB-3F2DBD08690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EE22F6C6-B19F-4CF3-83EF-FEA20F879DA5}"/>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a:endParaRPr/>
          </a:p>
        </p:txBody>
      </p:sp>
      <p:sp>
        <p:nvSpPr>
          <p:cNvPr id="30" name="Google Shape;30;p7">
            <a:extLst xmlns:a="http://schemas.openxmlformats.org/drawingml/2006/main">
              <a:ext uri="{FF2B5EF4-FFF2-40B4-BE49-F238E27FC236}">
                <a16:creationId xmlns:a16="http://schemas.microsoft.com/office/drawing/2014/main" id="{043401E9-2A47-4488-BC13-EE376BFFC830}"/>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04800">
              <a:spcBef>
                <a:spcPts val="0"/>
              </a:spcBef>
              <a:spcAft>
                <a:spcPts val="0"/>
              </a:spcAft>
              <a:buSzPts val="1200"/>
              <a:buChar char="●"/>
              <a:defRPr sz="12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xmlns:a="http://schemas.openxmlformats.org/drawingml/2006/main">
            <a:endParaRPr/>
          </a:p>
        </p:txBody>
      </p:sp>
      <p:sp>
        <p:nvSpPr>
          <p:cNvPr id="31" name="Google Shape;31;p7">
            <a:extLst xmlns:a="http://schemas.openxmlformats.org/drawingml/2006/main">
              <a:ext uri="{FF2B5EF4-FFF2-40B4-BE49-F238E27FC236}">
                <a16:creationId xmlns:a16="http://schemas.microsoft.com/office/drawing/2014/main" id="{B125DB92-8AAF-4B7C-8D8E-84B3DC7A450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313951A6-CF3D-463C-BAE4-4E6F643BE311}"/>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a:endParaRPr/>
          </a:p>
        </p:txBody>
      </p:sp>
      <p:sp>
        <p:nvSpPr>
          <p:cNvPr id="34" name="Google Shape;34;p8">
            <a:extLst xmlns:a="http://schemas.openxmlformats.org/drawingml/2006/main">
              <a:ext uri="{FF2B5EF4-FFF2-40B4-BE49-F238E27FC236}">
                <a16:creationId xmlns:a16="http://schemas.microsoft.com/office/drawing/2014/main" id="{08ECA8A5-4886-4F5B-8C86-AE49463F5D7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664C842F-962A-4483-91F4-50C691EC3E0B}"/>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37" name="Google Shape;37;p9">
            <a:extLst xmlns:a="http://schemas.openxmlformats.org/drawingml/2006/main">
              <a:ext uri="{FF2B5EF4-FFF2-40B4-BE49-F238E27FC236}">
                <a16:creationId xmlns:a16="http://schemas.microsoft.com/office/drawing/2014/main" id="{7B0F4CF2-50D3-4FF4-8E3E-4DD603AB0257}"/>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a:endParaRPr/>
          </a:p>
        </p:txBody>
      </p:sp>
      <p:sp>
        <p:nvSpPr>
          <p:cNvPr id="38" name="Google Shape;38;p9">
            <a:extLst xmlns:a="http://schemas.openxmlformats.org/drawingml/2006/main">
              <a:ext uri="{FF2B5EF4-FFF2-40B4-BE49-F238E27FC236}">
                <a16:creationId xmlns:a16="http://schemas.microsoft.com/office/drawing/2014/main" id="{018BD269-305F-4CA7-A002-79DA2A6D9CDB}"/>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39" name="Google Shape;39;p9">
            <a:extLst xmlns:a="http://schemas.openxmlformats.org/drawingml/2006/main">
              <a:ext uri="{FF2B5EF4-FFF2-40B4-BE49-F238E27FC236}">
                <a16:creationId xmlns:a16="http://schemas.microsoft.com/office/drawing/2014/main" id="{098BC0D2-0CF8-4E32-A87E-CF21E073EC45}"/>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marL="457200" indent="-342900">
              <a:spcBef>
                <a:spcPts val="0"/>
              </a:spcBef>
              <a:spcAft>
                <a:spcPts val="0"/>
              </a:spcAft>
              <a:buSzPts val="1800"/>
              <a:buChar char="●"/>
              <a:defRPr/>
            </a:lvl1pPr>
            <a:lvl2pPr marL="914400" indent="-317500">
              <a:spcBef>
                <a:spcPts val="1600"/>
              </a:spcBef>
              <a:spcAft>
                <a:spcPts val="0"/>
              </a:spcAft>
              <a:buSzPts val="1400"/>
              <a:buChar char="○"/>
              <a:defRPr/>
            </a:lvl2pPr>
            <a:lvl3pPr marL="1371600" indent="-317500">
              <a:spcBef>
                <a:spcPts val="1600"/>
              </a:spcBef>
              <a:spcAft>
                <a:spcPts val="0"/>
              </a:spcAft>
              <a:buSzPts val="1400"/>
              <a:buChar char="■"/>
              <a:defRPr/>
            </a:lvl3pPr>
            <a:lvl4pPr marL="1828800" indent="-317500">
              <a:spcBef>
                <a:spcPts val="1600"/>
              </a:spcBef>
              <a:spcAft>
                <a:spcPts val="0"/>
              </a:spcAft>
              <a:buSzPts val="1400"/>
              <a:buChar char="●"/>
              <a:defRPr/>
            </a:lvl4pPr>
            <a:lvl5pPr marL="2286000" indent="-317500">
              <a:spcBef>
                <a:spcPts val="1600"/>
              </a:spcBef>
              <a:spcAft>
                <a:spcPts val="0"/>
              </a:spcAft>
              <a:buSzPts val="1400"/>
              <a:buChar char="○"/>
              <a:defRPr/>
            </a:lvl5pPr>
            <a:lvl6pPr marL="2743200" indent="-317500">
              <a:spcBef>
                <a:spcPts val="1600"/>
              </a:spcBef>
              <a:spcAft>
                <a:spcPts val="0"/>
              </a:spcAft>
              <a:buSzPts val="1400"/>
              <a:buChar char="■"/>
              <a:defRPr/>
            </a:lvl6pPr>
            <a:lvl7pPr marL="3200400" indent="-317500">
              <a:spcBef>
                <a:spcPts val="1600"/>
              </a:spcBef>
              <a:spcAft>
                <a:spcPts val="0"/>
              </a:spcAft>
              <a:buSzPts val="1400"/>
              <a:buChar char="●"/>
              <a:defRPr/>
            </a:lvl7pPr>
            <a:lvl8pPr marL="3657600" indent="-317500">
              <a:spcBef>
                <a:spcPts val="1600"/>
              </a:spcBef>
              <a:spcAft>
                <a:spcPts val="0"/>
              </a:spcAft>
              <a:buSzPts val="1400"/>
              <a:buChar char="○"/>
              <a:defRPr/>
            </a:lvl8pPr>
            <a:lvl9pPr marL="4114800" indent="-317500">
              <a:spcBef>
                <a:spcPts val="1600"/>
              </a:spcBef>
              <a:spcAft>
                <a:spcPts val="1600"/>
              </a:spcAft>
              <a:buSzPts val="1400"/>
              <a:buChar char="■"/>
              <a:defRPr/>
            </a:lvl9pPr>
          </a:lstStyle>
          <a:p xmlns:a="http://schemas.openxmlformats.org/drawingml/2006/main">
            <a:endParaRPr/>
          </a:p>
        </p:txBody>
      </p:sp>
      <p:sp>
        <p:nvSpPr>
          <p:cNvPr id="40" name="Google Shape;40;p9">
            <a:extLst xmlns:a="http://schemas.openxmlformats.org/drawingml/2006/main">
              <a:ext uri="{FF2B5EF4-FFF2-40B4-BE49-F238E27FC236}">
                <a16:creationId xmlns:a16="http://schemas.microsoft.com/office/drawing/2014/main" id="{E176D3C4-7CFE-41EC-92ED-11DC81A9ED5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703E3E7E-519B-4603-B164-6D65C79CA52A}"/>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a:endParaRPr/>
          </a:p>
        </p:txBody>
      </p:sp>
      <p:sp>
        <p:nvSpPr>
          <p:cNvPr id="43" name="Google Shape;43;p10">
            <a:extLst xmlns:a="http://schemas.openxmlformats.org/drawingml/2006/main">
              <a:ext uri="{FF2B5EF4-FFF2-40B4-BE49-F238E27FC236}">
                <a16:creationId xmlns:a16="http://schemas.microsoft.com/office/drawing/2014/main" id="{110AA31E-1AD1-49B8-8071-FB9C0CAA9CA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65E41CE2-9F39-49ED-9E46-7D015D060473}"/>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B58908D7-E595-434E-8978-AE2BA39E35AB}"/>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1600"/>
              </a:spcBef>
              <a:spcAft>
                <a:spcPts val="0"/>
              </a:spcAft>
              <a:buSzPts val="1400"/>
              <a:buChar char="○"/>
              <a:defRPr/>
            </a:lvl2pPr>
            <a:lvl3pPr marL="1371600" indent="-317500" algn="ctr">
              <a:spcBef>
                <a:spcPts val="1600"/>
              </a:spcBef>
              <a:spcAft>
                <a:spcPts val="0"/>
              </a:spcAft>
              <a:buSzPts val="1400"/>
              <a:buChar char="■"/>
              <a:defRPr/>
            </a:lvl3pPr>
            <a:lvl4pPr marL="1828800" indent="-317500" algn="ctr">
              <a:spcBef>
                <a:spcPts val="1600"/>
              </a:spcBef>
              <a:spcAft>
                <a:spcPts val="0"/>
              </a:spcAft>
              <a:buSzPts val="1400"/>
              <a:buChar char="●"/>
              <a:defRPr/>
            </a:lvl4pPr>
            <a:lvl5pPr marL="2286000" indent="-317500" algn="ctr">
              <a:spcBef>
                <a:spcPts val="1600"/>
              </a:spcBef>
              <a:spcAft>
                <a:spcPts val="0"/>
              </a:spcAft>
              <a:buSzPts val="1400"/>
              <a:buChar char="○"/>
              <a:defRPr/>
            </a:lvl5pPr>
            <a:lvl6pPr marL="2743200" indent="-317500" algn="ctr">
              <a:spcBef>
                <a:spcPts val="1600"/>
              </a:spcBef>
              <a:spcAft>
                <a:spcPts val="0"/>
              </a:spcAft>
              <a:buSzPts val="1400"/>
              <a:buChar char="■"/>
              <a:defRPr/>
            </a:lvl6pPr>
            <a:lvl7pPr marL="3200400" indent="-317500" algn="ctr">
              <a:spcBef>
                <a:spcPts val="1600"/>
              </a:spcBef>
              <a:spcAft>
                <a:spcPts val="0"/>
              </a:spcAft>
              <a:buSzPts val="1400"/>
              <a:buChar char="●"/>
              <a:defRPr/>
            </a:lvl7pPr>
            <a:lvl8pPr marL="3657600" indent="-317500" algn="ctr">
              <a:spcBef>
                <a:spcPts val="1600"/>
              </a:spcBef>
              <a:spcAft>
                <a:spcPts val="0"/>
              </a:spcAft>
              <a:buSzPts val="1400"/>
              <a:buChar char="○"/>
              <a:defRPr/>
            </a:lvl8pPr>
            <a:lvl9pPr marL="4114800" indent="-317500" algn="ctr">
              <a:spcBef>
                <a:spcPts val="1600"/>
              </a:spcBef>
              <a:spcAft>
                <a:spcPts val="1600"/>
              </a:spcAft>
              <a:buSzPts val="1400"/>
              <a:buChar char="■"/>
              <a:defRPr/>
            </a:lvl9pPr>
          </a:lstStyle>
          <a:p xmlns:a="http://schemas.openxmlformats.org/drawingml/2006/main">
            <a:endParaRPr/>
          </a:p>
        </p:txBody>
      </p:sp>
      <p:sp>
        <p:nvSpPr>
          <p:cNvPr id="47" name="Google Shape;47;p11">
            <a:extLst xmlns:a="http://schemas.openxmlformats.org/drawingml/2006/main">
              <a:ext uri="{FF2B5EF4-FFF2-40B4-BE49-F238E27FC236}">
                <a16:creationId xmlns:a16="http://schemas.microsoft.com/office/drawing/2014/main" id="{5F7AE2A2-DF2B-412F-8F6F-4B0C1894A95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427AB0B-C3A3-4735-9432-6E8AAEF16CB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cc4a9a39c048e4" /><Relationship Type="http://schemas.openxmlformats.org/officeDocument/2006/relationships/slideLayout" Target="/ppt/slideLayouts/slideLayout1.xml" Id="Ra4212ea235ba4c14" /><Relationship Type="http://schemas.openxmlformats.org/officeDocument/2006/relationships/slideLayout" Target="/ppt/slideLayouts/slideLayout2.xml" Id="R6f41db9ec8684506" /><Relationship Type="http://schemas.openxmlformats.org/officeDocument/2006/relationships/slideLayout" Target="/ppt/slideLayouts/slideLayout3.xml" Id="R511b852e5f89405a" /><Relationship Type="http://schemas.openxmlformats.org/officeDocument/2006/relationships/slideLayout" Target="/ppt/slideLayouts/slideLayout4.xml" Id="Re0a0c6992c2741d9" /><Relationship Type="http://schemas.openxmlformats.org/officeDocument/2006/relationships/slideLayout" Target="/ppt/slideLayouts/slideLayout5.xml" Id="Rf606591902284e0a" /><Relationship Type="http://schemas.openxmlformats.org/officeDocument/2006/relationships/slideLayout" Target="/ppt/slideLayouts/slideLayout6.xml" Id="R2b168f6a7d3346ce" /><Relationship Type="http://schemas.openxmlformats.org/officeDocument/2006/relationships/slideLayout" Target="/ppt/slideLayouts/slideLayout7.xml" Id="Re799b4d679df49d9" /><Relationship Type="http://schemas.openxmlformats.org/officeDocument/2006/relationships/slideLayout" Target="/ppt/slideLayouts/slideLayout8.xml" Id="R960bb3c7d40b468c" /><Relationship Type="http://schemas.openxmlformats.org/officeDocument/2006/relationships/slideLayout" Target="/ppt/slideLayouts/slideLayout9.xml" Id="Re29b21c6cb1241dd" /><Relationship Type="http://schemas.openxmlformats.org/officeDocument/2006/relationships/slideLayout" Target="/ppt/slideLayouts/slideLayout10.xml" Id="R936ef63f0b264630" /><Relationship Type="http://schemas.openxmlformats.org/officeDocument/2006/relationships/slideLayout" Target="/ppt/slideLayouts/slideLayout11.xml" Id="R8535ea49333d46b9" /></Relationships>
</file>

<file path=ppt/slideMasters/slideMaster1.xml><?xml version="1.0" encoding="utf-8"?>
<p:sldMaster xmlns:p="http://schemas.openxmlformats.org/presentationml/2006/main">
  <p:cSld name="simple-light-2">
    <p:bg>
      <p:bgPr>
        <a:solidFill xmlns:a="http://schemas.openxmlformats.org/drawingml/2006/main">
          <a:srgbClr val="FE8A7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326D01F-76C5-4C12-90E1-2F9EEED23F8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a:endParaRPr/>
          </a:p>
        </p:txBody>
      </p:sp>
      <p:sp>
        <p:nvSpPr>
          <p:cNvPr id="7" name="Google Shape;7;p1">
            <a:extLst xmlns:a="http://schemas.openxmlformats.org/drawingml/2006/main">
              <a:ext uri="{FF2B5EF4-FFF2-40B4-BE49-F238E27FC236}">
                <a16:creationId xmlns:a16="http://schemas.microsoft.com/office/drawing/2014/main" id="{E22405A4-4938-497E-9A4F-C60D4E85063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1600"/>
              </a:spcBef>
              <a:spcAft>
                <a:spcPts val="0"/>
              </a:spcAft>
              <a:buClr>
                <a:schemeClr val="dk2"/>
              </a:buClr>
              <a:buSzPts val="1400"/>
              <a:buChar char="○"/>
              <a:defRPr>
                <a:solidFill>
                  <a:schemeClr val="dk2"/>
                </a:solidFill>
              </a:defRPr>
            </a:lvl2pPr>
            <a:lvl3pPr marL="1371600" indent="-317500">
              <a:lnSpc>
                <a:spcPct val="115000"/>
              </a:lnSpc>
              <a:spcBef>
                <a:spcPts val="1600"/>
              </a:spcBef>
              <a:spcAft>
                <a:spcPts val="0"/>
              </a:spcAft>
              <a:buClr>
                <a:schemeClr val="dk2"/>
              </a:buClr>
              <a:buSzPts val="1400"/>
              <a:buChar char="■"/>
              <a:defRPr>
                <a:solidFill>
                  <a:schemeClr val="dk2"/>
                </a:solidFill>
              </a:defRPr>
            </a:lvl3pPr>
            <a:lvl4pPr marL="1828800" indent="-317500">
              <a:lnSpc>
                <a:spcPct val="115000"/>
              </a:lnSpc>
              <a:spcBef>
                <a:spcPts val="1600"/>
              </a:spcBef>
              <a:spcAft>
                <a:spcPts val="0"/>
              </a:spcAft>
              <a:buClr>
                <a:schemeClr val="dk2"/>
              </a:buClr>
              <a:buSzPts val="1400"/>
              <a:buChar char="●"/>
              <a:defRPr>
                <a:solidFill>
                  <a:schemeClr val="dk2"/>
                </a:solidFill>
              </a:defRPr>
            </a:lvl4pPr>
            <a:lvl5pPr marL="2286000" indent="-317500">
              <a:lnSpc>
                <a:spcPct val="115000"/>
              </a:lnSpc>
              <a:spcBef>
                <a:spcPts val="1600"/>
              </a:spcBef>
              <a:spcAft>
                <a:spcPts val="0"/>
              </a:spcAft>
              <a:buClr>
                <a:schemeClr val="dk2"/>
              </a:buClr>
              <a:buSzPts val="1400"/>
              <a:buChar char="○"/>
              <a:defRPr>
                <a:solidFill>
                  <a:schemeClr val="dk2"/>
                </a:solidFill>
              </a:defRPr>
            </a:lvl5pPr>
            <a:lvl6pPr marL="2743200" indent="-317500">
              <a:lnSpc>
                <a:spcPct val="115000"/>
              </a:lnSpc>
              <a:spcBef>
                <a:spcPts val="1600"/>
              </a:spcBef>
              <a:spcAft>
                <a:spcPts val="0"/>
              </a:spcAft>
              <a:buClr>
                <a:schemeClr val="dk2"/>
              </a:buClr>
              <a:buSzPts val="1400"/>
              <a:buChar char="■"/>
              <a:defRPr>
                <a:solidFill>
                  <a:schemeClr val="dk2"/>
                </a:solidFill>
              </a:defRPr>
            </a:lvl6pPr>
            <a:lvl7pPr marL="3200400" indent="-317500">
              <a:lnSpc>
                <a:spcPct val="115000"/>
              </a:lnSpc>
              <a:spcBef>
                <a:spcPts val="1600"/>
              </a:spcBef>
              <a:spcAft>
                <a:spcPts val="0"/>
              </a:spcAft>
              <a:buClr>
                <a:schemeClr val="dk2"/>
              </a:buClr>
              <a:buSzPts val="1400"/>
              <a:buChar char="●"/>
              <a:defRPr>
                <a:solidFill>
                  <a:schemeClr val="dk2"/>
                </a:solidFill>
              </a:defRPr>
            </a:lvl7pPr>
            <a:lvl8pPr marL="3657600" indent="-317500">
              <a:lnSpc>
                <a:spcPct val="115000"/>
              </a:lnSpc>
              <a:spcBef>
                <a:spcPts val="1600"/>
              </a:spcBef>
              <a:spcAft>
                <a:spcPts val="0"/>
              </a:spcAft>
              <a:buClr>
                <a:schemeClr val="dk2"/>
              </a:buClr>
              <a:buSzPts val="1400"/>
              <a:buChar char="○"/>
              <a:defRPr>
                <a:solidFill>
                  <a:schemeClr val="dk2"/>
                </a:solidFill>
              </a:defRPr>
            </a:lvl8pPr>
            <a:lvl9pPr marL="4114800" indent="-317500">
              <a:lnSpc>
                <a:spcPct val="115000"/>
              </a:lnSpc>
              <a:spcBef>
                <a:spcPts val="1600"/>
              </a:spcBef>
              <a:spcAft>
                <a:spcPts val="1600"/>
              </a:spcAft>
              <a:buClr>
                <a:schemeClr val="dk2"/>
              </a:buClr>
              <a:buSzPts val="1400"/>
              <a:buChar char="■"/>
              <a:defRPr>
                <a:solidFill>
                  <a:schemeClr val="dk2"/>
                </a:solidFill>
              </a:defRPr>
            </a:lvl9pPr>
          </a:lstStyle>
          <a:p xmlns:a="http://schemas.openxmlformats.org/drawingml/2006/main">
            <a:endParaRPr/>
          </a:p>
        </p:txBody>
      </p:sp>
      <p:sp>
        <p:nvSpPr>
          <p:cNvPr id="8" name="Google Shape;8;p1">
            <a:extLst xmlns:a="http://schemas.openxmlformats.org/drawingml/2006/main">
              <a:ext uri="{FF2B5EF4-FFF2-40B4-BE49-F238E27FC236}">
                <a16:creationId xmlns:a16="http://schemas.microsoft.com/office/drawing/2014/main" id="{C8FCB777-0E6E-4999-868A-5BE901D9726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4212ea235ba4c14"/>
    <p:sldLayoutId xmlns:r="http://schemas.openxmlformats.org/officeDocument/2006/relationships" id="2147483650" r:id="R6f41db9ec8684506"/>
    <p:sldLayoutId xmlns:r="http://schemas.openxmlformats.org/officeDocument/2006/relationships" id="2147483651" r:id="R511b852e5f89405a"/>
    <p:sldLayoutId xmlns:r="http://schemas.openxmlformats.org/officeDocument/2006/relationships" id="2147483652" r:id="Re0a0c6992c2741d9"/>
    <p:sldLayoutId xmlns:r="http://schemas.openxmlformats.org/officeDocument/2006/relationships" id="2147483653" r:id="Rf606591902284e0a"/>
    <p:sldLayoutId xmlns:r="http://schemas.openxmlformats.org/officeDocument/2006/relationships" id="2147483654" r:id="R2b168f6a7d3346ce"/>
    <p:sldLayoutId xmlns:r="http://schemas.openxmlformats.org/officeDocument/2006/relationships" id="2147483655" r:id="Re799b4d679df49d9"/>
    <p:sldLayoutId xmlns:r="http://schemas.openxmlformats.org/officeDocument/2006/relationships" id="2147483656" r:id="R960bb3c7d40b468c"/>
    <p:sldLayoutId xmlns:r="http://schemas.openxmlformats.org/officeDocument/2006/relationships" id="2147483657" r:id="Re29b21c6cb1241dd"/>
    <p:sldLayoutId xmlns:r="http://schemas.openxmlformats.org/officeDocument/2006/relationships" id="2147483658" r:id="R936ef63f0b264630"/>
    <p:sldLayoutId xmlns:r="http://schemas.openxmlformats.org/officeDocument/2006/relationships" id="2147483659" r:id="R8535ea49333d46b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060415633749b1" /><Relationship Type="http://schemas.openxmlformats.org/officeDocument/2006/relationships/notesSlide" Target="/ppt/notesSlides/notesSlide1.xml" Id="Re920cfe4ae6147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624884889845eb" /><Relationship Type="http://schemas.openxmlformats.org/officeDocument/2006/relationships/notesSlide" Target="/ppt/notesSlides/notesSlide2.xml" Id="R144c05de26f54a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1c12fc626148da" /><Relationship Type="http://schemas.openxmlformats.org/officeDocument/2006/relationships/image" Target="/ppt/media/image.png" Id="Readf8005240b4743" /><Relationship Type="http://schemas.openxmlformats.org/officeDocument/2006/relationships/notesSlide" Target="/ppt/notesSlides/notesSlide3.xml" Id="R4fe4924bdcfe4d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b083996b534187" /><Relationship Type="http://schemas.openxmlformats.org/officeDocument/2006/relationships/notesSlide" Target="/ppt/notesSlides/notesSlide4.xml" Id="R2f651c9fd7d047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a4d766d3a64d62" /><Relationship Type="http://schemas.openxmlformats.org/officeDocument/2006/relationships/hyperlink" Target="https://public.tableau.com/" TargetMode="External" Id="R766ed04e519b47a3" /><Relationship Type="http://schemas.openxmlformats.org/officeDocument/2006/relationships/notesSlide" Target="/ppt/notesSlides/notesSlide5.xml" Id="R609f9119ed0147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820725e4664875" /><Relationship Type="http://schemas.openxmlformats.org/officeDocument/2006/relationships/notesSlide" Target="/ppt/notesSlides/notesSlide6.xml" Id="Rb20191ec5da549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5827d7636e494c" /><Relationship Type="http://schemas.openxmlformats.org/officeDocument/2006/relationships/notesSlide" Target="/ppt/notesSlides/notesSlide7.xml" Id="R29aef8da37eb41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d6a49986af400b" /><Relationship Type="http://schemas.openxmlformats.org/officeDocument/2006/relationships/notesSlide" Target="/ppt/notesSlides/notesSlide8.xml" Id="R47bd4ef336bd4d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9133e38d1646b6" /><Relationship Type="http://schemas.openxmlformats.org/officeDocument/2006/relationships/notesSlide" Target="/ppt/notesSlides/notesSlide9.xml" Id="R25185c6f297b47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09bc387e9a41ed" /><Relationship Type="http://schemas.openxmlformats.org/officeDocument/2006/relationships/notesSlide" Target="/ppt/notesSlides/notesSlide10.xml" Id="Rba0d201f8f734d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16d08b8f664def" /><Relationship Type="http://schemas.openxmlformats.org/officeDocument/2006/relationships/hyperlink" Target="https://video.udacity-data.com/topher/2020/May/5ec44092_taxi-rides/taxi-rides.zip" TargetMode="External" Id="R4c60425b53514853" /><Relationship Type="http://schemas.openxmlformats.org/officeDocument/2006/relationships/notesSlide" Target="/ppt/notesSlides/notesSlide11.xml" Id="R3ee17fe359e143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402514b6314d3c" /><Relationship Type="http://schemas.openxmlformats.org/officeDocument/2006/relationships/notesSlide" Target="/ppt/notesSlides/notesSlide12.xml" Id="R5a6758c1d5b948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667a98f8c04ef2" /><Relationship Type="http://schemas.openxmlformats.org/officeDocument/2006/relationships/notesSlide" Target="/ppt/notesSlides/notesSlide13.xml" Id="Rb56bd707f12c444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ec52a308724d53" /><Relationship Type="http://schemas.openxmlformats.org/officeDocument/2006/relationships/notesSlide" Target="/ppt/notesSlides/notesSlide14.xml" Id="R596495e88e0a45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c6cde71ecd84d2f" /><Relationship Type="http://schemas.openxmlformats.org/officeDocument/2006/relationships/notesSlide" Target="/ppt/notesSlides/notesSlide15.xml" Id="Rce226e7abc354b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e4d2ec21ce460d" /><Relationship Type="http://schemas.openxmlformats.org/officeDocument/2006/relationships/notesSlide" Target="/ppt/notesSlides/notesSlide16.xml" Id="R70d8d4bcd54d4f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88bdfad998421e" /><Relationship Type="http://schemas.openxmlformats.org/officeDocument/2006/relationships/notesSlide" Target="/ppt/notesSlides/notesSlide17.xml" Id="Re0bf211e5a0b4c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ae288b33dd84704" /><Relationship Type="http://schemas.openxmlformats.org/officeDocument/2006/relationships/image" Target="/ppt/media/image2.png" Id="R79d372dab7ff41cd" /><Relationship Type="http://schemas.openxmlformats.org/officeDocument/2006/relationships/notesSlide" Target="/ppt/notesSlides/notesSlide18.xml" Id="Red75fc05a89b49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17ad649135a43a2" /><Relationship Type="http://schemas.openxmlformats.org/officeDocument/2006/relationships/notesSlide" Target="/ppt/notesSlides/notesSlide19.xml" Id="R01535a05cb904b9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c50fd9047e3499b" /><Relationship Type="http://schemas.openxmlformats.org/officeDocument/2006/relationships/hyperlink" Target="https://public.tableau.com/app/profile/christopher.ohara/viz/FlyberMVPLaunchStrategy_17861346231600/PickupOpportunityMap#1" TargetMode="External" Id="R6739c20437864ea3" /><Relationship Type="http://schemas.openxmlformats.org/officeDocument/2006/relationships/image" Target="/ppt/media/image3.png" Id="R5050c2f000a84594" /><Relationship Type="http://schemas.openxmlformats.org/officeDocument/2006/relationships/notesSlide" Target="/ppt/notesSlides/notesSlide20.xml" Id="Rdcca69ddb6bd4d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ec0073b711f44b6" /><Relationship Type="http://schemas.openxmlformats.org/officeDocument/2006/relationships/notesSlide" Target="/ppt/notesSlides/notesSlide21.xml" Id="R3d65c1c34a664e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162289fa69d4aec" /><Relationship Type="http://schemas.openxmlformats.org/officeDocument/2006/relationships/image" Target="/ppt/media/image4.png" Id="Rf30b6318361849de" /><Relationship Type="http://schemas.openxmlformats.org/officeDocument/2006/relationships/notesSlide" Target="/ppt/notesSlides/notesSlide22.xml" Id="R886401dbc0084e9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9f42aa226cc441b" /><Relationship Type="http://schemas.openxmlformats.org/officeDocument/2006/relationships/hyperlink" Target="https://video.udacity-data.com/topher/2020/May/5ebc9060_user-research/user-research.csv" TargetMode="External" Id="R8aa5b906feb8408d" /><Relationship Type="http://schemas.openxmlformats.org/officeDocument/2006/relationships/notesSlide" Target="/ppt/notesSlides/notesSlide23.xml" Id="Rb220d5ab33cb4f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9a2647faab7487d" /><Relationship Type="http://schemas.openxmlformats.org/officeDocument/2006/relationships/notesSlide" Target="/ppt/notesSlides/notesSlide24.xml" Id="R95543cb14bf044f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b05300a71a54ce8" /><Relationship Type="http://schemas.openxmlformats.org/officeDocument/2006/relationships/notesSlide" Target="/ppt/notesSlides/notesSlide25.xml" Id="R27490b34a64b463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c8c14c9f7b444d3" /><Relationship Type="http://schemas.openxmlformats.org/officeDocument/2006/relationships/image" Target="/ppt/media/image5.png" Id="R684d47893e9e43a3" /><Relationship Type="http://schemas.openxmlformats.org/officeDocument/2006/relationships/notesSlide" Target="/ppt/notesSlides/notesSlide26.xml" Id="R7e50e1a556a9469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8628c9a3ace4701" /><Relationship Type="http://schemas.openxmlformats.org/officeDocument/2006/relationships/image" Target="/ppt/media/image6.png" Id="Reffd4df9f08d4b3e" /><Relationship Type="http://schemas.openxmlformats.org/officeDocument/2006/relationships/notesSlide" Target="/ppt/notesSlides/notesSlide27.xml" Id="R30b889b7e215432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8b48001fda34af4" /><Relationship Type="http://schemas.openxmlformats.org/officeDocument/2006/relationships/image" Target="/ppt/media/image7.png" Id="R3bb15de6ba2f4673" /><Relationship Type="http://schemas.openxmlformats.org/officeDocument/2006/relationships/notesSlide" Target="/ppt/notesSlides/notesSlide28.xml" Id="R66f1cd6669e441a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8cb9087b52a4b1e" /><Relationship Type="http://schemas.openxmlformats.org/officeDocument/2006/relationships/notesSlide" Target="/ppt/notesSlides/notesSlide29.xml" Id="R6cee9bd0f974440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4eb0c7d41e94af6" /><Relationship Type="http://schemas.openxmlformats.org/officeDocument/2006/relationships/notesSlide" Target="/ppt/notesSlides/notesSlide30.xml" Id="Rc5304557bb9040b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6256cd3f0b24332" /><Relationship Type="http://schemas.openxmlformats.org/officeDocument/2006/relationships/notesSlide" Target="/ppt/notesSlides/notesSlide31.xml" Id="R6277e1582c024a9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4023baf705b41e1" /><Relationship Type="http://schemas.openxmlformats.org/officeDocument/2006/relationships/notesSlide" Target="/ppt/notesSlides/notesSlide32.xml" Id="Rb9d0ff038b734db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9ad5647ade44a19" /><Relationship Type="http://schemas.openxmlformats.org/officeDocument/2006/relationships/notesSlide" Target="/ppt/notesSlides/notesSlide33.xml" Id="R4d039366f8364f0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e773ebecd8146db" /><Relationship Type="http://schemas.openxmlformats.org/officeDocument/2006/relationships/notesSlide" Target="/ppt/notesSlides/notesSlide34.xml" Id="Rf061320c7c0d4b6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5b07e91e7784f9b" /><Relationship Type="http://schemas.openxmlformats.org/officeDocument/2006/relationships/notesSlide" Target="/ppt/notesSlides/notesSlide35.xml" Id="Rd7a1434a6330412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42481774a364589" /><Relationship Type="http://schemas.openxmlformats.org/officeDocument/2006/relationships/notesSlide" Target="/ppt/notesSlides/notesSlide36.xml" Id="R41e374739ba941a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ed01ae611454904" /><Relationship Type="http://schemas.openxmlformats.org/officeDocument/2006/relationships/notesSlide" Target="/ppt/notesSlides/notesSlide37.xml" Id="R5a62ec4be5a9457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f5dce6cd23747d8" /><Relationship Type="http://schemas.openxmlformats.org/officeDocument/2006/relationships/notesSlide" Target="/ppt/notesSlides/notesSlide38.xml" Id="Rf6c255f5e46c46e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67093809f2a428a" /><Relationship Type="http://schemas.openxmlformats.org/officeDocument/2006/relationships/notesSlide" Target="/ppt/notesSlides/notesSlide39.xml" Id="R624ba4502b0e4a8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f09d72d1ce84492" /><Relationship Type="http://schemas.openxmlformats.org/officeDocument/2006/relationships/notesSlide" Target="/ppt/notesSlides/notesSlide40.xml" Id="R7ea79f94bcbe4d1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f510a8217cc4747" /><Relationship Type="http://schemas.openxmlformats.org/officeDocument/2006/relationships/notesSlide" Target="/ppt/notesSlides/notesSlide41.xml" Id="R2df320846e2e43e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3e71f3ee1074981" /><Relationship Type="http://schemas.openxmlformats.org/officeDocument/2006/relationships/notesSlide" Target="/ppt/notesSlides/notesSlide42.xml" Id="Rc78b06b19760467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9fa64c1564f42be" /><Relationship Type="http://schemas.openxmlformats.org/officeDocument/2006/relationships/notesSlide" Target="/ppt/notesSlides/notesSlide43.xml" Id="R04b8184df9834a2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ce2ab103bb343c9" /><Relationship Type="http://schemas.openxmlformats.org/officeDocument/2006/relationships/notesSlide" Target="/ppt/notesSlides/notesSlide44.xml" Id="Rb33ed86f7153491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4015c81bf78437d" /><Relationship Type="http://schemas.openxmlformats.org/officeDocument/2006/relationships/notesSlide" Target="/ppt/notesSlides/notesSlide45.xml" Id="Ra12989dac189464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ed7dd4bd66f4638" /><Relationship Type="http://schemas.openxmlformats.org/officeDocument/2006/relationships/notesSlide" Target="/ppt/notesSlides/notesSlide46.xml" Id="Rd870126b60104df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23293e4f7cc4012" /><Relationship Type="http://schemas.openxmlformats.org/officeDocument/2006/relationships/notesSlide" Target="/ppt/notesSlides/notesSlide47.xml" Id="Rea7b3d9785714c9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46fdb5b684f45dc" /><Relationship Type="http://schemas.openxmlformats.org/officeDocument/2006/relationships/notesSlide" Target="/ppt/notesSlides/notesSlide48.xml" Id="R639405de2b0743b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a63c42d39294f44" /><Relationship Type="http://schemas.openxmlformats.org/officeDocument/2006/relationships/notesSlide" Target="/ppt/notesSlides/notesSlide49.xml" Id="R1993ed0455e8484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886f2aeb79244a8" /><Relationship Type="http://schemas.openxmlformats.org/officeDocument/2006/relationships/hyperlink" Target="https://public.tableau.com/app/profile/christopher.ohara/viz/FlyberMVPLaunchStrategy_17861346231600/PickupOpportunityMap#1" TargetMode="External" Id="R5f16187ec17e4890" /><Relationship Type="http://schemas.openxmlformats.org/officeDocument/2006/relationships/notesSlide" Target="/ppt/notesSlides/notesSlide50.xml" Id="Rc09b34ba07634ff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8BC4A73F-40E4-45B3-BF74-8558C641841F}"/>
              </a:ext>
            </a:extLst>
          </p:cNvPr>
          <p:cNvSpPr>
            <a:spLocks xmlns:a="http://schemas.openxmlformats.org/drawingml/2006/main" noGrp="1"/>
          </p:cNvSpPr>
          <p:nvPr>
            <p:ph type="ctrTitle" idx="0"/>
          </p:nvPr>
        </p:nvSpPr>
        <p:spPr>
          <a:xfrm xmlns:a="http://schemas.openxmlformats.org/drawingml/2006/main">
            <a:off x="311700" y="1934550"/>
            <a:ext cx="8520600" cy="1274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Data Product Manager Nanodegree</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Applying Data Science to Product Management</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Final Project: Developing an MVP Launch Strategy for a Flying Taxi Service</a:t>
            </a: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2093957522"/>
      </p:ext>
    </p:extLst>
  </p:cSld>
</p:sld>
</file>

<file path=ppt/slides/slide2.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59" name="Google Shape;59;p14">
            <a:extLst xmlns:a="http://schemas.openxmlformats.org/drawingml/2006/main">
              <a:ext uri="{FF2B5EF4-FFF2-40B4-BE49-F238E27FC236}">
                <a16:creationId xmlns:a16="http://schemas.microsoft.com/office/drawing/2014/main" id="{A52542F7-4D54-4352-B8DA-8994616D229A}"/>
              </a:ext>
            </a:extLst>
          </p:cNvPr>
          <p:cNvSpPr>
            <a:spLocks xmlns:a="http://schemas.openxmlformats.org/drawingml/2006/main" noGrp="1"/>
          </p:cNvSpPr>
          <p:nvPr>
            <p:ph type="ctrTitle" idx="0"/>
          </p:nvPr>
        </p:nvSpPr>
        <p:spPr>
          <a:xfrm xmlns:a="http://schemas.openxmlformats.org/drawingml/2006/main">
            <a:off x="311700" y="2253150"/>
            <a:ext cx="8520600" cy="637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Welcome to your first week at Flyber</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68388162"/>
      </p:ext>
    </p:extLst>
  </p:cSld>
</p:sld>
</file>

<file path=ppt/slides/slide3.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pic>
        <p:nvPicPr>
          <p:cNvPr id="2" name="Google Shape;64;p15"/>
          <p:cNvPicPr>
            <a:picLocks xmlns:a="http://schemas.openxmlformats.org/drawingml/2006/main" noChangeAspect="1"/>
          </p:cNvPicPr>
          <p:nvPr/>
        </p:nvPicPr>
        <p:blipFill>
          <a:blip xmlns:r="http://schemas.openxmlformats.org/officeDocument/2006/relationships" xmlns:a="http://schemas.openxmlformats.org/drawingml/2006/main" r:embed="Readf8005240b4743">
            <a:alphaModFix/>
          </a:blip>
          <a:stretch xmlns:a="http://schemas.openxmlformats.org/drawingml/2006/main">
            <a:fillRect l="0" t="0" r="0" b="0"/>
          </a:stretch>
        </p:blipFill>
        <p:spPr>
          <a:xfrm xmlns:a="http://schemas.openxmlformats.org/drawingml/2006/main">
            <a:off x="3753638" y="2124563"/>
            <a:ext cx="1636725" cy="8943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910090993"/>
      </p:ext>
    </p:extLst>
  </p:cSld>
</p:sld>
</file>

<file path=ppt/slides/slide4.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69" name="Google Shape;69;p16">
            <a:extLst xmlns:a="http://schemas.openxmlformats.org/drawingml/2006/main">
              <a:ext uri="{FF2B5EF4-FFF2-40B4-BE49-F238E27FC236}">
                <a16:creationId xmlns:a16="http://schemas.microsoft.com/office/drawing/2014/main" id="{D7434921-13A7-453B-82C4-B2DEDDB1F6A0}"/>
              </a:ext>
            </a:extLst>
          </p:cNvPr>
          <p:cNvSpPr>
            <a:spLocks xmlns:a="http://schemas.openxmlformats.org/drawingml/2006/main" noGrp="1"/>
          </p:cNvSpPr>
          <p:nvPr>
            <p:ph type="ctrTitle" idx="0"/>
          </p:nvPr>
        </p:nvSpPr>
        <p:spPr>
          <a:xfrm xmlns:a="http://schemas.openxmlformats.org/drawingml/2006/main">
            <a:off x="329050" y="1665450"/>
            <a:ext cx="7532700" cy="181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In this project, you will apply the skills acquired in this course to create the MVP launch strategy for the first flying car taxi service, Flyber, in one of the most congested cities in America -- New York City.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You are responsible for bringing the first flying car taxi service to market by analyzing data and building a product proposal.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2084927986"/>
      </p:ext>
    </p:extLst>
  </p:cSld>
</p:sld>
</file>

<file path=ppt/slides/slide5.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74" name="Google Shape;74;p17">
            <a:extLst xmlns:a="http://schemas.openxmlformats.org/drawingml/2006/main">
              <a:ext uri="{FF2B5EF4-FFF2-40B4-BE49-F238E27FC236}">
                <a16:creationId xmlns:a16="http://schemas.microsoft.com/office/drawing/2014/main" id="{F3DCEEB9-3B11-4072-B7C3-0655405A3FB3}"/>
              </a:ext>
            </a:extLst>
          </p:cNvPr>
          <p:cNvSpPr>
            <a:spLocks xmlns:a="http://schemas.openxmlformats.org/drawingml/2006/main" noGrp="1"/>
          </p:cNvSpPr>
          <p:nvPr>
            <p:ph type="ctrTitle" idx="0"/>
          </p:nvPr>
        </p:nvSpPr>
        <p:spPr>
          <a:xfrm xmlns:a="http://schemas.openxmlformats.org/drawingml/2006/main">
            <a:off x="348950" y="1788150"/>
            <a:ext cx="7532700" cy="1567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You will need to use the SQL workspace provided in the Classroom, and </a:t>
            </a:r>
            <a:r>
              <a:rPr sz="1800" u="sng">
                <a:solidFill>
                  <a:schemeClr val="hlink"/>
                </a:solidFill>
                <a:latin typeface="Nunito Light"/>
                <a:ea typeface="Nunito Light"/>
                <a:cs typeface="Nunito Light"/>
                <a:hlinkClick xmlns:r="http://schemas.openxmlformats.org/officeDocument/2006/relationships" r:id="R766ed04e519b47a3"/>
              </a:rPr>
              <a:t>Tableau Public</a:t>
            </a:r>
            <a:r>
              <a:rPr sz="1800">
                <a:solidFill>
                  <a:srgbClr val="434343"/>
                </a:solidFill>
                <a:latin typeface="Nunito Light"/>
                <a:ea typeface="Nunito Light"/>
                <a:cs typeface="Nunito Light"/>
              </a:rPr>
              <a:t>, in order to successfully complete the project.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You</a:t>
            </a:r>
            <a:r>
              <a:rPr sz="1800">
                <a:solidFill>
                  <a:srgbClr val="434343"/>
                </a:solidFill>
                <a:latin typeface="Nunito Light"/>
                <a:ea typeface="Nunito Light"/>
                <a:cs typeface="Nunito Light"/>
              </a:rPr>
              <a:t>'</a:t>
            </a:r>
            <a:r>
              <a:rPr sz="1800">
                <a:solidFill>
                  <a:srgbClr val="434343"/>
                </a:solidFill>
                <a:latin typeface="Nunito Light"/>
                <a:ea typeface="Nunito Light"/>
                <a:cs typeface="Nunito Light"/>
              </a:rPr>
              <a:t>ll present your answers, findings, and insights in the Answer Slides found in this deck. Feel free to include any additional slides, if needed.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58211570"/>
      </p:ext>
    </p:extLst>
  </p:cSld>
</p:sld>
</file>

<file path=ppt/slides/slide6.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79" name="Google Shape;79;p18">
            <a:extLst xmlns:a="http://schemas.openxmlformats.org/drawingml/2006/main">
              <a:ext uri="{FF2B5EF4-FFF2-40B4-BE49-F238E27FC236}">
                <a16:creationId xmlns:a16="http://schemas.microsoft.com/office/drawing/2014/main" id="{6520EA69-CED7-4C4A-9F3B-EEC5C8EEE719}"/>
              </a:ext>
            </a:extLst>
          </p:cNvPr>
          <p:cNvSpPr>
            <a:spLocks xmlns:a="http://schemas.openxmlformats.org/drawingml/2006/main" noGrp="1"/>
          </p:cNvSpPr>
          <p:nvPr>
            <p:ph type="ctrTitle" idx="0"/>
          </p:nvPr>
        </p:nvSpPr>
        <p:spPr>
          <a:xfrm xmlns:a="http://schemas.openxmlformats.org/drawingml/2006/main">
            <a:off x="311700" y="2253150"/>
            <a:ext cx="8520600" cy="637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FFFFFF"/>
                </a:solidFill>
                <a:latin typeface="Nunito Light"/>
                <a:ea typeface="Nunito Light"/>
                <a:cs typeface="Nunito Light"/>
              </a:rPr>
              <a:t>Section 1: Data Exploration</a:t>
            </a:r>
            <a:endParaRPr sz="36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877037888"/>
      </p:ext>
    </p:extLst>
  </p:cSld>
</p:sld>
</file>

<file path=ppt/slides/slide7.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84" name="Google Shape;84;p19">
            <a:extLst xmlns:a="http://schemas.openxmlformats.org/drawingml/2006/main">
              <a:ext uri="{FF2B5EF4-FFF2-40B4-BE49-F238E27FC236}">
                <a16:creationId xmlns:a16="http://schemas.microsoft.com/office/drawing/2014/main" id="{7EABE8B7-F7B8-420D-8A19-1351D08758BB}"/>
              </a:ext>
            </a:extLst>
          </p:cNvPr>
          <p:cNvSpPr>
            <a:spLocks xmlns:a="http://schemas.openxmlformats.org/drawingml/2006/main" noGrp="1"/>
          </p:cNvSpPr>
          <p:nvPr>
            <p:ph type="ctrTitle" idx="0"/>
          </p:nvPr>
        </p:nvSpPr>
        <p:spPr>
          <a:xfrm xmlns:a="http://schemas.openxmlformats.org/drawingml/2006/main">
            <a:off x="341975" y="1656600"/>
            <a:ext cx="7532700" cy="1830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Back to the basics of product management, identify your customer and their pain points:</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are taxis used for?</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are the characteristics of the users that leverage them?</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are existing pain points with taxis?</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are the existing pain points with digital ride-sharing services?</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882485337"/>
      </p:ext>
    </p:extLst>
  </p:cSld>
</p:sld>
</file>

<file path=ppt/slides/slide8.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89" name="Google Shape;89;p20">
            <a:extLst xmlns:a="http://schemas.openxmlformats.org/drawingml/2006/main">
              <a:ext uri="{FF2B5EF4-FFF2-40B4-BE49-F238E27FC236}">
                <a16:creationId xmlns:a16="http://schemas.microsoft.com/office/drawing/2014/main" id="{9B9614B5-ADEE-4DA3-A39C-6FE19C180616}"/>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Ground travel creates uncertainty</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90" name="Google Shape;90;p20">
            <a:extLst xmlns:a="http://schemas.openxmlformats.org/drawingml/2006/main">
              <a:ext uri="{FF2B5EF4-FFF2-40B4-BE49-F238E27FC236}">
                <a16:creationId xmlns:a16="http://schemas.microsoft.com/office/drawing/2014/main" id="{BE1A8E79-54FE-4663-A14D-97D4CF2081D4}"/>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USES: commuting, airport transfers, appointments, nightlife, tourism, and transit-gap trips.
USERS: residents and visitors without cars, time-sensitive riders, and people needing door-to-door access.
TAXI PAINS: road congestion, uncertain arrival time, variable availability, fare opacity, and driver idle/deadhead time.
RIDESHARE PAINS: surge pricing, cancellations, pickup mismatch, driver pay volatility, curb congestion, and privacy concerns.</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899807572"/>
      </p:ext>
    </p:extLst>
  </p:cSld>
</p:sld>
</file>

<file path=ppt/slides/slide9.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95" name="Google Shape;95;p21">
            <a:extLst xmlns:a="http://schemas.openxmlformats.org/drawingml/2006/main">
              <a:ext uri="{FF2B5EF4-FFF2-40B4-BE49-F238E27FC236}">
                <a16:creationId xmlns:a16="http://schemas.microsoft.com/office/drawing/2014/main" id="{975C97C7-8400-4CA5-ABC4-52B9D4083A04}"/>
              </a:ext>
            </a:extLst>
          </p:cNvPr>
          <p:cNvSpPr>
            <a:spLocks xmlns:a="http://schemas.openxmlformats.org/drawingml/2006/main" noGrp="1"/>
          </p:cNvSpPr>
          <p:nvPr>
            <p:ph type="ctrTitle" idx="0"/>
          </p:nvPr>
        </p:nvSpPr>
        <p:spPr>
          <a:xfrm xmlns:a="http://schemas.openxmlformats.org/drawingml/2006/main">
            <a:off x="329050" y="1673550"/>
            <a:ext cx="7532700" cy="179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What user improvements do you hypothesize a flying taxi service would have over the existing state of taxis today? </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What market improvements do you hypothesize a flying taxi service would have the existing taxi service industry &amp; physical road infrastructure today?</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2007029859"/>
      </p:ext>
    </p:extLst>
  </p:cSld>
</p:sld>
</file>

<file path=ppt/slides/slide10.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100" name="Google Shape;100;p22">
            <a:extLst xmlns:a="http://schemas.openxmlformats.org/drawingml/2006/main">
              <a:ext uri="{FF2B5EF4-FFF2-40B4-BE49-F238E27FC236}">
                <a16:creationId xmlns:a16="http://schemas.microsoft.com/office/drawing/2014/main" id="{02787A16-45AA-4890-AC0B-8633763F6B93}"/>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Flyber's advantage is time certainty</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01" name="Google Shape;101;p22">
            <a:extLst xmlns:a="http://schemas.openxmlformats.org/drawingml/2006/main">
              <a:ext uri="{FF2B5EF4-FFF2-40B4-BE49-F238E27FC236}">
                <a16:creationId xmlns:a16="http://schemas.microsoft.com/office/drawing/2014/main" id="{88B6CD85-9978-4F3C-ACBE-1D9205C33E8A}"/>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USER HYPOTHESIS: bypassing road bottlenecks will reduce travel-time variance on short, slow trips and make airport/business-district transfers more predictable.
DRIVER/PILOT HYPOTHESIS: scheduled nodes and reservations can reduce curb searching, cancellations, and unpaid deadhead time.
MARKET HYPOTHESIS: shifting selected trips off roads may reduce localized curb and road demand, but could create noise, airspace, safety, and access externalities.
These are testable hypotheses, not promised outcomes.</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710937679"/>
      </p:ext>
    </p:extLst>
  </p:cSld>
</p:sld>
</file>

<file path=ppt/slides/slide11.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106" name="Google Shape;106;p23">
            <a:extLst xmlns:a="http://schemas.openxmlformats.org/drawingml/2006/main">
              <a:ext uri="{FF2B5EF4-FFF2-40B4-BE49-F238E27FC236}">
                <a16:creationId xmlns:a16="http://schemas.microsoft.com/office/drawing/2014/main" id="{2F7E65FD-EA40-4543-AE51-5537CDA1D63B}"/>
              </a:ext>
            </a:extLst>
          </p:cNvPr>
          <p:cNvSpPr>
            <a:spLocks xmlns:a="http://schemas.openxmlformats.org/drawingml/2006/main" noGrp="1"/>
          </p:cNvSpPr>
          <p:nvPr>
            <p:ph type="ctrTitle" idx="0"/>
          </p:nvPr>
        </p:nvSpPr>
        <p:spPr>
          <a:xfrm xmlns:a="http://schemas.openxmlformats.org/drawingml/2006/main">
            <a:off x="352475" y="1233900"/>
            <a:ext cx="7532700" cy="2675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Upload </a:t>
            </a:r>
            <a:r>
              <a:rPr sz="1800" u="sng">
                <a:solidFill>
                  <a:schemeClr val="hlink"/>
                </a:solidFill>
                <a:latin typeface="Nunito Light"/>
                <a:ea typeface="Nunito Light"/>
                <a:cs typeface="Nunito Light"/>
                <a:hlinkClick xmlns:r="http://schemas.openxmlformats.org/officeDocument/2006/relationships" r:id="R4c60425b53514853"/>
              </a:rPr>
              <a:t>this dataset</a:t>
            </a:r>
            <a:r>
              <a:rPr sz="1800">
                <a:solidFill>
                  <a:srgbClr val="434343"/>
                </a:solidFill>
                <a:latin typeface="Nunito Light"/>
                <a:ea typeface="Nunito Light"/>
                <a:cs typeface="Nunito Light"/>
              </a:rPr>
              <a:t> into Tableau Online.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Ensure the fields are parsed correctly; field headers are included in the first row of the CSV. </a:t>
            </a:r>
            <a:br/>
            <a:br/>
            <a:r>
              <a:rPr sz="1800">
                <a:solidFill>
                  <a:srgbClr val="434343"/>
                </a:solidFill>
                <a:latin typeface="Nunito Light"/>
                <a:ea typeface="Nunito Light"/>
                <a:cs typeface="Nunito Light"/>
              </a:rPr>
              <a:t>Let</a:t>
            </a:r>
            <a:r>
              <a:rPr sz="1800">
                <a:solidFill>
                  <a:srgbClr val="434343"/>
                </a:solidFill>
                <a:latin typeface="Nunito Light"/>
                <a:ea typeface="Nunito Light"/>
                <a:cs typeface="Nunito Light"/>
              </a:rPr>
              <a:t>'</a:t>
            </a:r>
            <a:r>
              <a:rPr sz="1800">
                <a:solidFill>
                  <a:srgbClr val="434343"/>
                </a:solidFill>
                <a:latin typeface="Nunito Light"/>
                <a:ea typeface="Nunito Light"/>
                <a:cs typeface="Nunito Light"/>
              </a:rPr>
              <a:t>s begin exploration!</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664630241"/>
      </p:ext>
    </p:extLst>
  </p:cSld>
</p:sld>
</file>

<file path=ppt/slides/slide12.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111" name="Google Shape;111;p24">
            <a:extLst xmlns:a="http://schemas.openxmlformats.org/drawingml/2006/main">
              <a:ext uri="{FF2B5EF4-FFF2-40B4-BE49-F238E27FC236}">
                <a16:creationId xmlns:a16="http://schemas.microsoft.com/office/drawing/2014/main" id="{9BCF31BD-13B0-41A7-AA00-3E5F1A9D5F3F}"/>
              </a:ext>
            </a:extLst>
          </p:cNvPr>
          <p:cNvSpPr>
            <a:spLocks xmlns:a="http://schemas.openxmlformats.org/drawingml/2006/main" noGrp="1"/>
          </p:cNvSpPr>
          <p:nvPr>
            <p:ph type="ctrTitle" idx="0"/>
          </p:nvPr>
        </p:nvSpPr>
        <p:spPr>
          <a:xfrm xmlns:a="http://schemas.openxmlformats.org/drawingml/2006/main">
            <a:off x="329025" y="1250550"/>
            <a:ext cx="7532700" cy="264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Acquire a high-level understanding of the granularity and scope of the dataset, to inform the basis for your analyses:</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How many records are in the dataset</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does each record represent?</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is the primary key?</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date range is your dataset bound to?</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are the geographical bounds of this dataset? Is it limited to Manhattan, or is Brooklyn, Queens, Staten Island, the Bronx, and New Jersey included? Where are most of the data points centralized at? Are there outliers?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812043476"/>
      </p:ext>
    </p:extLst>
  </p:cSld>
</p:sld>
</file>

<file path=ppt/slides/slide13.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116" name="Google Shape;116;p25">
            <a:extLst xmlns:a="http://schemas.openxmlformats.org/drawingml/2006/main">
              <a:ext uri="{FF2B5EF4-FFF2-40B4-BE49-F238E27FC236}">
                <a16:creationId xmlns:a16="http://schemas.microsoft.com/office/drawing/2014/main" id="{C708D115-38C6-4E07-9358-80FAE21860BC}"/>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1,048,468 unique trips define the market</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17" name="Google Shape;117;p25">
            <a:extLst xmlns:a="http://schemas.openxmlformats.org/drawingml/2006/main">
              <a:ext uri="{FF2B5EF4-FFF2-40B4-BE49-F238E27FC236}">
                <a16:creationId xmlns:a16="http://schemas.microsoft.com/office/drawing/2014/main" id="{EBD3AC00-A899-4FF8-952A-26878397D60F}"/>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GRAIN: one completed taxi trip with pickup/dropoff time and coordinates, passengers, duration, and distance.
PRIMARY KEY: id; 1,048,468 records and 1,048,468 unique ids.
TIME: pickups from Jan 1 through Jun 30, 2016; the latest dropoff is Jul 1, 2016.
SPACE: trips center on Manhattan and extend to outer borough/airport catchments. Raw outlier bounds reach 32.18-51.88 N and 79.82-61.34 W.
QUALITY: 1,031,441 records (98.4%) pass the documented operational filter; 99.9% of pickups and 99.6% of dropoffs map to an NYC NTA.</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453897394"/>
      </p:ext>
    </p:extLst>
  </p:cSld>
</p:sld>
</file>

<file path=ppt/slides/slide14.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122" name="Google Shape;122;p26">
            <a:extLst xmlns:a="http://schemas.openxmlformats.org/drawingml/2006/main">
              <a:ext uri="{FF2B5EF4-FFF2-40B4-BE49-F238E27FC236}">
                <a16:creationId xmlns:a16="http://schemas.microsoft.com/office/drawing/2014/main" id="{848CF8B5-D75F-4B73-A01A-E471945AC10A}"/>
              </a:ext>
            </a:extLst>
          </p:cNvPr>
          <p:cNvSpPr>
            <a:spLocks xmlns:a="http://schemas.openxmlformats.org/drawingml/2006/main" noGrp="1"/>
          </p:cNvSpPr>
          <p:nvPr>
            <p:ph type="ctrTitle" idx="0"/>
          </p:nvPr>
        </p:nvSpPr>
        <p:spPr>
          <a:xfrm xmlns:a="http://schemas.openxmlformats.org/drawingml/2006/main">
            <a:off x="319100" y="845850"/>
            <a:ext cx="7532700" cy="3451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You notice that the dataset does not contain explicit data points out-of the-box, we</a:t>
            </a:r>
            <a:r>
              <a:rPr sz="1800">
                <a:solidFill>
                  <a:srgbClr val="434343"/>
                </a:solidFill>
                <a:latin typeface="Nunito Light"/>
                <a:ea typeface="Nunito Light"/>
                <a:cs typeface="Nunito Light"/>
              </a:rPr>
              <a:t>'</a:t>
            </a:r>
            <a:r>
              <a:rPr sz="1800">
                <a:solidFill>
                  <a:srgbClr val="434343"/>
                </a:solidFill>
                <a:latin typeface="Nunito Light"/>
                <a:ea typeface="Nunito Light"/>
                <a:cs typeface="Nunito Light"/>
              </a:rPr>
              <a:t>ll need to enrich the dataset with relevant fields:</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You notice that ride price is not included, but figure it could be derived. Based on information about New York taxi prices gleaned from the internet, create a calculated field called  `price` using the `duration`, `distance`, and `passenger count` fields.</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You hypothesize your target users will be those who take a relatively longer time getting to a destination that is relatively close, due to heavy traffic conditions and/or limitations to physical road infrastructure. To be able to analyze where this is happening, you will need to create a calculated field called `duration-to-distance ratio`.</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22150678"/>
      </p:ext>
    </p:extLst>
  </p:cSld>
</p:sld>
</file>

<file path=ppt/slides/slide15.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127" name="Google Shape;127;p27">
            <a:extLst xmlns:a="http://schemas.openxmlformats.org/drawingml/2006/main">
              <a:ext uri="{FF2B5EF4-FFF2-40B4-BE49-F238E27FC236}">
                <a16:creationId xmlns:a16="http://schemas.microsoft.com/office/drawing/2014/main" id="{AC2815EE-5165-466A-95B9-A37EE3C06637}"/>
              </a:ext>
            </a:extLst>
          </p:cNvPr>
          <p:cNvSpPr>
            <a:spLocks xmlns:a="http://schemas.openxmlformats.org/drawingml/2006/main" noGrp="1"/>
          </p:cNvSpPr>
          <p:nvPr>
            <p:ph type="ctrTitle" idx="0"/>
          </p:nvPr>
        </p:nvSpPr>
        <p:spPr>
          <a:xfrm xmlns:a="http://schemas.openxmlformats.org/drawingml/2006/main">
            <a:off x="338975" y="1408650"/>
            <a:ext cx="7532700" cy="2326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Let</a:t>
            </a:r>
            <a:r>
              <a:rPr sz="1800">
                <a:solidFill>
                  <a:srgbClr val="434343"/>
                </a:solidFill>
                <a:latin typeface="Nunito Light"/>
                <a:ea typeface="Nunito Light"/>
                <a:cs typeface="Nunito Light"/>
              </a:rPr>
              <a:t>'</a:t>
            </a:r>
            <a:r>
              <a:rPr sz="1800">
                <a:solidFill>
                  <a:srgbClr val="434343"/>
                </a:solidFill>
                <a:latin typeface="Nunito Light"/>
                <a:ea typeface="Nunito Light"/>
                <a:cs typeface="Nunito Light"/>
              </a:rPr>
              <a:t>s understand the scope and distribution various dimensions within the dataset. Calculate the </a:t>
            </a:r>
            <a:r>
              <a:rPr sz="1800" b="1">
                <a:solidFill>
                  <a:srgbClr val="434343"/>
                </a:solidFill>
                <a:latin typeface="Nunito"/>
                <a:ea typeface="Nunito"/>
                <a:cs typeface="Nunito"/>
              </a:rPr>
              <a:t>average</a:t>
            </a:r>
            <a:r>
              <a:rPr sz="1800">
                <a:solidFill>
                  <a:srgbClr val="434343"/>
                </a:solidFill>
                <a:latin typeface="Nunito Light"/>
                <a:ea typeface="Nunito Light"/>
                <a:cs typeface="Nunito Light"/>
              </a:rPr>
              <a:t>, </a:t>
            </a:r>
            <a:r>
              <a:rPr sz="1800" b="1">
                <a:solidFill>
                  <a:srgbClr val="434343"/>
                </a:solidFill>
                <a:latin typeface="Nunito"/>
                <a:ea typeface="Nunito"/>
                <a:cs typeface="Nunito"/>
              </a:rPr>
              <a:t>median</a:t>
            </a:r>
            <a:r>
              <a:rPr sz="1800">
                <a:solidFill>
                  <a:srgbClr val="434343"/>
                </a:solidFill>
                <a:latin typeface="Nunito Light"/>
                <a:ea typeface="Nunito Light"/>
                <a:cs typeface="Nunito Light"/>
              </a:rPr>
              <a:t>, and the </a:t>
            </a:r>
            <a:r>
              <a:rPr sz="1800" b="1">
                <a:solidFill>
                  <a:srgbClr val="434343"/>
                </a:solidFill>
                <a:latin typeface="Nunito"/>
                <a:ea typeface="Nunito"/>
                <a:cs typeface="Nunito"/>
              </a:rPr>
              <a:t>first &amp; second standard deviation of the mean</a:t>
            </a:r>
            <a:r>
              <a:rPr sz="1800">
                <a:solidFill>
                  <a:srgbClr val="434343"/>
                </a:solidFill>
                <a:latin typeface="Nunito Light"/>
                <a:ea typeface="Nunito Light"/>
                <a:cs typeface="Nunito Light"/>
              </a:rPr>
              <a:t> for the following measures:</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duration</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distance</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passenger counts</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duration-to-distance ratio</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price</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063894449"/>
      </p:ext>
    </p:extLst>
  </p:cSld>
</p:sld>
</file>

<file path=ppt/slides/slide16.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132" name="Google Shape;132;p28">
            <a:extLst xmlns:a="http://schemas.openxmlformats.org/drawingml/2006/main">
              <a:ext uri="{FF2B5EF4-FFF2-40B4-BE49-F238E27FC236}">
                <a16:creationId xmlns:a16="http://schemas.microsoft.com/office/drawing/2014/main" id="{CCBF5475-816E-4704-9495-202AA42B2F4B}"/>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A typical trip is 11 min over 2.1 mi</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33" name="Google Shape;133;p28">
            <a:extLst xmlns:a="http://schemas.openxmlformats.org/drawingml/2006/main">
              <a:ext uri="{FF2B5EF4-FFF2-40B4-BE49-F238E27FC236}">
                <a16:creationId xmlns:a16="http://schemas.microsoft.com/office/drawing/2014/main" id="{DB220A9A-258B-44F6-B764-1F3C11F2EE52}"/>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Operational-quality subset: n = 1,031,441 (98.4% of records)
Duration (min): mean 14.04 | median 11.12 | SD 10.85
  1 SD: 3.19 to 24.89 | 2 SD: -7.67 to 35.71
Distance (mi): mean 3.48 | median 2.13 | SD 3.92
  1 SD: -0.44 to 7.41 | 2 SD: -4.37 to 11.33
Passengers: mean 1.66 | median 1.00 | SD 1.31
  1 SD: 0.35 to 2.98 | 2 SD: -0.96 to 4.29
Minutes/mile: mean 5.39 | median 4.66 | SD 3.33
  1 SD: 2.06 to 8.71 | 2 SD: -1.26 to 12.04
Fare proxy (USD): mean 12.94 | median 9.83 | SD 9.70
  1 SD: 3.24 to 22.65 | 2 SD: -6.46 to 32.35
SD bands are descriptive and may cross impossible values; medians are retained for skewed measures.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213373019"/>
      </p:ext>
    </p:extLst>
  </p:cSld>
</p:sld>
</file>

<file path=ppt/slides/slide17.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138" name="Google Shape;138;p29">
            <a:extLst xmlns:a="http://schemas.openxmlformats.org/drawingml/2006/main">
              <a:ext uri="{FF2B5EF4-FFF2-40B4-BE49-F238E27FC236}">
                <a16:creationId xmlns:a16="http://schemas.microsoft.com/office/drawing/2014/main" id="{1922BB2D-EF62-4C08-B436-159BAAB6544B}"/>
              </a:ext>
            </a:extLst>
          </p:cNvPr>
          <p:cNvSpPr>
            <a:spLocks xmlns:a="http://schemas.openxmlformats.org/drawingml/2006/main" noGrp="1"/>
          </p:cNvSpPr>
          <p:nvPr>
            <p:ph type="ctrTitle" idx="0"/>
          </p:nvPr>
        </p:nvSpPr>
        <p:spPr>
          <a:xfrm xmlns:a="http://schemas.openxmlformats.org/drawingml/2006/main">
            <a:off x="329025" y="1508850"/>
            <a:ext cx="7532700" cy="2125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Flying cars may have to have to be a lower weight for efficiency &amp; take-off. Or you may just decide to leverage mini-copters for your initial MVP.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Create a histogram that visualizes the number of total rides grouped by passenger counts to analyze the potential market volume of low passenger pickups (1-2 passengers).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27407083"/>
      </p:ext>
    </p:extLst>
  </p:cSld>
</p:sld>
</file>

<file path=ppt/slides/slide18.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143" name="Google Shape;143;p30">
            <a:extLst xmlns:a="http://schemas.openxmlformats.org/drawingml/2006/main">
              <a:ext uri="{FF2B5EF4-FFF2-40B4-BE49-F238E27FC236}">
                <a16:creationId xmlns:a16="http://schemas.microsoft.com/office/drawing/2014/main" id="{EE0ABFB4-BDD4-48F1-BD22-725EB14F0411}"/>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1-2 riders represent 85.3% of trips</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44" name="Google Shape;144;p30">
            <a:extLst xmlns:a="http://schemas.openxmlformats.org/drawingml/2006/main">
              <a:ext uri="{FF2B5EF4-FFF2-40B4-BE49-F238E27FC236}">
                <a16:creationId xmlns:a16="http://schemas.microsoft.com/office/drawing/2014/main" id="{C4FFA97B-5E7E-4692-91CF-67BC9DC2798B}"/>
              </a:ext>
            </a:extLst>
          </p:cNvPr>
          <p:cNvSpPr>
            <a:spLocks xmlns:a="http://schemas.openxmlformats.org/drawingml/2006/main" noGrp="1"/>
          </p:cNvSpPr>
          <p:nvPr>
            <p:ph type="ctrTitle" idx="0"/>
          </p:nvPr>
        </p:nvSpPr>
        <p:spPr>
          <a:xfrm xmlns:a="http://schemas.openxmlformats.org/drawingml/2006/main">
            <a:off x="329089" y="4591050"/>
            <a:ext cx="8477250" cy="36195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Full-data analysis; operational-quality subset n = 1,031,441.</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79d372dab7ff41cd"/>
          <a:stretch xmlns:a="http://schemas.openxmlformats.org/drawingml/2006/main"/>
        </p:blipFill>
        <p:spPr>
          <a:xfrm xmlns:a="http://schemas.openxmlformats.org/drawingml/2006/main">
            <a:off x="1495853" y="895350"/>
            <a:ext cx="6152294" cy="3619500"/>
          </a:xfrm>
          <a:prstGeom xmlns:a="http://schemas.openxmlformats.org/drawingml/2006/main" prst="rect">
            <a:avLst/>
          </a:prstGeom>
        </p:spPr>
      </p:pic>
    </p:spTree>
    <p:extLst>
      <p:ext uri="{BB962C8B-B14F-4D97-AF65-F5344CB8AC3E}">
        <p14:creationId xmlns:p14="http://schemas.microsoft.com/office/powerpoint/2010/main" val="1467258324"/>
      </p:ext>
    </p:extLst>
  </p:cSld>
</p:sld>
</file>

<file path=ppt/slides/slide19.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149" name="Google Shape;149;p31">
            <a:extLst xmlns:a="http://schemas.openxmlformats.org/drawingml/2006/main">
              <a:ext uri="{FF2B5EF4-FFF2-40B4-BE49-F238E27FC236}">
                <a16:creationId xmlns:a16="http://schemas.microsoft.com/office/drawing/2014/main" id="{4204792D-8763-48A4-9600-48E7EFC0F529}"/>
              </a:ext>
            </a:extLst>
          </p:cNvPr>
          <p:cNvSpPr>
            <a:spLocks xmlns:a="http://schemas.openxmlformats.org/drawingml/2006/main" noGrp="1"/>
          </p:cNvSpPr>
          <p:nvPr>
            <p:ph type="ctrTitle" idx="0"/>
          </p:nvPr>
        </p:nvSpPr>
        <p:spPr>
          <a:xfrm xmlns:a="http://schemas.openxmlformats.org/drawingml/2006/main">
            <a:off x="319150" y="573450"/>
            <a:ext cx="7532700" cy="3996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1800">
                <a:solidFill>
                  <a:srgbClr val="FFFFFF"/>
                </a:solidFill>
                <a:latin typeface="Nunito Light"/>
                <a:ea typeface="Nunito Light"/>
                <a:cs typeface="Nunito Light"/>
              </a:rPr>
              <a:t>For the initial MVP launch (&amp; most likely GA), we have a finite amount of monetary resources to build Flyber pick-up / drop-off nodes. We</a:t>
            </a:r>
            <a:r>
              <a:rPr sz="1800">
                <a:solidFill>
                  <a:srgbClr val="FFFFFF"/>
                </a:solidFill>
                <a:latin typeface="Nunito Light"/>
                <a:ea typeface="Nunito Light"/>
                <a:cs typeface="Nunito Light"/>
              </a:rPr>
              <a:t>'</a:t>
            </a:r>
            <a:r>
              <a:rPr sz="1800">
                <a:solidFill>
                  <a:srgbClr val="FFFFFF"/>
                </a:solidFill>
                <a:latin typeface="Nunito Light"/>
                <a:ea typeface="Nunito Light"/>
                <a:cs typeface="Nunito Light"/>
              </a:rPr>
              <a:t>ll need to be strategic on where we</a:t>
            </a:r>
            <a:r>
              <a:rPr sz="1800">
                <a:solidFill>
                  <a:srgbClr val="FFFFFF"/>
                </a:solidFill>
                <a:latin typeface="Nunito Light"/>
                <a:ea typeface="Nunito Light"/>
                <a:cs typeface="Nunito Light"/>
              </a:rPr>
              <a:t>'</a:t>
            </a:r>
            <a:r>
              <a:rPr sz="1800">
                <a:solidFill>
                  <a:srgbClr val="FFFFFF"/>
                </a:solidFill>
                <a:latin typeface="Nunito Light"/>
                <a:ea typeface="Nunito Light"/>
                <a:cs typeface="Nunito Light"/>
              </a:rPr>
              <a:t>ll place them: </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Which neighborhoods/zip codes tends to experience a relatively higher density of pick-ups? </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Which neighborhoods/zip codes tends to experience a relatively higher density of drop-offs?</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Which neighborhoods/zip codes tends to have the highest duration-to-distance ratios, based on pick-up?</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Which neighborhoods/zip codes tends to have the highest duration-to-distance ratios, based on drop-off?</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For any of the neighborhoods identified, are there any potential areas within the neighborhood that are optimal for flying taxi pick-up / drop-off? What makes them suitable?</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240670416"/>
      </p:ext>
    </p:extLst>
  </p:cSld>
</p:sld>
</file>

<file path=ppt/slides/slide20.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154" name="Google Shape;154;p32">
            <a:extLst xmlns:a="http://schemas.openxmlformats.org/drawingml/2006/main">
              <a:ext uri="{FF2B5EF4-FFF2-40B4-BE49-F238E27FC236}">
                <a16:creationId xmlns:a16="http://schemas.microsoft.com/office/drawing/2014/main" id="{A888973C-7A03-4D87-9C18-AFF00A06178E}"/>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Midtown concentrates demand and delay</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55" name="Google Shape;155;p32">
            <a:extLst xmlns:a="http://schemas.openxmlformats.org/drawingml/2006/main">
              <a:ext uri="{FF2B5EF4-FFF2-40B4-BE49-F238E27FC236}">
                <a16:creationId xmlns:a16="http://schemas.microsoft.com/office/drawing/2014/main" id="{6AD660C7-A896-47D3-BD00-4ACEEF86C0F2}"/>
              </a:ext>
            </a:extLst>
          </p:cNvPr>
          <p:cNvSpPr>
            <a:spLocks xmlns:a="http://schemas.openxmlformats.org/drawingml/2006/main" noGrp="1"/>
          </p:cNvSpPr>
          <p:nvPr>
            <p:ph type="ctrTitle" idx="0"/>
          </p:nvPr>
        </p:nvSpPr>
        <p:spPr>
          <a:xfrm xmlns:a="http://schemas.openxmlformats.org/drawingml/2006/main">
            <a:off x="329089" y="4591050"/>
            <a:ext cx="8477250" cy="36195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Midtown leads density and delay. </a:t>
            </a:r>
            <a:r>
              <a:rPr sz="1800" u="sng">
                <a:solidFill>
                  <a:srgbClr val="FFFFFF"/>
                </a:solidFill>
                <a:latin typeface="Nunito Light"/>
                <a:ea typeface="Nunito Light"/>
                <a:cs typeface="Nunito Light"/>
                <a:hlinkClick xmlns:r="http://schemas.openxmlformats.org/officeDocument/2006/relationships" r:id="R6739c20437864ea3"/>
              </a:rPr>
              <a:t>Open Tableau Public workbook.</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5050c2f000a84594"/>
          <a:stretch xmlns:a="http://schemas.openxmlformats.org/drawingml/2006/main"/>
        </p:blipFill>
        <p:spPr>
          <a:xfrm xmlns:a="http://schemas.openxmlformats.org/drawingml/2006/main">
            <a:off x="2747928" y="895350"/>
            <a:ext cx="3648145" cy="3619500"/>
          </a:xfrm>
          <a:prstGeom xmlns:a="http://schemas.openxmlformats.org/drawingml/2006/main" prst="rect">
            <a:avLst/>
          </a:prstGeom>
        </p:spPr>
      </p:pic>
    </p:spTree>
    <p:extLst>
      <p:ext uri="{BB962C8B-B14F-4D97-AF65-F5344CB8AC3E}">
        <p14:creationId xmlns:p14="http://schemas.microsoft.com/office/powerpoint/2010/main" val="1109641781"/>
      </p:ext>
    </p:extLst>
  </p:cSld>
</p:sld>
</file>

<file path=ppt/slides/slide21.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160" name="Google Shape;160;p33">
            <a:extLst xmlns:a="http://schemas.openxmlformats.org/drawingml/2006/main">
              <a:ext uri="{FF2B5EF4-FFF2-40B4-BE49-F238E27FC236}">
                <a16:creationId xmlns:a16="http://schemas.microsoft.com/office/drawing/2014/main" id="{0A882B66-24AD-47A6-A107-37A705B7B433}"/>
              </a:ext>
            </a:extLst>
          </p:cNvPr>
          <p:cNvSpPr>
            <a:spLocks xmlns:a="http://schemas.openxmlformats.org/drawingml/2006/main" noGrp="1"/>
          </p:cNvSpPr>
          <p:nvPr>
            <p:ph type="ctrTitle" idx="0"/>
          </p:nvPr>
        </p:nvSpPr>
        <p:spPr>
          <a:xfrm xmlns:a="http://schemas.openxmlformats.org/drawingml/2006/main">
            <a:off x="339025" y="911050"/>
            <a:ext cx="7532700" cy="3219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It may not make operational sense to have the service running 24/7, for now.</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times throughout the day experience relatively higher volumes of ride pick-ups?</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days throughout the week experience relatively higher volumes of ride pick-ups?</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Pinpoint any periods throughout the year that experience trend fluctuation or seasonality around ride pick-up volumes. This will help us in our post-launch analyses to determine if any spikes or dips were influenced by seasonality or through actual feature adoption/regression.</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532452397"/>
      </p:ext>
    </p:extLst>
  </p:cSld>
</p:sld>
</file>

<file path=ppt/slides/slide22.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165" name="Google Shape;165;p34">
            <a:extLst xmlns:a="http://schemas.openxmlformats.org/drawingml/2006/main">
              <a:ext uri="{FF2B5EF4-FFF2-40B4-BE49-F238E27FC236}">
                <a16:creationId xmlns:a16="http://schemas.microsoft.com/office/drawing/2014/main" id="{5B4E48C0-B9ED-4F89-924F-73F3FC503404}"/>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Thu-Sat evenings maximize demand</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66" name="Google Shape;166;p34">
            <a:extLst xmlns:a="http://schemas.openxmlformats.org/drawingml/2006/main">
              <a:ext uri="{FF2B5EF4-FFF2-40B4-BE49-F238E27FC236}">
                <a16:creationId xmlns:a16="http://schemas.microsoft.com/office/drawing/2014/main" id="{B5A8977D-787B-42D9-AC0E-A0B14731FEE3}"/>
              </a:ext>
            </a:extLst>
          </p:cNvPr>
          <p:cNvSpPr>
            <a:spLocks xmlns:a="http://schemas.openxmlformats.org/drawingml/2006/main" noGrp="1"/>
          </p:cNvSpPr>
          <p:nvPr>
            <p:ph type="ctrTitle" idx="0"/>
          </p:nvPr>
        </p:nvSpPr>
        <p:spPr>
          <a:xfrm xmlns:a="http://schemas.openxmlformats.org/drawingml/2006/main">
            <a:off x="329089" y="4591050"/>
            <a:ext cx="8477250" cy="36195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6-7 PM leads hourly volume; Friday, Saturday, and Thursday lead days.</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70" name=""/>
          <p:cNvPicPr>
            <a:picLocks xmlns:a="http://schemas.openxmlformats.org/drawingml/2006/main" noChangeAspect="1"/>
          </p:cNvPicPr>
          <p:nvPr/>
        </p:nvPicPr>
        <p:blipFill>
          <a:blip xmlns:r="http://schemas.openxmlformats.org/officeDocument/2006/relationships" xmlns:a="http://schemas.openxmlformats.org/drawingml/2006/main" r:embed="Rf30b6318361849de"/>
          <a:stretch xmlns:a="http://schemas.openxmlformats.org/drawingml/2006/main"/>
        </p:blipFill>
        <p:spPr>
          <a:xfrm xmlns:a="http://schemas.openxmlformats.org/drawingml/2006/main">
            <a:off x="266700" y="1377474"/>
            <a:ext cx="8610600" cy="2655251"/>
          </a:xfrm>
          <a:prstGeom xmlns:a="http://schemas.openxmlformats.org/drawingml/2006/main" prst="rect">
            <a:avLst/>
          </a:prstGeom>
        </p:spPr>
      </p:pic>
    </p:spTree>
    <p:extLst>
      <p:ext uri="{BB962C8B-B14F-4D97-AF65-F5344CB8AC3E}">
        <p14:creationId xmlns:p14="http://schemas.microsoft.com/office/powerpoint/2010/main" val="467361541"/>
      </p:ext>
    </p:extLst>
  </p:cSld>
</p:sld>
</file>

<file path=ppt/slides/slide23.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171" name="Google Shape;171;p35">
            <a:extLst xmlns:a="http://schemas.openxmlformats.org/drawingml/2006/main">
              <a:ext uri="{FF2B5EF4-FFF2-40B4-BE49-F238E27FC236}">
                <a16:creationId xmlns:a16="http://schemas.microsoft.com/office/drawing/2014/main" id="{4FDA29CE-FAEB-4A9E-A95F-FCD90A3D4E35}"/>
              </a:ext>
            </a:extLst>
          </p:cNvPr>
          <p:cNvSpPr>
            <a:spLocks xmlns:a="http://schemas.openxmlformats.org/drawingml/2006/main" noGrp="1"/>
          </p:cNvSpPr>
          <p:nvPr>
            <p:ph type="ctrTitle" idx="0"/>
          </p:nvPr>
        </p:nvSpPr>
        <p:spPr>
          <a:xfrm xmlns:a="http://schemas.openxmlformats.org/drawingml/2006/main">
            <a:off x="282625" y="913750"/>
            <a:ext cx="7532700" cy="3260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chemeClr val="lt1"/>
                </a:solidFill>
                <a:latin typeface="Nunito Light"/>
                <a:ea typeface="Nunito Light"/>
                <a:cs typeface="Nunito Light"/>
              </a:rPr>
              <a:t>You and the user research team ran a quantitative survey on existing taxi and/or rideshare users in New York City to determine sentiment around potentially using a flying taxi service.</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chemeClr val="lt1"/>
                </a:solidFill>
                <a:latin typeface="Nunito Light"/>
                <a:ea typeface="Nunito Light"/>
                <a:cs typeface="Nunito Light"/>
              </a:rPr>
              <a:t>Dive into the survey results dataset in order to extract insights from explicit feedback.</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chemeClr val="lt1"/>
                </a:solidFill>
                <a:latin typeface="Nunito Light"/>
                <a:ea typeface="Nunito Light"/>
                <a:cs typeface="Nunito Light"/>
              </a:rPr>
              <a:t>Upload </a:t>
            </a:r>
            <a:r>
              <a:rPr sz="1800" u="sng">
                <a:solidFill>
                  <a:srgbClr val="0000FF"/>
                </a:solidFill>
                <a:latin typeface="Nunito Light"/>
                <a:ea typeface="Nunito Light"/>
                <a:cs typeface="Nunito Light"/>
                <a:hlinkClick xmlns:r="http://schemas.openxmlformats.org/officeDocument/2006/relationships" r:id="R8aa5b906feb8408d"/>
              </a:rPr>
              <a:t>this dataset</a:t>
            </a:r>
            <a:r>
              <a:rPr sz="1800">
                <a:solidFill>
                  <a:schemeClr val="lt1"/>
                </a:solidFill>
                <a:latin typeface="Nunito Light"/>
                <a:ea typeface="Nunito Light"/>
                <a:cs typeface="Nunito Light"/>
              </a:rPr>
              <a:t> into Tableau Online or a SQL database (the classroom contains a workspace with the data for you as well).</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394168614"/>
      </p:ext>
    </p:extLst>
  </p:cSld>
</p:sld>
</file>

<file path=ppt/slides/slide24.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176" name="Google Shape;176;p36">
            <a:extLst xmlns:a="http://schemas.openxmlformats.org/drawingml/2006/main">
              <a:ext uri="{FF2B5EF4-FFF2-40B4-BE49-F238E27FC236}">
                <a16:creationId xmlns:a16="http://schemas.microsoft.com/office/drawing/2014/main" id="{864E8A72-A18C-4BB7-8E92-EB9770519469}"/>
              </a:ext>
            </a:extLst>
          </p:cNvPr>
          <p:cNvSpPr>
            <a:spLocks xmlns:a="http://schemas.openxmlformats.org/drawingml/2006/main" noGrp="1"/>
          </p:cNvSpPr>
          <p:nvPr>
            <p:ph type="ctrTitle" idx="0"/>
          </p:nvPr>
        </p:nvSpPr>
        <p:spPr>
          <a:xfrm xmlns:a="http://schemas.openxmlformats.org/drawingml/2006/main">
            <a:off x="329850" y="849900"/>
            <a:ext cx="7532700" cy="3443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chemeClr val="lt1"/>
                </a:solidFill>
                <a:latin typeface="Nunito Light"/>
                <a:ea typeface="Nunito Light"/>
                <a:cs typeface="Nunito Light"/>
              </a:rPr>
              <a:t>Ensure the fields are parsed correctly, field headers are included in the first row of the CSV.</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chemeClr val="lt1"/>
                </a:solidFill>
                <a:latin typeface="Nunito Light"/>
                <a:ea typeface="Nunito Light"/>
                <a:cs typeface="Nunito Light"/>
              </a:rPr>
              <a:t>Question schema:</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Q1 - What is your email?</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Q2 - What gender do you identify as?</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Q3 - What is your age?</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Q4 - What is your annual income? (income bands)</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Q5 - What neighborhood do you reside in?</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Q6 - Do you currently use taxis? (Y/N)</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Q7 - Do you currently use ridesharing services? (Y/N)</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Q8 - Would you use a flying taxi service, if such a concept existed? (Y/N)</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Q9 - If yes to Q8, how much would you be willing to pay per mile for such a service? (USD)</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200">
                <a:solidFill>
                  <a:schemeClr val="lt1"/>
                </a:solidFill>
                <a:latin typeface="Nunito Light"/>
                <a:ea typeface="Nunito Light"/>
                <a:cs typeface="Nunito Light"/>
              </a:rPr>
              <a:t>Q10 - If no to Q8, what is the reason?</a:t>
            </a:r>
            <a:endParaRPr sz="12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529094695"/>
      </p:ext>
    </p:extLst>
  </p:cSld>
</p:sld>
</file>

<file path=ppt/slides/slide25.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181" name="Google Shape;181;p37">
            <a:extLst xmlns:a="http://schemas.openxmlformats.org/drawingml/2006/main">
              <a:ext uri="{FF2B5EF4-FFF2-40B4-BE49-F238E27FC236}">
                <a16:creationId xmlns:a16="http://schemas.microsoft.com/office/drawing/2014/main" id="{7BB9D238-5F1F-4D71-9AA9-40F9F7968D9B}"/>
              </a:ext>
            </a:extLst>
          </p:cNvPr>
          <p:cNvSpPr>
            <a:spLocks xmlns:a="http://schemas.openxmlformats.org/drawingml/2006/main" noGrp="1"/>
          </p:cNvSpPr>
          <p:nvPr>
            <p:ph type="ctrTitle" idx="0"/>
          </p:nvPr>
        </p:nvSpPr>
        <p:spPr>
          <a:xfrm xmlns:a="http://schemas.openxmlformats.org/drawingml/2006/main">
            <a:off x="350100" y="1255050"/>
            <a:ext cx="7532700" cy="263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chemeClr val="lt1"/>
                </a:solidFill>
                <a:latin typeface="Nunito Light"/>
                <a:ea typeface="Nunito Light"/>
                <a:cs typeface="Nunito Light"/>
              </a:rPr>
              <a:t>To inform our future product marketing efforts, we</a:t>
            </a:r>
            <a:r>
              <a:rPr sz="1800">
                <a:solidFill>
                  <a:schemeClr val="lt1"/>
                </a:solidFill>
                <a:latin typeface="Nunito Light"/>
                <a:ea typeface="Nunito Light"/>
                <a:cs typeface="Nunito Light"/>
              </a:rPr>
              <a:t>'</a:t>
            </a:r>
            <a:r>
              <a:rPr sz="1800">
                <a:solidFill>
                  <a:schemeClr val="lt1"/>
                </a:solidFill>
                <a:latin typeface="Nunito Light"/>
                <a:ea typeface="Nunito Light"/>
                <a:cs typeface="Nunito Light"/>
              </a:rPr>
              <a:t>ll want to extract the following:</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Is there an inclination of better Flyber adoption based on gender, age, income level, or neighborhood of residence? </a:t>
            </a:r>
            <a:endParaRPr sz="1800">
              <a:solidFill>
                <a:schemeClr val="lt1"/>
              </a:solidFill>
              <a:latin typeface="Nunito Light"/>
              <a:ea typeface="Nunito Light"/>
              <a:cs typeface="Nunito Light"/>
            </a:endParaRPr>
          </a:p>
          <a:p xmlns:a="http://schemas.openxmlformats.org/drawingml/2006/main">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What is the distribution of potential price per mile based on gender, age, income level, and neighborhood of residence?</a:t>
            </a:r>
            <a:endParaRPr sz="1800">
              <a:solidFill>
                <a:schemeClr val="lt1"/>
              </a:solidFill>
              <a:latin typeface="Nunito Light"/>
              <a:ea typeface="Nunito Light"/>
              <a:cs typeface="Nunito Light"/>
            </a:endParaRPr>
          </a:p>
          <a:p xmlns:a="http://schemas.openxmlformats.org/drawingml/2006/main">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What is the different personas/segments of negative sentiment towards not using a flying taxi car service?</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br/>
            <a:r>
              <a:rPr sz="1800">
                <a:solidFill>
                  <a:srgbClr val="FFFFFF"/>
                </a:solidFill>
                <a:latin typeface="Nunito Light"/>
                <a:ea typeface="Nunito Light"/>
                <a:cs typeface="Nunito Light"/>
              </a:rPr>
              <a:t>Please support your answers with clear, relevant visualizations.</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586443605"/>
      </p:ext>
    </p:extLst>
  </p:cSld>
</p:sld>
</file>

<file path=ppt/slides/slide26.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186" name="Google Shape;186;p38">
            <a:extLst xmlns:a="http://schemas.openxmlformats.org/drawingml/2006/main">
              <a:ext uri="{FF2B5EF4-FFF2-40B4-BE49-F238E27FC236}">
                <a16:creationId xmlns:a16="http://schemas.microsoft.com/office/drawing/2014/main" id="{BA89EE53-0EA6-41D3-BBED-4A31058BDBC8}"/>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Transport use barely changes interest</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87" name="Google Shape;187;p38">
            <a:extLst xmlns:a="http://schemas.openxmlformats.org/drawingml/2006/main">
              <a:ext uri="{FF2B5EF4-FFF2-40B4-BE49-F238E27FC236}">
                <a16:creationId xmlns:a16="http://schemas.microsoft.com/office/drawing/2014/main" id="{5A5EE1FD-3A51-4B3D-9021-756569907A56}"/>
              </a:ext>
            </a:extLst>
          </p:cNvPr>
          <p:cNvSpPr>
            <a:spLocks xmlns:a="http://schemas.openxmlformats.org/drawingml/2006/main" noGrp="1"/>
          </p:cNvSpPr>
          <p:nvPr>
            <p:ph type="ctrTitle" idx="0"/>
          </p:nvPr>
        </p:nvSpPr>
        <p:spPr>
          <a:xfrm xmlns:a="http://schemas.openxmlformats.org/drawingml/2006/main">
            <a:off x="329089" y="4591050"/>
            <a:ext cx="8477250" cy="36195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Taxi: 79.8% vs 81.7%; rideshare: 80.0% vs 80.4%. Neighborhoods: n &gt;= 10.</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91" name=""/>
          <p:cNvPicPr>
            <a:picLocks xmlns:a="http://schemas.openxmlformats.org/drawingml/2006/main" noChangeAspect="1"/>
          </p:cNvPicPr>
          <p:nvPr/>
        </p:nvPicPr>
        <p:blipFill>
          <a:blip xmlns:r="http://schemas.openxmlformats.org/officeDocument/2006/relationships" xmlns:a="http://schemas.openxmlformats.org/drawingml/2006/main" r:embed="R684d47893e9e43a3"/>
          <a:stretch xmlns:a="http://schemas.openxmlformats.org/drawingml/2006/main"/>
        </p:blipFill>
        <p:spPr>
          <a:xfrm xmlns:a="http://schemas.openxmlformats.org/drawingml/2006/main">
            <a:off x="1231498" y="895350"/>
            <a:ext cx="6681004" cy="3619500"/>
          </a:xfrm>
          <a:prstGeom xmlns:a="http://schemas.openxmlformats.org/drawingml/2006/main" prst="rect">
            <a:avLst/>
          </a:prstGeom>
        </p:spPr>
      </p:pic>
    </p:spTree>
    <p:extLst>
      <p:ext uri="{BB962C8B-B14F-4D97-AF65-F5344CB8AC3E}">
        <p14:creationId xmlns:p14="http://schemas.microsoft.com/office/powerpoint/2010/main" val="1215096930"/>
      </p:ext>
    </p:extLst>
  </p:cSld>
</p:sld>
</file>

<file path=ppt/slides/slide27.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186" name="Google Shape;186;p38">
            <a:extLst xmlns:a="http://schemas.openxmlformats.org/drawingml/2006/main">
              <a:ext uri="{FF2B5EF4-FFF2-40B4-BE49-F238E27FC236}">
                <a16:creationId xmlns:a16="http://schemas.microsoft.com/office/drawing/2014/main" id="{BA89EE53-0EA6-41D3-BBED-4A31058BDBC8}"/>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Income predicts willingness to pay</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87" name="Google Shape;187;p38">
            <a:extLst xmlns:a="http://schemas.openxmlformats.org/drawingml/2006/main">
              <a:ext uri="{FF2B5EF4-FFF2-40B4-BE49-F238E27FC236}">
                <a16:creationId xmlns:a16="http://schemas.microsoft.com/office/drawing/2014/main" id="{5A5EE1FD-3A51-4B3D-9021-756569907A56}"/>
              </a:ext>
            </a:extLst>
          </p:cNvPr>
          <p:cNvSpPr>
            <a:spLocks xmlns:a="http://schemas.openxmlformats.org/drawingml/2006/main" noGrp="1"/>
          </p:cNvSpPr>
          <p:nvPr>
            <p:ph type="ctrTitle" idx="0"/>
          </p:nvPr>
        </p:nvSpPr>
        <p:spPr>
          <a:xfrm xmlns:a="http://schemas.openxmlformats.org/drawingml/2006/main">
            <a:off x="329089" y="4591050"/>
            <a:ext cx="8477250" cy="36195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$23/mile overall; income leads differences; neighborhoods use n &gt;= 10.</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91" name=""/>
          <p:cNvPicPr>
            <a:picLocks xmlns:a="http://schemas.openxmlformats.org/drawingml/2006/main" noChangeAspect="1"/>
          </p:cNvPicPr>
          <p:nvPr/>
        </p:nvPicPr>
        <p:blipFill>
          <a:blip xmlns:r="http://schemas.openxmlformats.org/officeDocument/2006/relationships" xmlns:a="http://schemas.openxmlformats.org/drawingml/2006/main" r:embed="Reffd4df9f08d4b3e"/>
          <a:stretch xmlns:a="http://schemas.openxmlformats.org/drawingml/2006/main"/>
        </p:blipFill>
        <p:spPr>
          <a:xfrm xmlns:a="http://schemas.openxmlformats.org/drawingml/2006/main">
            <a:off x="1224025" y="895350"/>
            <a:ext cx="6695950" cy="3619500"/>
          </a:xfrm>
          <a:prstGeom xmlns:a="http://schemas.openxmlformats.org/drawingml/2006/main" prst="rect">
            <a:avLst/>
          </a:prstGeom>
        </p:spPr>
      </p:pic>
    </p:spTree>
    <p:extLst>
      <p:ext uri="{BB962C8B-B14F-4D97-AF65-F5344CB8AC3E}">
        <p14:creationId xmlns:p14="http://schemas.microsoft.com/office/powerpoint/2010/main" val="1215096930"/>
      </p:ext>
    </p:extLst>
  </p:cSld>
</p:sld>
</file>

<file path=ppt/slides/slide28.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186" name="Google Shape;186;p38">
            <a:extLst xmlns:a="http://schemas.openxmlformats.org/drawingml/2006/main">
              <a:ext uri="{FF2B5EF4-FFF2-40B4-BE49-F238E27FC236}">
                <a16:creationId xmlns:a16="http://schemas.microsoft.com/office/drawing/2014/main" id="{BA89EE53-0EA6-41D3-BBED-4A31058BDBC8}"/>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Safety drives 57.6% of objections</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87" name="Google Shape;187;p38">
            <a:extLst xmlns:a="http://schemas.openxmlformats.org/drawingml/2006/main">
              <a:ext uri="{FF2B5EF4-FFF2-40B4-BE49-F238E27FC236}">
                <a16:creationId xmlns:a16="http://schemas.microsoft.com/office/drawing/2014/main" id="{5A5EE1FD-3A51-4B3D-9021-756569907A56}"/>
              </a:ext>
            </a:extLst>
          </p:cNvPr>
          <p:cNvSpPr>
            <a:spLocks xmlns:a="http://schemas.openxmlformats.org/drawingml/2006/main" noGrp="1"/>
          </p:cNvSpPr>
          <p:nvPr>
            <p:ph type="ctrTitle" idx="0"/>
          </p:nvPr>
        </p:nvSpPr>
        <p:spPr>
          <a:xfrm xmlns:a="http://schemas.openxmlformats.org/drawingml/2006/main">
            <a:off x="329089" y="4591050"/>
            <a:ext cx="8477250" cy="36195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Negative-response segmentation: n = 99; safety and pilot trust lead.</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91" name=""/>
          <p:cNvPicPr>
            <a:picLocks xmlns:a="http://schemas.openxmlformats.org/drawingml/2006/main" noChangeAspect="1"/>
          </p:cNvPicPr>
          <p:nvPr/>
        </p:nvPicPr>
        <p:blipFill>
          <a:blip xmlns:r="http://schemas.openxmlformats.org/officeDocument/2006/relationships" xmlns:a="http://schemas.openxmlformats.org/drawingml/2006/main" r:embed="R3bb15de6ba2f4673"/>
          <a:stretch xmlns:a="http://schemas.openxmlformats.org/drawingml/2006/main"/>
        </p:blipFill>
        <p:spPr>
          <a:xfrm xmlns:a="http://schemas.openxmlformats.org/drawingml/2006/main">
            <a:off x="1181393" y="895350"/>
            <a:ext cx="6781215" cy="3619500"/>
          </a:xfrm>
          <a:prstGeom xmlns:a="http://schemas.openxmlformats.org/drawingml/2006/main" prst="rect">
            <a:avLst/>
          </a:prstGeom>
        </p:spPr>
      </p:pic>
    </p:spTree>
    <p:extLst>
      <p:ext uri="{BB962C8B-B14F-4D97-AF65-F5344CB8AC3E}">
        <p14:creationId xmlns:p14="http://schemas.microsoft.com/office/powerpoint/2010/main" val="1215096930"/>
      </p:ext>
    </p:extLst>
  </p:cSld>
</p:sld>
</file>

<file path=ppt/slides/slide29.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192" name="Google Shape;192;p39">
            <a:extLst xmlns:a="http://schemas.openxmlformats.org/drawingml/2006/main">
              <a:ext uri="{FF2B5EF4-FFF2-40B4-BE49-F238E27FC236}">
                <a16:creationId xmlns:a16="http://schemas.microsoft.com/office/drawing/2014/main" id="{E384A522-85AB-4148-9DFE-5D28DF54697F}"/>
              </a:ext>
            </a:extLst>
          </p:cNvPr>
          <p:cNvSpPr>
            <a:spLocks xmlns:a="http://schemas.openxmlformats.org/drawingml/2006/main" noGrp="1"/>
          </p:cNvSpPr>
          <p:nvPr>
            <p:ph type="ctrTitle" idx="0"/>
          </p:nvPr>
        </p:nvSpPr>
        <p:spPr>
          <a:xfrm xmlns:a="http://schemas.openxmlformats.org/drawingml/2006/main">
            <a:off x="311700" y="2253150"/>
            <a:ext cx="8520600" cy="637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3600">
                <a:solidFill>
                  <a:srgbClr val="434343"/>
                </a:solidFill>
                <a:latin typeface="Nunito Light"/>
                <a:ea typeface="Nunito Light"/>
                <a:cs typeface="Nunito Light"/>
              </a:rPr>
              <a:t>Hooray! End of Section 1.</a:t>
            </a:r>
            <a:endParaRPr sz="3600">
              <a:solidFill>
                <a:srgbClr val="434343"/>
              </a:solidFill>
              <a:latin typeface="Nunito Light"/>
              <a:ea typeface="Nunito Light"/>
              <a:cs typeface="Nunito Light"/>
            </a:endParaRPr>
          </a:p>
        </p:txBody>
      </p:sp>
    </p:spTree>
    <p:extLst>
      <p:ext uri="{BB962C8B-B14F-4D97-AF65-F5344CB8AC3E}">
        <p14:creationId xmlns:p14="http://schemas.microsoft.com/office/powerpoint/2010/main" val="466113250"/>
      </p:ext>
    </p:extLst>
  </p:cSld>
</p:sld>
</file>

<file path=ppt/slides/slide30.xml><?xml version="1.0" encoding="utf-8"?>
<p:sld xmlns:p="http://schemas.openxmlformats.org/presentationml/2006/main">
  <p:cSld>
    <p:bg>
      <p:bgPr>
        <a:solidFill xmlns:a="http://schemas.openxmlformats.org/drawingml/2006/main">
          <a:srgbClr val="F6CD61"/>
        </a:solidFill>
      </p:bgPr>
    </p:bg>
    <p:spTree>
      <p:nvGrpSpPr>
        <p:cNvPr id="1" name=""/>
        <p:cNvGrpSpPr/>
        <p:nvPr/>
      </p:nvGrpSpPr>
      <p:grpSpPr>
        <a:xfrm xmlns:a="http://schemas.openxmlformats.org/drawingml/2006/main"/>
      </p:grpSpPr>
      <p:sp>
        <p:nvSpPr>
          <p:cNvPr id="197" name="Google Shape;197;p40">
            <a:extLst xmlns:a="http://schemas.openxmlformats.org/drawingml/2006/main">
              <a:ext uri="{FF2B5EF4-FFF2-40B4-BE49-F238E27FC236}">
                <a16:creationId xmlns:a16="http://schemas.microsoft.com/office/drawing/2014/main" id="{48487B13-21D4-4AFC-81D1-E1AEB4DD4584}"/>
              </a:ext>
            </a:extLst>
          </p:cNvPr>
          <p:cNvSpPr>
            <a:spLocks xmlns:a="http://schemas.openxmlformats.org/drawingml/2006/main" noGrp="1"/>
          </p:cNvSpPr>
          <p:nvPr>
            <p:ph type="ctrTitle" idx="0"/>
          </p:nvPr>
        </p:nvSpPr>
        <p:spPr>
          <a:xfrm xmlns:a="http://schemas.openxmlformats.org/drawingml/2006/main">
            <a:off x="311700" y="2042250"/>
            <a:ext cx="8520600" cy="1059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You will complete Section 2 at the end of this course.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Please submit this file for review for Section 1.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183036713"/>
      </p:ext>
    </p:extLst>
  </p:cSld>
</p:sld>
</file>

<file path=ppt/slides/slide31.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202" name="Google Shape;202;p41">
            <a:extLst xmlns:a="http://schemas.openxmlformats.org/drawingml/2006/main">
              <a:ext uri="{FF2B5EF4-FFF2-40B4-BE49-F238E27FC236}">
                <a16:creationId xmlns:a16="http://schemas.microsoft.com/office/drawing/2014/main" id="{768BAF14-BD60-4E18-B53D-ECB4ECA4FED2}"/>
              </a:ext>
            </a:extLst>
          </p:cNvPr>
          <p:cNvSpPr>
            <a:spLocks xmlns:a="http://schemas.openxmlformats.org/drawingml/2006/main" noGrp="1"/>
          </p:cNvSpPr>
          <p:nvPr>
            <p:ph type="ctrTitle" idx="0"/>
          </p:nvPr>
        </p:nvSpPr>
        <p:spPr>
          <a:xfrm xmlns:a="http://schemas.openxmlformats.org/drawingml/2006/main">
            <a:off x="311700" y="2253150"/>
            <a:ext cx="8520600" cy="637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FFFFFF"/>
                </a:solidFill>
                <a:latin typeface="Nunito Light"/>
                <a:ea typeface="Nunito Light"/>
                <a:cs typeface="Nunito Light"/>
              </a:rPr>
              <a:t>Section 2: Proposal Synthesis</a:t>
            </a:r>
            <a:endParaRPr sz="36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582555653"/>
      </p:ext>
    </p:extLst>
  </p:cSld>
</p:sld>
</file>

<file path=ppt/slides/slide32.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207" name="Google Shape;207;p42">
            <a:extLst xmlns:a="http://schemas.openxmlformats.org/drawingml/2006/main">
              <a:ext uri="{FF2B5EF4-FFF2-40B4-BE49-F238E27FC236}">
                <a16:creationId xmlns:a16="http://schemas.microsoft.com/office/drawing/2014/main" id="{40EC0E2B-35B0-469D-B8D3-C951AA0419BA}"/>
              </a:ext>
            </a:extLst>
          </p:cNvPr>
          <p:cNvSpPr>
            <a:spLocks xmlns:a="http://schemas.openxmlformats.org/drawingml/2006/main" noGrp="1"/>
          </p:cNvSpPr>
          <p:nvPr>
            <p:ph type="ctrTitle" idx="0"/>
          </p:nvPr>
        </p:nvSpPr>
        <p:spPr>
          <a:xfrm xmlns:a="http://schemas.openxmlformats.org/drawingml/2006/main">
            <a:off x="348900" y="965100"/>
            <a:ext cx="7532700" cy="3213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chemeClr val="lt1"/>
                </a:solidFill>
                <a:latin typeface="Nunito Light"/>
                <a:ea typeface="Nunito Light"/>
                <a:cs typeface="Nunito Light"/>
              </a:rPr>
              <a:t>Identify a product objective for Flyber's launch. Your product objective will guide your KPIs, so identify what Flyber should optimize for. Your objective should be centered around one the following focus areas: </a:t>
            </a:r>
            <a:endParaRPr sz="1800">
              <a:solidFill>
                <a:schemeClr val="lt1"/>
              </a:solidFill>
              <a:latin typeface="Nunito Light"/>
              <a:ea typeface="Nunito Light"/>
              <a:cs typeface="Nunito Light"/>
            </a:endParaRPr>
          </a:p>
          <a:p xmlns:a="http://schemas.openxmlformats.org/drawingml/2006/main">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User Acquisition</a:t>
            </a:r>
            <a:endParaRPr sz="1800">
              <a:solidFill>
                <a:schemeClr val="lt1"/>
              </a:solidFill>
              <a:latin typeface="Nunito Light"/>
              <a:ea typeface="Nunito Light"/>
              <a:cs typeface="Nunito Light"/>
            </a:endParaRPr>
          </a:p>
          <a:p xmlns:a="http://schemas.openxmlformats.org/drawingml/2006/main">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User Engagement </a:t>
            </a:r>
            <a:endParaRPr sz="1800">
              <a:solidFill>
                <a:schemeClr val="lt1"/>
              </a:solidFill>
              <a:latin typeface="Nunito Light"/>
              <a:ea typeface="Nunito Light"/>
              <a:cs typeface="Nunito Light"/>
            </a:endParaRPr>
          </a:p>
          <a:p xmlns:a="http://schemas.openxmlformats.org/drawingml/2006/main">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User Retention </a:t>
            </a:r>
            <a:endParaRPr sz="1800">
              <a:solidFill>
                <a:schemeClr val="lt1"/>
              </a:solidFill>
              <a:latin typeface="Nunito Light"/>
              <a:ea typeface="Nunito Light"/>
              <a:cs typeface="Nunito Light"/>
            </a:endParaRPr>
          </a:p>
          <a:p xmlns:a="http://schemas.openxmlformats.org/drawingml/2006/main">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Profitability</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r>
              <a:rPr sz="1800">
                <a:solidFill>
                  <a:schemeClr val="lt1"/>
                </a:solidFill>
                <a:latin typeface="Nunito Light"/>
                <a:ea typeface="Nunito Light"/>
                <a:cs typeface="Nunito Light"/>
              </a:rPr>
              <a:t>Explain your reasoning. Include both why you feel your focus area is more relevant than the others for Flyber at this time of the product development cycle.</a:t>
            </a: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801641702"/>
      </p:ext>
    </p:extLst>
  </p:cSld>
</p:sld>
</file>

<file path=ppt/slides/slide33.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212" name="Google Shape;212;p43">
            <a:extLst xmlns:a="http://schemas.openxmlformats.org/drawingml/2006/main">
              <a:ext uri="{FF2B5EF4-FFF2-40B4-BE49-F238E27FC236}">
                <a16:creationId xmlns:a16="http://schemas.microsoft.com/office/drawing/2014/main" id="{24C1EC7B-627A-4E3E-9C1C-B3DB778BD678}"/>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Objective: acquire qualified riders</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13" name="Google Shape;213;p43">
            <a:extLst xmlns:a="http://schemas.openxmlformats.org/drawingml/2006/main">
              <a:ext uri="{FF2B5EF4-FFF2-40B4-BE49-F238E27FC236}">
                <a16:creationId xmlns:a16="http://schemas.microsoft.com/office/drawing/2014/main" id="{E5AAC427-C586-48FF-820A-42D8D53E2627}"/>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Optimize USER ACQUISITION for time-sensitive one- and two-person trips in the four-node Manhattan/airport catchment.
WHY NOW: Flyber has no installed base. Test whether 80.2% stated interest becomes completed paid rides at feasible nodes, times, and prices.
ENGAGEMENT is premature before a repeatable first-use funnel; measure it diagnostically.
RETENTION requires an activated cohort; track 30-day repeat as a secondary metric.
PROFITABILITY follows demand and safety validation; measure cost now, but defer scale optimization.</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846512565"/>
      </p:ext>
    </p:extLst>
  </p:cSld>
</p:sld>
</file>

<file path=ppt/slides/slide34.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18" name="Google Shape;218;p44">
            <a:extLst xmlns:a="http://schemas.openxmlformats.org/drawingml/2006/main">
              <a:ext uri="{FF2B5EF4-FFF2-40B4-BE49-F238E27FC236}">
                <a16:creationId xmlns:a16="http://schemas.microsoft.com/office/drawing/2014/main" id="{372A610B-3724-4276-BD25-F03434C3BA8A}"/>
              </a:ext>
            </a:extLst>
          </p:cNvPr>
          <p:cNvSpPr>
            <a:spLocks xmlns:a="http://schemas.openxmlformats.org/drawingml/2006/main" noGrp="1"/>
          </p:cNvSpPr>
          <p:nvPr>
            <p:ph type="ctrTitle" idx="0"/>
          </p:nvPr>
        </p:nvSpPr>
        <p:spPr>
          <a:xfrm xmlns:a="http://schemas.openxmlformats.org/drawingml/2006/main">
            <a:off x="348925" y="2298625"/>
            <a:ext cx="7532700" cy="680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Formulate 3-5 Key Performance Indicators (KPIs), to measure if the product is heading towards the right direction based on your objective</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996214758"/>
      </p:ext>
    </p:extLst>
  </p:cSld>
</p:sld>
</file>

<file path=ppt/slides/slide35.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23" name="Google Shape;223;p45">
            <a:extLst xmlns:a="http://schemas.openxmlformats.org/drawingml/2006/main">
              <a:ext uri="{FF2B5EF4-FFF2-40B4-BE49-F238E27FC236}">
                <a16:creationId xmlns:a16="http://schemas.microsoft.com/office/drawing/2014/main" id="{5F4450E5-C9B9-4EB7-A6E7-AE1CC0886281}"/>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Four KPIs connect acquisition to trust</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24" name="Google Shape;224;p45">
            <a:extLst xmlns:a="http://schemas.openxmlformats.org/drawingml/2006/main">
              <a:ext uri="{FF2B5EF4-FFF2-40B4-BE49-F238E27FC236}">
                <a16:creationId xmlns:a16="http://schemas.microsoft.com/office/drawing/2014/main" id="{A0B74988-8258-4222-9FDF-A4F626321A81}"/>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1. FIRST-RIDE CONVERSION = unique riders with trip_completed(first_ride=true) / unique eligible riders offered service.
2. ACTIVATED RIDERS = count distinct rider_id with a first trip_completed event, reported per week and cumulatively.
3. FIXED-PRICE BOOKING RATE = booking_confirmed / quote_shown where quoted_price = $20/mile and minimum = $60.
4. COMPLETION RATE = trip_completed / booking_confirmed; serious incidents = count distinct incident_id at severity &gt;= serious.
Diagnostics: CAC = acquisition spend / activated riders; 30-day repeat = activated riders with another trip_completed within 30 days / eligible activated riders.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577514100"/>
      </p:ext>
    </p:extLst>
  </p:cSld>
</p:sld>
</file>

<file path=ppt/slides/slide36.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29" name="Google Shape;229;p46">
            <a:extLst xmlns:a="http://schemas.openxmlformats.org/drawingml/2006/main">
              <a:ext uri="{FF2B5EF4-FFF2-40B4-BE49-F238E27FC236}">
                <a16:creationId xmlns:a16="http://schemas.microsoft.com/office/drawing/2014/main" id="{956A9350-A19C-4970-ACDE-D3FC98D6E98F}"/>
              </a:ext>
            </a:extLst>
          </p:cNvPr>
          <p:cNvSpPr>
            <a:spLocks xmlns:a="http://schemas.openxmlformats.org/drawingml/2006/main" noGrp="1"/>
          </p:cNvSpPr>
          <p:nvPr>
            <p:ph type="ctrTitle" idx="0"/>
          </p:nvPr>
        </p:nvSpPr>
        <p:spPr>
          <a:xfrm xmlns:a="http://schemas.openxmlformats.org/drawingml/2006/main">
            <a:off x="348925" y="2298625"/>
            <a:ext cx="7532700" cy="680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Create hypotheses around what thresholds your KPIs would need to hit in order to determine success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449125020"/>
      </p:ext>
    </p:extLst>
  </p:cSld>
</p:sld>
</file>

<file path=ppt/slides/slide37.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34" name="Google Shape;234;p47">
            <a:extLst xmlns:a="http://schemas.openxmlformats.org/drawingml/2006/main">
              <a:ext uri="{FF2B5EF4-FFF2-40B4-BE49-F238E27FC236}">
                <a16:creationId xmlns:a16="http://schemas.microsoft.com/office/drawing/2014/main" id="{1084C37A-F13E-4B08-A509-FF40F54DF04E}"/>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Growth must pass a safety gate</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35" name="Google Shape;235;p47">
            <a:extLst xmlns:a="http://schemas.openxmlformats.org/drawingml/2006/main">
              <a:ext uri="{FF2B5EF4-FFF2-40B4-BE49-F238E27FC236}">
                <a16:creationId xmlns:a16="http://schemas.microsoft.com/office/drawing/2014/main" id="{BA231989-9838-4278-B4EB-72C3E501FF90}"/>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H1: first-ride conversion &gt;= 25%. This realizes 31.2% of the survey's 80.2% stated interest and remains deliberately conservative.
H2: 500 activations in 12 weeks = 2,000 prospects x 25% conversion.
H3: fixed-price booking rate &gt;= 50%. The $20/mile offer is below the $23/mile median among willing respondents.
GATE: completion &gt;= 95% and zero serious incidents. Zero observed incidents is a stop/go guardrail, not proof of safety.
LEARN: report CAC and 30-day repeat, but do not claim unsupported pre-launch baselines for either measure.</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038849546"/>
      </p:ext>
    </p:extLst>
  </p:cSld>
</p:sld>
</file>

<file path=ppt/slides/slide38.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40" name="Google Shape;240;p48">
            <a:extLst xmlns:a="http://schemas.openxmlformats.org/drawingml/2006/main">
              <a:ext uri="{FF2B5EF4-FFF2-40B4-BE49-F238E27FC236}">
                <a16:creationId xmlns:a16="http://schemas.microsoft.com/office/drawing/2014/main" id="{039EA600-1A27-44B7-B9CF-D779E1A94AC4}"/>
              </a:ext>
            </a:extLst>
          </p:cNvPr>
          <p:cNvSpPr>
            <a:spLocks xmlns:a="http://schemas.openxmlformats.org/drawingml/2006/main" noGrp="1"/>
          </p:cNvSpPr>
          <p:nvPr>
            <p:ph type="ctrTitle" idx="0"/>
          </p:nvPr>
        </p:nvSpPr>
        <p:spPr>
          <a:xfrm xmlns:a="http://schemas.openxmlformats.org/drawingml/2006/main">
            <a:off x="361850" y="1399500"/>
            <a:ext cx="7532700" cy="23445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As the product manager, you make decisions based on the insights you extract, we</a:t>
            </a:r>
            <a:r>
              <a:rPr sz="1800">
                <a:solidFill>
                  <a:srgbClr val="434343"/>
                </a:solidFill>
                <a:latin typeface="Nunito Light"/>
                <a:ea typeface="Nunito Light"/>
                <a:cs typeface="Nunito Light"/>
              </a:rPr>
              <a:t>'</a:t>
            </a:r>
            <a:r>
              <a:rPr sz="1800">
                <a:solidFill>
                  <a:srgbClr val="434343"/>
                </a:solidFill>
                <a:latin typeface="Nunito Light"/>
                <a:ea typeface="Nunito Light"/>
                <a:cs typeface="Nunito Light"/>
              </a:rPr>
              <a:t>ll need to know the feature set we</a:t>
            </a:r>
            <a:r>
              <a:rPr sz="1800">
                <a:solidFill>
                  <a:srgbClr val="434343"/>
                </a:solidFill>
                <a:latin typeface="Nunito Light"/>
                <a:ea typeface="Nunito Light"/>
                <a:cs typeface="Nunito Light"/>
              </a:rPr>
              <a:t>'</a:t>
            </a:r>
            <a:r>
              <a:rPr sz="1800">
                <a:solidFill>
                  <a:srgbClr val="434343"/>
                </a:solidFill>
                <a:latin typeface="Nunito Light"/>
                <a:ea typeface="Nunito Light"/>
                <a:cs typeface="Nunito Light"/>
              </a:rPr>
              <a:t>ll include in the MVP to measure viability, while keeping operational expenditure under control:</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times/days of operation should the service run for?</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How many pick-up / drop-off nodes should we have?</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Where should the nodes be located?</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Should we initially use copters or homegrown hardware?</a:t>
            </a:r>
            <a:endParaRPr sz="1800">
              <a:solidFill>
                <a:srgbClr val="434343"/>
              </a:solidFill>
              <a:latin typeface="Nunito Light"/>
              <a:ea typeface="Nunito Light"/>
              <a:cs typeface="Nunito Light"/>
            </a:endParaRPr>
          </a:p>
          <a:p xmlns:a="http://schemas.openxmlformats.org/drawingml/2006/main">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Should the pricing be fixed or dynamic? At what rates?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2084732853"/>
      </p:ext>
    </p:extLst>
  </p:cSld>
</p:sld>
</file>

<file path=ppt/slides/slide39.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45" name="Google Shape;245;p49">
            <a:extLst xmlns:a="http://schemas.openxmlformats.org/drawingml/2006/main">
              <a:ext uri="{FF2B5EF4-FFF2-40B4-BE49-F238E27FC236}">
                <a16:creationId xmlns:a16="http://schemas.microsoft.com/office/drawing/2014/main" id="{5C343BC9-4798-4BCF-88A9-C269F6BB4F67}"/>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A four-node, fixed-price MVP limits risk</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46" name="Google Shape;246;p49">
            <a:extLst xmlns:a="http://schemas.openxmlformats.org/drawingml/2006/main">
              <a:ext uri="{FF2B5EF4-FFF2-40B4-BE49-F238E27FC236}">
                <a16:creationId xmlns:a16="http://schemas.microsoft.com/office/drawing/2014/main" id="{1FDE70C9-27CC-464A-A73C-66CF9AF8671F}"/>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WHEN: Thursday-Saturday, 5-11 PM; demand peaks at 6-7 PM and stays high through 10 PM.
NODES: East 34th Street, West 30th Street, Downtown/Pier 6, and LaGuardia connect key Manhattan demand to airport access.
AIRCRAFT: use contracted, certified copters and operators; defer homegrown hardware so the MVP tests demand rather than aircraft development.
PRICING: fixed $20/mile with a $60 minimum and no surge; defer dynamic pricing. The rate is below the $23/mile median among willing respondents.
GATES: permits, weather, airspace, noise, accessibility, insurance, community acceptance, and unit economics.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895801185"/>
      </p:ext>
    </p:extLst>
  </p:cSld>
</p:sld>
</file>

<file path=ppt/slides/slide40.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51" name="Google Shape;251;p50">
            <a:extLst xmlns:a="http://schemas.openxmlformats.org/drawingml/2006/main">
              <a:ext uri="{FF2B5EF4-FFF2-40B4-BE49-F238E27FC236}">
                <a16:creationId xmlns:a16="http://schemas.microsoft.com/office/drawing/2014/main" id="{9538A20F-926C-4DD7-A84C-4FF525747F8B}"/>
              </a:ext>
            </a:extLst>
          </p:cNvPr>
          <p:cNvSpPr>
            <a:spLocks xmlns:a="http://schemas.openxmlformats.org/drawingml/2006/main" noGrp="1"/>
          </p:cNvSpPr>
          <p:nvPr>
            <p:ph type="ctrTitle" idx="0"/>
          </p:nvPr>
        </p:nvSpPr>
        <p:spPr>
          <a:xfrm xmlns:a="http://schemas.openxmlformats.org/drawingml/2006/main">
            <a:off x="348925" y="2298625"/>
            <a:ext cx="7532700" cy="680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Determine the MVP sample size &amp; time period allotted estimated to come to a conclusion on your hypotheses. </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408631229"/>
      </p:ext>
    </p:extLst>
  </p:cSld>
</p:sld>
</file>

<file path=ppt/slides/slide41.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56" name="Google Shape;256;p51">
            <a:extLst xmlns:a="http://schemas.openxmlformats.org/drawingml/2006/main">
              <a:ext uri="{FF2B5EF4-FFF2-40B4-BE49-F238E27FC236}">
                <a16:creationId xmlns:a16="http://schemas.microsoft.com/office/drawing/2014/main" id="{9809A771-95C7-4366-B6A0-1944685C07EE}"/>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Power and capacity support 12 weeks</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57" name="Google Shape;257;p51">
            <a:extLst xmlns:a="http://schemas.openxmlformats.org/drawingml/2006/main">
              <a:ext uri="{FF2B5EF4-FFF2-40B4-BE49-F238E27FC236}">
                <a16:creationId xmlns:a16="http://schemas.microsoft.com/office/drawing/2014/main" id="{EDEB3E8C-DEE1-4B60-80F7-7C7D56A3CA4A}"/>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POWER: Optimizely inputs are 20% baseline, 25% relative MDE (20% to 25%), and 95% significance.
RESULT: 670 prospects per variation, or 1,340 total. Recruit 2,000 (1,000 each) to exceed the minimum and preserve node/day strata.
CAPACITY: 28 completed rides per operating day; reserve half for first rides = 14 activations/day, three days/week.
DURATION: 500 target activations / (14 per day x 3 days/week) = 11.9 weeks; round to 12. This yields about 1,000 total rides.
DECISION: review safety weekly; evaluate at weeks 4, 8, and 12; preserve 30-day follow-up for early cohorts.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62772033"/>
      </p:ext>
    </p:extLst>
  </p:cSld>
</p:sld>
</file>

<file path=ppt/slides/slide42.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62" name="Google Shape;262;p52">
            <a:extLst xmlns:a="http://schemas.openxmlformats.org/drawingml/2006/main">
              <a:ext uri="{FF2B5EF4-FFF2-40B4-BE49-F238E27FC236}">
                <a16:creationId xmlns:a16="http://schemas.microsoft.com/office/drawing/2014/main" id="{F774C6BA-EB2A-4A70-8C26-B130C4E52075}"/>
              </a:ext>
            </a:extLst>
          </p:cNvPr>
          <p:cNvSpPr>
            <a:spLocks xmlns:a="http://schemas.openxmlformats.org/drawingml/2006/main" noGrp="1"/>
          </p:cNvSpPr>
          <p:nvPr>
            <p:ph type="ctrTitle" idx="0"/>
          </p:nvPr>
        </p:nvSpPr>
        <p:spPr>
          <a:xfrm xmlns:a="http://schemas.openxmlformats.org/drawingml/2006/main">
            <a:off x="348925" y="2298625"/>
            <a:ext cx="7532700" cy="680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Create an instrumentation plan for the events you need collected and logged, in order to be able to physically measure your KPIs.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176890668"/>
      </p:ext>
    </p:extLst>
  </p:cSld>
</p:sld>
</file>

<file path=ppt/slides/slide43.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67" name="Google Shape;267;p53">
            <a:extLst xmlns:a="http://schemas.openxmlformats.org/drawingml/2006/main">
              <a:ext uri="{FF2B5EF4-FFF2-40B4-BE49-F238E27FC236}">
                <a16:creationId xmlns:a16="http://schemas.microsoft.com/office/drawing/2014/main" id="{844F29B0-1838-44EB-A29B-6310B776C38E}"/>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KPI events and formulas are auditable</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68" name="Google Shape;268;p53">
            <a:extLst xmlns:a="http://schemas.openxmlformats.org/drawingml/2006/main">
              <a:ext uri="{FF2B5EF4-FFF2-40B4-BE49-F238E27FC236}">
                <a16:creationId xmlns:a16="http://schemas.microsoft.com/office/drawing/2014/main" id="{144D10D9-6E97-4B61-80D2-EBDBAE247588}"/>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TRIGGERS: eligibility_viewed on offer; quote_shown on price; booking_confirmed on payment; trip_completed on arrival; incident_logged on safety review.
FORMULAS: first-ride conversion = distinct first-time completers / distinct eligible offers; fixed-price booking = confirmations / $20/mile quotes; activations = distinct first-time completers.
GATES: completion = completed trips / confirmed bookings; incidents = distinct serious incident_id.
DATA: event, rider, trip, cohort, node, aircraft/operator, schema, time, price, distance, status, source, and consent. Log cancellation, delay, no-show, refund, and survey; minimize PII and test completeness/duplicates.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82301153"/>
      </p:ext>
    </p:extLst>
  </p:cSld>
</p:sld>
</file>

<file path=ppt/slides/slide44.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73" name="Google Shape;273;p54">
            <a:extLst xmlns:a="http://schemas.openxmlformats.org/drawingml/2006/main">
              <a:ext uri="{FF2B5EF4-FFF2-40B4-BE49-F238E27FC236}">
                <a16:creationId xmlns:a16="http://schemas.microsoft.com/office/drawing/2014/main" id="{F0FFF581-25D2-4D8D-9258-D908392E1994}"/>
              </a:ext>
            </a:extLst>
          </p:cNvPr>
          <p:cNvSpPr>
            <a:spLocks xmlns:a="http://schemas.openxmlformats.org/drawingml/2006/main" noGrp="1"/>
          </p:cNvSpPr>
          <p:nvPr>
            <p:ph type="ctrTitle" idx="0"/>
          </p:nvPr>
        </p:nvSpPr>
        <p:spPr>
          <a:xfrm xmlns:a="http://schemas.openxmlformats.org/drawingml/2006/main">
            <a:off x="339000" y="2301150"/>
            <a:ext cx="7532700" cy="541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Create a qualitative feedback survey questions for users after their ride, to further understand and optimize the product for future iterations.</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03726010"/>
      </p:ext>
    </p:extLst>
  </p:cSld>
</p:sld>
</file>

<file path=ppt/slides/slide45.xml><?xml version="1.0" encoding="utf-8"?>
<p:sld xmlns:p="http://schemas.openxmlformats.org/presentationml/2006/main">
  <p:cSld>
    <p:bg>
      <p:bgPr>
        <a:solidFill xmlns:a="http://schemas.openxmlformats.org/drawingml/2006/main">
          <a:srgbClr val="FE8A71"/>
        </a:solidFill>
      </p:bgPr>
    </p:bg>
    <p:spTree>
      <p:nvGrpSpPr>
        <p:cNvPr id="1" name=""/>
        <p:cNvGrpSpPr/>
        <p:nvPr/>
      </p:nvGrpSpPr>
      <p:grpSpPr>
        <a:xfrm xmlns:a="http://schemas.openxmlformats.org/drawingml/2006/main"/>
      </p:grpSpPr>
      <p:sp>
        <p:nvSpPr>
          <p:cNvPr id="278" name="Google Shape;278;p55">
            <a:extLst xmlns:a="http://schemas.openxmlformats.org/drawingml/2006/main">
              <a:ext uri="{FF2B5EF4-FFF2-40B4-BE49-F238E27FC236}">
                <a16:creationId xmlns:a16="http://schemas.microsoft.com/office/drawing/2014/main" id="{946019FD-118A-442B-94A9-D6DB636257BE}"/>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rgbClr val="434343"/>
                </a:solidFill>
                <a:latin typeface="Nunito Light"/>
                <a:ea typeface="Nunito Light"/>
                <a:cs typeface="Nunito Light"/>
              </a:rPr>
              <a:t>Post-ride feedback explains the metrics</a:t>
            </a:r>
            <a:endParaRPr sz="36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79" name="Google Shape;279;p55">
            <a:extLst xmlns:a="http://schemas.openxmlformats.org/drawingml/2006/main">
              <a:ext uri="{FF2B5EF4-FFF2-40B4-BE49-F238E27FC236}">
                <a16:creationId xmlns:a16="http://schemas.microsoft.com/office/drawing/2014/main" id="{1AC777FC-089A-490F-ADA0-3D1BCA79E325}"/>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434343"/>
                </a:solidFill>
                <a:latin typeface="Nunito Light"/>
                <a:ea typeface="Nunito Light"/>
                <a:cs typeface="Nunito Light"/>
              </a:rPr>
              <a:t>MECHANIC: send within 15 minutes of arrival; mobile form under three minutes; optional interview follow-up; link by survey_id to trip and cohort, not free-text identity.
1. How likely are you to ride Flyber again in the next 30 days? 0 (not at all) to 10 (extremely likely). Why?
2. Did anything go wrong? Select all: safety concern, delay, cancellation, node access, booking/payment, comfort, price, accessibility, other. Describe the most important issue.
3. Rate safety/trust, node access, travel time, price/value, and support from 1 (poor) to 5 (excellent).
4. Which should Flyber improve or launch next? Rank: more nodes, longer hours, lower/flexible price, booking changes, comfort, accessibility, disruption support.
5. What single change would most increase your likelihood of riding again?</a:t>
            </a: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09665083"/>
      </p:ext>
    </p:extLst>
  </p:cSld>
</p:sld>
</file>

<file path=ppt/slides/slide46.xml><?xml version="1.0" encoding="utf-8"?>
<p:sld xmlns:p="http://schemas.openxmlformats.org/presentationml/2006/main">
  <p:cSld>
    <p:bg>
      <p:bgPr>
        <a:solidFill xmlns:a="http://schemas.openxmlformats.org/drawingml/2006/main">
          <a:srgbClr val="3DA4AB"/>
        </a:solidFill>
      </p:bgPr>
    </p:bg>
    <p:spTree>
      <p:nvGrpSpPr>
        <p:cNvPr id="1" name=""/>
        <p:cNvGrpSpPr/>
        <p:nvPr/>
      </p:nvGrpSpPr>
      <p:grpSpPr>
        <a:xfrm xmlns:a="http://schemas.openxmlformats.org/drawingml/2006/main"/>
      </p:grpSpPr>
      <p:sp>
        <p:nvSpPr>
          <p:cNvPr id="284" name="Google Shape;284;p56">
            <a:extLst xmlns:a="http://schemas.openxmlformats.org/drawingml/2006/main">
              <a:ext uri="{FF2B5EF4-FFF2-40B4-BE49-F238E27FC236}">
                <a16:creationId xmlns:a16="http://schemas.microsoft.com/office/drawing/2014/main" id="{60A01CAF-BD0D-41A2-BAB6-5F3246319F1C}"/>
              </a:ext>
            </a:extLst>
          </p:cNvPr>
          <p:cNvSpPr>
            <a:spLocks xmlns:a="http://schemas.openxmlformats.org/drawingml/2006/main" noGrp="1"/>
          </p:cNvSpPr>
          <p:nvPr>
            <p:ph type="ctrTitle" idx="0"/>
          </p:nvPr>
        </p:nvSpPr>
        <p:spPr>
          <a:xfrm xmlns:a="http://schemas.openxmlformats.org/drawingml/2006/main">
            <a:off x="358825" y="1099800"/>
            <a:ext cx="7532700" cy="2943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Summarize everything you have learned into your final proposal</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Identify the target population. Why did you select that target population? What are their pain points?</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Create a product proposal containing claim, evidence, estimated impact, and risks </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Claims should be backed by quantitative evidence, impact should assess market needs/benefits</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Risks involve any known unknowns that we</a:t>
            </a:r>
            <a:r>
              <a:rPr sz="1800">
                <a:solidFill>
                  <a:srgbClr val="FFFFFF"/>
                </a:solidFill>
                <a:latin typeface="Nunito Light"/>
                <a:ea typeface="Nunito Light"/>
                <a:cs typeface="Nunito Light"/>
              </a:rPr>
              <a:t>'</a:t>
            </a:r>
            <a:r>
              <a:rPr sz="1800">
                <a:solidFill>
                  <a:srgbClr val="FFFFFF"/>
                </a:solidFill>
                <a:latin typeface="Nunito Light"/>
                <a:ea typeface="Nunito Light"/>
                <a:cs typeface="Nunito Light"/>
              </a:rPr>
              <a:t>ll still need to monitor post-launch</a:t>
            </a:r>
            <a:endParaRPr sz="1800">
              <a:solidFill>
                <a:srgbClr val="FFFFFF"/>
              </a:solidFill>
              <a:latin typeface="Nunito Light"/>
              <a:ea typeface="Nunito Light"/>
              <a:cs typeface="Nunito Light"/>
            </a:endParaRPr>
          </a:p>
          <a:p xmlns:a="http://schemas.openxmlformats.org/drawingml/2006/main">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State cross-functional stakeholder teams that will need to be involved</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214485323"/>
      </p:ext>
    </p:extLst>
  </p:cSld>
</p:sld>
</file>

<file path=ppt/slides/slide47.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289" name="Google Shape;289;p57">
            <a:extLst xmlns:a="http://schemas.openxmlformats.org/drawingml/2006/main">
              <a:ext uri="{FF2B5EF4-FFF2-40B4-BE49-F238E27FC236}">
                <a16:creationId xmlns:a16="http://schemas.microsoft.com/office/drawing/2014/main" id="{D2B2F99A-7083-418B-84F2-DDCD10702178}"/>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Target slow, time-sensitive short trips</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90" name="Google Shape;290;p57">
            <a:extLst xmlns:a="http://schemas.openxmlformats.org/drawingml/2006/main">
              <a:ext uri="{FF2B5EF4-FFF2-40B4-BE49-F238E27FC236}">
                <a16:creationId xmlns:a16="http://schemas.microsoft.com/office/drawing/2014/main" id="{6503A916-2B8D-4442-8A1E-6238309BA4EB}"/>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TARGET: adults making one- or two-person, time-sensitive trips near Midtown, Lower Manhattan, and LaGuardia during Thursday-Saturday evenings.
WHY: 85.3% of valid taxi rides carry 1-2 passengers; Midtown NTAs lead endpoint density and minutes-per-mile; 80.2% of valid survey responses state interest.
PAIN: unpredictable road delay, missed connections, surge/cancellation uncertainty, and poor time reliability on short congested routes.
SEGMENTATION: prioritize observed trip context and proximity to nodes, not demographic stereotypes. The survey is unweighted and measures stated preference.</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59715847"/>
      </p:ext>
    </p:extLst>
  </p:cSld>
</p:sld>
</file>

<file path=ppt/slides/slide48.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295" name="Google Shape;295;p58">
            <a:extLst xmlns:a="http://schemas.openxmlformats.org/drawingml/2006/main">
              <a:ext uri="{FF2B5EF4-FFF2-40B4-BE49-F238E27FC236}">
                <a16:creationId xmlns:a16="http://schemas.microsoft.com/office/drawing/2014/main" id="{4085D11D-84A1-44BA-BC92-239A5B8806E3}"/>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Proposal: test four nodes for 12 weeks</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296" name="Google Shape;296;p58">
            <a:extLst xmlns:a="http://schemas.openxmlformats.org/drawingml/2006/main">
              <a:ext uri="{FF2B5EF4-FFF2-40B4-BE49-F238E27FC236}">
                <a16:creationId xmlns:a16="http://schemas.microsoft.com/office/drawing/2014/main" id="{01B59F50-5EBD-47A7-97CC-E7B02F9016FC}"/>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CLAIM: four-node evening service at fixed $20/mile can convert high-friction Manhattan/airport trips into paid first rides.
EVIDENCE: 85.3% one- or two-rider share; Midtown density/delay; 80.2% interest; $23/mile median willingness to pay.
IMPACT: recruit 2,000 prospects, activate 500 riders, and complete about 1,000 rides while measuring conversion, completion, and safety.
KNOWN UNKNOWNS: conversion, capacity, repeat demand, unit margin, permits, weather, accessibility, noise response, and serious-event risk.
RISK: failure could waste capital or harm safety and trust; success establishes bounded demand evidence. Scale only if all gates pass.</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275715729"/>
      </p:ext>
    </p:extLst>
  </p:cSld>
</p:sld>
</file>

<file path=ppt/slides/slide49.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301" name="Google Shape;301;p59">
            <a:extLst xmlns:a="http://schemas.openxmlformats.org/drawingml/2006/main">
              <a:ext uri="{FF2B5EF4-FFF2-40B4-BE49-F238E27FC236}">
                <a16:creationId xmlns:a16="http://schemas.microsoft.com/office/drawing/2014/main" id="{B4E8EDF0-74F7-4B47-A48B-C91AAE3B483F}"/>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Cross-functional ownership is explicit</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302" name="Google Shape;302;p59">
            <a:extLst xmlns:a="http://schemas.openxmlformats.org/drawingml/2006/main">
              <a:ext uri="{FF2B5EF4-FFF2-40B4-BE49-F238E27FC236}">
                <a16:creationId xmlns:a16="http://schemas.microsoft.com/office/drawing/2014/main" id="{7F85ECF0-9A9B-4BFD-8295-26F1DAAC0F7A}"/>
              </a:ext>
            </a:extLst>
          </p:cNvPr>
          <p:cNvSpPr>
            <a:spLocks xmlns:a="http://schemas.openxmlformats.org/drawingml/2006/main" noGrp="1"/>
          </p:cNvSpPr>
          <p:nvPr>
            <p:ph type="ctrTitle" idx="0"/>
          </p:nvPr>
        </p:nvSpPr>
        <p:spPr>
          <a:xfrm xmlns:a="http://schemas.openxmlformats.org/drawingml/2006/main">
            <a:off x="329089" y="1000125"/>
            <a:ext cx="8477250" cy="3857625"/>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PRODUCT + RESEARCH: objective, experiment design, eligibility, post-ride learning, and roadmap.
DATA + ENGINEERING: schemas, instrumentation, identity, dashboards, QA, privacy, booking, payments, and reliability.
FLIGHT OPS + SAFETY: operator qualification, dispatch, weather, aircraft readiness, incident command, and stop-work authority.
LEGAL + REGULATORY + SECURITY: permits, insurance, accessibility, privacy, cyber risk, and agency coordination.
COMMERCIAL + COMMUNITY: unit economics, contracts, node operators, acquisition, support, service recovery, noise engagement, and public trust.</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995669606"/>
      </p:ext>
    </p:extLst>
  </p:cSld>
</p:sld>
</file>

<file path=ppt/slides/slide50.xml><?xml version="1.0" encoding="utf-8"?>
<p:sld xmlns:p="http://schemas.openxmlformats.org/presentationml/2006/main">
  <p:cSld>
    <p:bg>
      <p:bgPr>
        <a:solidFill xmlns:a="http://schemas.openxmlformats.org/drawingml/2006/main">
          <a:srgbClr val="0E9AA7"/>
        </a:solidFill>
      </p:bgPr>
    </p:bg>
    <p:spTree>
      <p:nvGrpSpPr>
        <p:cNvPr id="1" name=""/>
        <p:cNvGrpSpPr/>
        <p:nvPr/>
      </p:nvGrpSpPr>
      <p:grpSpPr>
        <a:xfrm xmlns:a="http://schemas.openxmlformats.org/drawingml/2006/main"/>
      </p:grpSpPr>
      <p:sp>
        <p:nvSpPr>
          <p:cNvPr id="301" name="Google Shape;301;p59">
            <a:extLst xmlns:a="http://schemas.openxmlformats.org/drawingml/2006/main">
              <a:ext uri="{FF2B5EF4-FFF2-40B4-BE49-F238E27FC236}">
                <a16:creationId xmlns:a16="http://schemas.microsoft.com/office/drawing/2014/main" id="{B4E8EDF0-74F7-4B47-A48B-C91AAE3B483F}"/>
              </a:ext>
            </a:extLst>
          </p:cNvPr>
          <p:cNvSpPr>
            <a:spLocks xmlns:a="http://schemas.openxmlformats.org/drawingml/2006/main" noGrp="1"/>
          </p:cNvSpPr>
          <p:nvPr>
            <p:ph type="ctrTitle" idx="0"/>
          </p:nvPr>
        </p:nvSpPr>
        <p:spPr>
          <a:xfrm xmlns:a="http://schemas.openxmlformats.org/drawingml/2006/main">
            <a:off x="262033" y="177832"/>
            <a:ext cx="8520589" cy="637223"/>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3600">
                <a:solidFill>
                  <a:schemeClr val="lt1"/>
                </a:solidFill>
                <a:latin typeface="Nunito Light"/>
                <a:ea typeface="Nunito Light"/>
                <a:cs typeface="Nunito Light"/>
              </a:rPr>
              <a:t>Interactive Tableau workbook</a:t>
            </a:r>
            <a:endParaRPr sz="3600">
              <a:solidFill>
                <a:schemeClr val="lt1"/>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302" name="Google Shape;302;p59">
            <a:extLst xmlns:a="http://schemas.openxmlformats.org/drawingml/2006/main">
              <a:ext uri="{FF2B5EF4-FFF2-40B4-BE49-F238E27FC236}">
                <a16:creationId xmlns:a16="http://schemas.microsoft.com/office/drawing/2014/main" id="{7F85ECF0-9A9B-4BFD-8295-26F1DAAC0F7A}"/>
              </a:ext>
            </a:extLst>
          </p:cNvPr>
          <p:cNvSpPr>
            <a:spLocks xmlns:a="http://schemas.openxmlformats.org/drawingml/2006/main" noGrp="1"/>
          </p:cNvSpPr>
          <p:nvPr>
            <p:ph type="ctrTitle" idx="0"/>
          </p:nvPr>
        </p:nvSpPr>
        <p:spPr>
          <a:xfrm xmlns:a="http://schemas.openxmlformats.org/drawingml/2006/main">
            <a:off x="329089" y="1190625"/>
            <a:ext cx="8477250" cy="28575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800">
                <a:solidFill>
                  <a:srgbClr val="FFFFFF"/>
                </a:solidFill>
                <a:latin typeface="Nunito Light"/>
                <a:ea typeface="Nunito Light"/>
                <a:cs typeface="Nunito Light"/>
              </a:rPr>
              <a:t>Explore the full enriched taxi dataset through the published pickup-opportunity map.
TABLEAU PUBLIC VIEW:
</a:t>
            </a:r>
            <a:r>
              <a:rPr sz="1800" u="sng">
                <a:solidFill>
                  <a:srgbClr val="FFFFFF"/>
                </a:solidFill>
                <a:latin typeface="Nunito Light"/>
                <a:ea typeface="Nunito Light"/>
                <a:cs typeface="Nunito Light"/>
                <a:hlinkClick xmlns:r="http://schemas.openxmlformats.org/officeDocument/2006/relationships" r:id="R5f16187ec17e4890"/>
              </a:rPr>
              <a:t>https://public.tableau.com/app/profile/christopher.ohara/viz/FlyberMVPLaunchStrategy_17861346231600/PickupOpportunityMap#1</a:t>
            </a:r>
            <a:r>
              <a:rPr sz="1800">
                <a:solidFill>
                  <a:srgbClr val="FFFFFF"/>
                </a:solidFill>
                <a:latin typeface="Nunito Light"/>
                <a:ea typeface="Nunito Light"/>
                <a:cs typeface="Nunito Light"/>
              </a:rPr>
              <a:t>
Select map marks or neighborhood legend entries to inspect the NYC pickup geography interactively.</a:t>
            </a: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a:p xmlns:a="http://schemas.openxmlformats.org/drawingml/2006/main">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995669606"/>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2026-08-08T07:20:34.7840000Z</dcterms:created>
  <dcterms:modified xsi:type="dcterms:W3CDTF">2026-08-08T07:20:34.7840000Z</dcterms:modified>
</coreProperties>
</file>