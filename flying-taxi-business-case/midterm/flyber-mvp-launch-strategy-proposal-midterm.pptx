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6858000" cy="9144000"/>
  <p:embeddedFontLst>
    <p:embeddedFont>
      <p:font typeface="Nunito" pitchFamily="2" charset="0"/>
      <p:regular r:id="rId33"/>
      <p:bold r:id="rId34"/>
      <p:italic r:id="rId35"/>
      <p:boldItalic r:id="rId36"/>
    </p:embeddedFont>
    <p:embeddedFont>
      <p:font typeface="Nunito Light" pitchFamily="2" charset="0"/>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5" d="100"/>
          <a:sy n="145" d="100"/>
        </p:scale>
        <p:origin x="10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a:t>
            </a:r>
          </a:p>
          <a:p>
            <a:pPr marL="0" lvl="0" indent="0" algn="l">
              <a:spcBef>
                <a:spcPts val="0"/>
              </a:spcBef>
              <a:spcAft>
                <a:spcPts val="0"/>
              </a:spcAft>
              <a:buNone/>
            </a:pPr>
            <a:r>
              <a:t>- Supplied project requirements and PowerPoint prompts</a:t>
            </a:r>
          </a:p>
          <a:p>
            <a:pPr marL="0" lvl="0" indent="0" algn="l">
              <a:spcBef>
                <a:spcPts val="0"/>
              </a:spcBef>
              <a:spcAft>
                <a:spcPts val="0"/>
              </a:spcAft>
              <a:buNone/>
            </a:pPr>
            <a:r>
              <a:t>- taxi_rides.csv and user-research.csv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a:t>
            </a:r>
          </a:p>
          <a:p>
            <a:pPr marL="0" lvl="0" indent="0" algn="l">
              <a:spcBef>
                <a:spcPts val="0"/>
              </a:spcBef>
              <a:spcAft>
                <a:spcPts val="0"/>
              </a:spcAft>
              <a:buNone/>
            </a:pPr>
            <a:r>
              <a:t>- Supplied project requirements and PowerPoint prompts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a:t>
            </a:r>
          </a:p>
          <a:p>
            <a:pPr marL="0" lvl="0" indent="0" algn="l">
              <a:spcBef>
                <a:spcPts val="0"/>
              </a:spcBef>
              <a:spcAft>
                <a:spcPts val="0"/>
              </a:spcAft>
              <a:buNone/>
            </a:pPr>
            <a:r>
              <a:t>- taxi_rides.csv</a:t>
            </a:r>
          </a:p>
          <a:p>
            <a:pPr marL="0" lvl="0" indent="0" algn="l">
              <a:spcBef>
                <a:spcPts val="0"/>
              </a:spcBef>
              <a:spcAft>
                <a:spcPts val="0"/>
              </a:spcAft>
              <a:buNone/>
            </a:pPr>
            <a:r>
              <a:t>- flyber-analysis-output/data_quality_reconciliation.csv</a:t>
            </a:r>
          </a:p>
          <a:p>
            <a:pPr marL="0" lvl="0" indent="0" algn="l">
              <a:spcBef>
                <a:spcPts val="0"/>
              </a:spcBef>
              <a:spcAft>
                <a:spcPts val="0"/>
              </a:spcAft>
              <a:buNone/>
            </a:pPr>
            <a:r>
              <a:t>- NYC NTA overlay: https://data.cityofnewyork.us/City-Government/2020-Neighborhood-Tabulation-Areas-NTAs-/9nt8-h7nd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a:t>
            </a:r>
          </a:p>
          <a:p>
            <a:pPr marL="0" lvl="0" indent="0" algn="l">
              <a:spcBef>
                <a:spcPts val="0"/>
              </a:spcBef>
              <a:spcAft>
                <a:spcPts val="0"/>
              </a:spcAft>
              <a:buNone/>
            </a:pPr>
            <a:r>
              <a:t>- flyber-analysis-output/descriptive_statistics.csv</a:t>
            </a:r>
          </a:p>
          <a:p>
            <a:pPr marL="0" lvl="0" indent="0" algn="l">
              <a:spcBef>
                <a:spcPts val="0"/>
              </a:spcBef>
              <a:spcAft>
                <a:spcPts val="0"/>
              </a:spcAft>
              <a:buNone/>
            </a:pPr>
            <a:r>
              <a:t>- Historical fare basis: https://www.nyc.gov/assets/tlc/downloads/pdf/taxi_information.pdf</a:t>
            </a:r>
          </a:p>
          <a:p>
            <a:pPr marL="0" lvl="0" indent="0" algn="l">
              <a:spcBef>
                <a:spcPts val="0"/>
              </a:spcBef>
              <a:spcAft>
                <a:spcPts val="0"/>
              </a:spcAft>
              <a:buNone/>
            </a:pPr>
            <a:r>
              <a:t>Fare proxy excludes tolls, tips, special surcharges, and mixed meter states.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a:t>
            </a:r>
          </a:p>
          <a:p>
            <a:pPr marL="0" lvl="0" indent="0" algn="l">
              <a:spcBef>
                <a:spcPts val="0"/>
              </a:spcBef>
              <a:spcAft>
                <a:spcPts val="0"/>
              </a:spcAft>
              <a:buNone/>
            </a:pPr>
            <a:r>
              <a:t>- taxi_rides.csv</a:t>
            </a:r>
          </a:p>
          <a:p>
            <a:pPr marL="0" lvl="0" indent="0" algn="l">
              <a:spcBef>
                <a:spcPts val="0"/>
              </a:spcBef>
              <a:spcAft>
                <a:spcPts val="0"/>
              </a:spcAft>
              <a:buNone/>
            </a:pPr>
            <a:r>
              <a:t>- flyber-analysis-output/passenger_counts.csv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a:t>
            </a:r>
          </a:p>
          <a:p>
            <a:pPr marL="0" lvl="0" indent="0" algn="l">
              <a:spcBef>
                <a:spcPts val="0"/>
              </a:spcBef>
              <a:spcAft>
                <a:spcPts val="0"/>
              </a:spcAft>
              <a:buNone/>
            </a:pPr>
            <a:r>
              <a:t>- taxi_rides.csv</a:t>
            </a:r>
          </a:p>
          <a:p>
            <a:pPr marL="0" lvl="0" indent="0" algn="l">
              <a:spcBef>
                <a:spcPts val="0"/>
              </a:spcBef>
              <a:spcAft>
                <a:spcPts val="0"/>
              </a:spcAft>
              <a:buNone/>
            </a:pPr>
            <a:r>
              <a:t>- flyber-analysis-output/pickup_neighborhoods.csv</a:t>
            </a:r>
          </a:p>
          <a:p>
            <a:pPr marL="0" lvl="0" indent="0" algn="l">
              <a:spcBef>
                <a:spcPts val="0"/>
              </a:spcBef>
              <a:spcAft>
                <a:spcPts val="0"/>
              </a:spcAft>
              <a:buNone/>
            </a:pPr>
            <a:r>
              <a:t>- flyber-analysis-output/dropoff_neighborhoods.csv</a:t>
            </a:r>
          </a:p>
          <a:p>
            <a:pPr marL="0" lvl="0" indent="0" algn="l">
              <a:spcBef>
                <a:spcPts val="0"/>
              </a:spcBef>
              <a:spcAft>
                <a:spcPts val="0"/>
              </a:spcAft>
              <a:buNone/>
            </a:pPr>
            <a:r>
              <a:t>- NYC NTA overlay: https://data.cityofnewyork.us/City-Government/2020-Neighborhood-Tabulation-Areas-NTAs-/9nt8-h7nd</a:t>
            </a:r>
          </a:p>
          <a:p>
            <a:pPr marL="0" lvl="0" indent="0" algn="l">
              <a:spcBef>
                <a:spcPts val="0"/>
              </a:spcBef>
              <a:spcAft>
                <a:spcPts val="0"/>
              </a:spcAft>
              <a:buNone/>
            </a:pPr>
            <a:r>
              <a:t>2020 boundaries are an approximation for 2016 rides.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a:t>
            </a:r>
          </a:p>
          <a:p>
            <a:pPr marL="0" lvl="0" indent="0" algn="l">
              <a:spcBef>
                <a:spcPts val="0"/>
              </a:spcBef>
              <a:spcAft>
                <a:spcPts val="0"/>
              </a:spcAft>
              <a:buNone/>
            </a:pPr>
            <a:r>
              <a:t>- taxi_rides.csv</a:t>
            </a:r>
          </a:p>
          <a:p>
            <a:pPr marL="0" lvl="0" indent="0" algn="l">
              <a:spcBef>
                <a:spcPts val="0"/>
              </a:spcBef>
              <a:spcAft>
                <a:spcPts val="0"/>
              </a:spcAft>
              <a:buNone/>
            </a:pPr>
            <a:r>
              <a:t>- flyber-analysis-output/pickups_by_hour.csv</a:t>
            </a:r>
          </a:p>
          <a:p>
            <a:pPr marL="0" lvl="0" indent="0" algn="l">
              <a:spcBef>
                <a:spcPts val="0"/>
              </a:spcBef>
              <a:spcAft>
                <a:spcPts val="0"/>
              </a:spcAft>
              <a:buNone/>
            </a:pPr>
            <a:r>
              <a:t>- flyber-analysis-output/pickups_by_day.csv</a:t>
            </a:r>
          </a:p>
          <a:p>
            <a:pPr marL="0" lvl="0" indent="0" algn="l">
              <a:spcBef>
                <a:spcPts val="0"/>
              </a:spcBef>
              <a:spcAft>
                <a:spcPts val="0"/>
              </a:spcAft>
              <a:buNone/>
            </a:pPr>
            <a:r>
              <a:t>- flyber-analysis-output/pickups_by_month.csv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a:t>
            </a:r>
          </a:p>
          <a:p>
            <a:pPr marL="0" lvl="0" indent="0" algn="l">
              <a:spcBef>
                <a:spcPts val="0"/>
              </a:spcBef>
              <a:spcAft>
                <a:spcPts val="0"/>
              </a:spcAft>
              <a:buNone/>
            </a:pPr>
            <a:r>
              <a:t>- user-research.csv</a:t>
            </a:r>
          </a:p>
          <a:p>
            <a:pPr marL="0" lvl="0" indent="0" algn="l">
              <a:spcBef>
                <a:spcPts val="0"/>
              </a:spcBef>
              <a:spcAft>
                <a:spcPts val="0"/>
              </a:spcAft>
              <a:buNone/>
            </a:pPr>
            <a:r>
              <a:t>- flyber-analysis-output/survey_adoption_segments.csv</a:t>
            </a:r>
          </a:p>
          <a:p>
            <a:pPr marL="0" lvl="0" indent="0" algn="l">
              <a:spcBef>
                <a:spcPts val="0"/>
              </a:spcBef>
              <a:spcAft>
                <a:spcPts val="0"/>
              </a:spcAft>
              <a:buNone/>
            </a:pPr>
            <a:r>
              <a:t>Unweighted stated-preference survey; do not generalize directly to NYC.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a:t>
            </a:r>
          </a:p>
          <a:p>
            <a:pPr marL="0" lvl="0" indent="0" algn="l">
              <a:spcBef>
                <a:spcPts val="0"/>
              </a:spcBef>
              <a:spcAft>
                <a:spcPts val="0"/>
              </a:spcAft>
              <a:buNone/>
            </a:pPr>
            <a:r>
              <a:t>- user-research.csv</a:t>
            </a:r>
          </a:p>
          <a:p>
            <a:pPr marL="0" lvl="0" indent="0" algn="l">
              <a:spcBef>
                <a:spcPts val="0"/>
              </a:spcBef>
              <a:spcAft>
                <a:spcPts val="0"/>
              </a:spcAft>
              <a:buNone/>
            </a:pPr>
            <a:r>
              <a:t>- flyber-analysis-output/survey_willingness_to_pay.csv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[Sources]</a:t>
            </a:r>
          </a:p>
          <a:p>
            <a:pPr marL="0" lvl="0" indent="0" algn="l">
              <a:spcBef>
                <a:spcPts val="0"/>
              </a:spcBef>
              <a:spcAft>
                <a:spcPts val="0"/>
              </a:spcAft>
              <a:buNone/>
            </a:pPr>
            <a:r>
              <a:t>- user-research.csv</a:t>
            </a:r>
          </a:p>
          <a:p>
            <a:pPr marL="0" lvl="0" indent="0" algn="l">
              <a:spcBef>
                <a:spcPts val="0"/>
              </a:spcBef>
              <a:spcAft>
                <a:spcPts val="0"/>
              </a:spcAft>
              <a:buNone/>
            </a:pPr>
            <a:r>
              <a:t>- flyber-analysis-output/survey_objections.csv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
        <p:cNvGrpSpPr/>
        <p:nvPr/>
      </p:nvGrpSpPr>
      <p:grpSpPr>
        <a:xfrm>
          <a:off x="0" y="0"/>
          <a:ext cx="0" cy="0"/>
          <a:chOff x="0" y="0"/>
          <a:chExt cx="0" cy="0"/>
        </a:xfrm>
      </p:grpSpPr>
      <p:sp>
        <p:nvSpPr>
          <p:cNvPr id="10" name="Google Shape;10;p2">
            <a:extLst>
              <a:ext uri="{FF2B5EF4-FFF2-40B4-BE49-F238E27FC236}">
                <a16:creationId xmlns:a16="http://schemas.microsoft.com/office/drawing/2014/main" id="{525766B2-A1D5-4429-8235-8A1BD0FDF626}"/>
              </a:ext>
            </a:extLst>
          </p:cNvPr>
          <p:cNvSpPr>
            <a:spLocks noGrp="1"/>
          </p:cNvSpPr>
          <p:nvPr>
            <p:ph type="ctrTitle"/>
          </p:nvPr>
        </p:nvSpPr>
        <p:spPr>
          <a:xfrm>
            <a:off x="311708" y="744575"/>
            <a:ext cx="8520600" cy="2052600"/>
          </a:xfrm>
          <a:prstGeom prst="rect">
            <a:avLst/>
          </a:prstGeom>
        </p:spPr>
        <p:txBody>
          <a:bodyPr spcFirstLastPara="1" wrap="square" lIns="91425" tIns="91425" rIns="91425" bIns="91425" anchor="b">
            <a:noAutofit/>
          </a:bodyPr>
          <a:lstStyle>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a:endParaRPr/>
          </a:p>
        </p:txBody>
      </p:sp>
      <p:sp>
        <p:nvSpPr>
          <p:cNvPr id="11" name="Google Shape;11;p2">
            <a:extLst>
              <a:ext uri="{FF2B5EF4-FFF2-40B4-BE49-F238E27FC236}">
                <a16:creationId xmlns:a16="http://schemas.microsoft.com/office/drawing/2014/main" id="{FA637B41-0A49-4EAD-B3AB-C38AB585704D}"/>
              </a:ext>
            </a:extLst>
          </p:cNvPr>
          <p:cNvSpPr>
            <a:spLocks noGrp="1"/>
          </p:cNvSpPr>
          <p:nvPr>
            <p:ph type="subTitle" idx="1"/>
          </p:nvPr>
        </p:nvSpPr>
        <p:spPr>
          <a:xfrm>
            <a:off x="311700" y="2834125"/>
            <a:ext cx="8520600" cy="792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a:endParaRPr/>
          </a:p>
        </p:txBody>
      </p:sp>
      <p:sp>
        <p:nvSpPr>
          <p:cNvPr id="12" name="Google Shape;12;p2">
            <a:extLst>
              <a:ext uri="{FF2B5EF4-FFF2-40B4-BE49-F238E27FC236}">
                <a16:creationId xmlns:a16="http://schemas.microsoft.com/office/drawing/2014/main" id="{B994280E-180A-4DE0-8816-B051D51A7790}"/>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14" name="Google Shape;14;p3">
            <a:extLst>
              <a:ext uri="{FF2B5EF4-FFF2-40B4-BE49-F238E27FC236}">
                <a16:creationId xmlns:a16="http://schemas.microsoft.com/office/drawing/2014/main" id="{9A40201E-24A7-48A5-AADC-2CFB7D36BCCE}"/>
              </a:ext>
            </a:extLst>
          </p:cNvPr>
          <p:cNvSpPr>
            <a:spLocks noGrp="1"/>
          </p:cNvSpPr>
          <p:nvPr>
            <p:ph type="title"/>
          </p:nvPr>
        </p:nvSpPr>
        <p:spPr>
          <a:xfrm>
            <a:off x="311700" y="2150850"/>
            <a:ext cx="8520600" cy="841800"/>
          </a:xfrm>
          <a:prstGeom prst="rect">
            <a:avLst/>
          </a:prstGeom>
        </p:spPr>
        <p:txBody>
          <a:bodyPr spcFirstLastPara="1" wrap="square" lIns="91425" tIns="91425" rIns="91425" bIns="91425" anchor="ctr">
            <a:noAutofit/>
          </a:bodyPr>
          <a:lstStyle>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a:endParaRPr/>
          </a:p>
        </p:txBody>
      </p:sp>
      <p:sp>
        <p:nvSpPr>
          <p:cNvPr id="15" name="Google Shape;15;p3">
            <a:extLst>
              <a:ext uri="{FF2B5EF4-FFF2-40B4-BE49-F238E27FC236}">
                <a16:creationId xmlns:a16="http://schemas.microsoft.com/office/drawing/2014/main" id="{AEA27A84-DB7F-40B2-9CEC-287F2F95CB00}"/>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_AND_BODY">
    <p:spTree>
      <p:nvGrpSpPr>
        <p:cNvPr id="1" name=""/>
        <p:cNvGrpSpPr/>
        <p:nvPr/>
      </p:nvGrpSpPr>
      <p:grpSpPr>
        <a:xfrm>
          <a:off x="0" y="0"/>
          <a:ext cx="0" cy="0"/>
          <a:chOff x="0" y="0"/>
          <a:chExt cx="0" cy="0"/>
        </a:xfrm>
      </p:grpSpPr>
      <p:sp>
        <p:nvSpPr>
          <p:cNvPr id="17" name="Google Shape;17;p4">
            <a:extLst>
              <a:ext uri="{FF2B5EF4-FFF2-40B4-BE49-F238E27FC236}">
                <a16:creationId xmlns:a16="http://schemas.microsoft.com/office/drawing/2014/main" id="{D59AABF5-E11E-4965-A96D-D6914F63943D}"/>
              </a:ext>
            </a:extLst>
          </p:cNvPr>
          <p:cNvSpPr>
            <a:spLocks noGrp="1"/>
          </p:cNvSpPr>
          <p:nvPr>
            <p:ph type="title"/>
          </p:nvPr>
        </p:nvSpPr>
        <p:spPr>
          <a:xfrm>
            <a:off x="311700" y="445025"/>
            <a:ext cx="8520600" cy="572700"/>
          </a:xfrm>
          <a:prstGeom prst="rect">
            <a:avLst/>
          </a:prstGeom>
        </p:spPr>
        <p:txBody>
          <a:bodyPr spcFirstLastPara="1" wrap="square" lIns="91425" tIns="91425" rIns="91425" bIns="91425" anchor="t">
            <a:noAutofit/>
          </a:bodyPr>
          <a:lstStyle>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18" name="Google Shape;18;p4">
            <a:extLst>
              <a:ext uri="{FF2B5EF4-FFF2-40B4-BE49-F238E27FC236}">
                <a16:creationId xmlns:a16="http://schemas.microsoft.com/office/drawing/2014/main" id="{65C99C10-1A48-4284-91DB-9D6C94508465}"/>
              </a:ext>
            </a:extLst>
          </p:cNvPr>
          <p:cNvSpPr>
            <a:spLocks noGrp="1"/>
          </p:cNvSpPr>
          <p:nvPr>
            <p:ph type="body" idx="1"/>
          </p:nvPr>
        </p:nvSpPr>
        <p:spPr>
          <a:xfrm>
            <a:off x="311700" y="1152475"/>
            <a:ext cx="8520600" cy="3416400"/>
          </a:xfrm>
          <a:prstGeom prst="rect">
            <a:avLst/>
          </a:prstGeom>
        </p:spPr>
        <p:txBody>
          <a:bodyPr spcFirstLastPara="1" wrap="square" lIns="91425" tIns="91425" rIns="91425" bIns="91425" anchor="t">
            <a:noAutofit/>
          </a:bodyPr>
          <a:lstStyle>
            <a:lvl1pPr marL="457200" indent="-342900">
              <a:spcBef>
                <a:spcPts val="0"/>
              </a:spcBef>
              <a:spcAft>
                <a:spcPts val="0"/>
              </a:spcAft>
              <a:buSzPts val="1800"/>
              <a:buChar char="●"/>
              <a:defRPr/>
            </a:lvl1pPr>
            <a:lvl2pPr marL="914400" indent="-317500">
              <a:spcBef>
                <a:spcPts val="1600"/>
              </a:spcBef>
              <a:spcAft>
                <a:spcPts val="0"/>
              </a:spcAft>
              <a:buSzPts val="1400"/>
              <a:buChar char="○"/>
              <a:defRPr/>
            </a:lvl2pPr>
            <a:lvl3pPr marL="1371600" indent="-317500">
              <a:spcBef>
                <a:spcPts val="1600"/>
              </a:spcBef>
              <a:spcAft>
                <a:spcPts val="0"/>
              </a:spcAft>
              <a:buSzPts val="1400"/>
              <a:buChar char="■"/>
              <a:defRPr/>
            </a:lvl3pPr>
            <a:lvl4pPr marL="1828800" indent="-317500">
              <a:spcBef>
                <a:spcPts val="1600"/>
              </a:spcBef>
              <a:spcAft>
                <a:spcPts val="0"/>
              </a:spcAft>
              <a:buSzPts val="1400"/>
              <a:buChar char="●"/>
              <a:defRPr/>
            </a:lvl4pPr>
            <a:lvl5pPr marL="2286000" indent="-317500">
              <a:spcBef>
                <a:spcPts val="1600"/>
              </a:spcBef>
              <a:spcAft>
                <a:spcPts val="0"/>
              </a:spcAft>
              <a:buSzPts val="1400"/>
              <a:buChar char="○"/>
              <a:defRPr/>
            </a:lvl5pPr>
            <a:lvl6pPr marL="2743200" indent="-317500">
              <a:spcBef>
                <a:spcPts val="1600"/>
              </a:spcBef>
              <a:spcAft>
                <a:spcPts val="0"/>
              </a:spcAft>
              <a:buSzPts val="1400"/>
              <a:buChar char="■"/>
              <a:defRPr/>
            </a:lvl6pPr>
            <a:lvl7pPr marL="3200400" indent="-317500">
              <a:spcBef>
                <a:spcPts val="1600"/>
              </a:spcBef>
              <a:spcAft>
                <a:spcPts val="0"/>
              </a:spcAft>
              <a:buSzPts val="1400"/>
              <a:buChar char="●"/>
              <a:defRPr/>
            </a:lvl7pPr>
            <a:lvl8pPr marL="3657600" indent="-317500">
              <a:spcBef>
                <a:spcPts val="1600"/>
              </a:spcBef>
              <a:spcAft>
                <a:spcPts val="0"/>
              </a:spcAft>
              <a:buSzPts val="1400"/>
              <a:buChar char="○"/>
              <a:defRPr/>
            </a:lvl8pPr>
            <a:lvl9pPr marL="4114800" indent="-317500">
              <a:spcBef>
                <a:spcPts val="1600"/>
              </a:spcBef>
              <a:spcAft>
                <a:spcPts val="1600"/>
              </a:spcAft>
              <a:buSzPts val="1400"/>
              <a:buChar char="■"/>
              <a:defRPr/>
            </a:lvl9pPr>
          </a:lstStyle>
          <a:p>
            <a:endParaRPr/>
          </a:p>
        </p:txBody>
      </p:sp>
      <p:sp>
        <p:nvSpPr>
          <p:cNvPr id="19" name="Google Shape;19;p4">
            <a:extLst>
              <a:ext uri="{FF2B5EF4-FFF2-40B4-BE49-F238E27FC236}">
                <a16:creationId xmlns:a16="http://schemas.microsoft.com/office/drawing/2014/main" id="{34B902BE-8FEC-4937-AA7D-7AE6F885AD1D}"/>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
    <p:spTree>
      <p:nvGrpSpPr>
        <p:cNvPr id="1" name=""/>
        <p:cNvGrpSpPr/>
        <p:nvPr/>
      </p:nvGrpSpPr>
      <p:grpSpPr>
        <a:xfrm>
          <a:off x="0" y="0"/>
          <a:ext cx="0" cy="0"/>
          <a:chOff x="0" y="0"/>
          <a:chExt cx="0" cy="0"/>
        </a:xfrm>
      </p:grpSpPr>
      <p:sp>
        <p:nvSpPr>
          <p:cNvPr id="21" name="Google Shape;21;p5">
            <a:extLst>
              <a:ext uri="{FF2B5EF4-FFF2-40B4-BE49-F238E27FC236}">
                <a16:creationId xmlns:a16="http://schemas.microsoft.com/office/drawing/2014/main" id="{8AF4A27F-3376-4C35-97DD-9CAF1081820E}"/>
              </a:ext>
            </a:extLst>
          </p:cNvPr>
          <p:cNvSpPr>
            <a:spLocks noGrp="1"/>
          </p:cNvSpPr>
          <p:nvPr>
            <p:ph type="title"/>
          </p:nvPr>
        </p:nvSpPr>
        <p:spPr>
          <a:xfrm>
            <a:off x="311700" y="445025"/>
            <a:ext cx="8520600" cy="572700"/>
          </a:xfrm>
          <a:prstGeom prst="rect">
            <a:avLst/>
          </a:prstGeom>
        </p:spPr>
        <p:txBody>
          <a:bodyPr spcFirstLastPara="1" wrap="square" lIns="91425" tIns="91425" rIns="91425" bIns="91425" anchor="t">
            <a:noAutofit/>
          </a:bodyPr>
          <a:lstStyle>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22" name="Google Shape;22;p5">
            <a:extLst>
              <a:ext uri="{FF2B5EF4-FFF2-40B4-BE49-F238E27FC236}">
                <a16:creationId xmlns:a16="http://schemas.microsoft.com/office/drawing/2014/main" id="{9751AF8D-DF52-4AFD-B57E-D33CF3BA5FC9}"/>
              </a:ext>
            </a:extLst>
          </p:cNvPr>
          <p:cNvSpPr>
            <a:spLocks noGrp="1"/>
          </p:cNvSpPr>
          <p:nvPr>
            <p:ph type="body" idx="1"/>
          </p:nvPr>
        </p:nvSpPr>
        <p:spPr>
          <a:xfrm>
            <a:off x="311700" y="1152475"/>
            <a:ext cx="3999900" cy="3416400"/>
          </a:xfrm>
          <a:prstGeom prst="rect">
            <a:avLst/>
          </a:prstGeom>
        </p:spPr>
        <p:txBody>
          <a:bodyPr spcFirstLastPara="1" wrap="square" lIns="91425" tIns="91425" rIns="91425" bIns="91425" anchor="t">
            <a:noAutofit/>
          </a:bodyPr>
          <a:lstStyle>
            <a:lvl1pPr marL="457200" indent="-317500">
              <a:spcBef>
                <a:spcPts val="0"/>
              </a:spcBef>
              <a:spcAft>
                <a:spcPts val="0"/>
              </a:spcAft>
              <a:buSzPts val="1400"/>
              <a:buChar char="●"/>
              <a:defRPr sz="1400"/>
            </a:lvl1pPr>
            <a:lvl2pPr marL="914400" indent="-304800">
              <a:spcBef>
                <a:spcPts val="1600"/>
              </a:spcBef>
              <a:spcAft>
                <a:spcPts val="0"/>
              </a:spcAft>
              <a:buSzPts val="1200"/>
              <a:buChar char="○"/>
              <a:defRPr sz="1200"/>
            </a:lvl2pPr>
            <a:lvl3pPr marL="1371600" indent="-304800">
              <a:spcBef>
                <a:spcPts val="1600"/>
              </a:spcBef>
              <a:spcAft>
                <a:spcPts val="0"/>
              </a:spcAft>
              <a:buSzPts val="1200"/>
              <a:buChar char="■"/>
              <a:defRPr sz="1200"/>
            </a:lvl3pPr>
            <a:lvl4pPr marL="1828800" indent="-304800">
              <a:spcBef>
                <a:spcPts val="1600"/>
              </a:spcBef>
              <a:spcAft>
                <a:spcPts val="0"/>
              </a:spcAft>
              <a:buSzPts val="1200"/>
              <a:buChar char="●"/>
              <a:defRPr sz="1200"/>
            </a:lvl4pPr>
            <a:lvl5pPr marL="2286000" indent="-304800">
              <a:spcBef>
                <a:spcPts val="1600"/>
              </a:spcBef>
              <a:spcAft>
                <a:spcPts val="0"/>
              </a:spcAft>
              <a:buSzPts val="1200"/>
              <a:buChar char="○"/>
              <a:defRPr sz="1200"/>
            </a:lvl5pPr>
            <a:lvl6pPr marL="2743200" indent="-304800">
              <a:spcBef>
                <a:spcPts val="1600"/>
              </a:spcBef>
              <a:spcAft>
                <a:spcPts val="0"/>
              </a:spcAft>
              <a:buSzPts val="1200"/>
              <a:buChar char="■"/>
              <a:defRPr sz="1200"/>
            </a:lvl6pPr>
            <a:lvl7pPr marL="3200400" indent="-304800">
              <a:spcBef>
                <a:spcPts val="1600"/>
              </a:spcBef>
              <a:spcAft>
                <a:spcPts val="0"/>
              </a:spcAft>
              <a:buSzPts val="1200"/>
              <a:buChar char="●"/>
              <a:defRPr sz="1200"/>
            </a:lvl7pPr>
            <a:lvl8pPr marL="3657600" indent="-304800">
              <a:spcBef>
                <a:spcPts val="1600"/>
              </a:spcBef>
              <a:spcAft>
                <a:spcPts val="0"/>
              </a:spcAft>
              <a:buSzPts val="1200"/>
              <a:buChar char="○"/>
              <a:defRPr sz="1200"/>
            </a:lvl8pPr>
            <a:lvl9pPr marL="4114800" indent="-304800">
              <a:spcBef>
                <a:spcPts val="1600"/>
              </a:spcBef>
              <a:spcAft>
                <a:spcPts val="1600"/>
              </a:spcAft>
              <a:buSzPts val="1200"/>
              <a:buChar char="■"/>
              <a:defRPr sz="1200"/>
            </a:lvl9pPr>
          </a:lstStyle>
          <a:p>
            <a:endParaRPr/>
          </a:p>
        </p:txBody>
      </p:sp>
      <p:sp>
        <p:nvSpPr>
          <p:cNvPr id="23" name="Google Shape;23;p5">
            <a:extLst>
              <a:ext uri="{FF2B5EF4-FFF2-40B4-BE49-F238E27FC236}">
                <a16:creationId xmlns:a16="http://schemas.microsoft.com/office/drawing/2014/main" id="{4188225A-5BF5-4A34-9AB3-5B964BCF1D11}"/>
              </a:ext>
            </a:extLst>
          </p:cNvPr>
          <p:cNvSpPr>
            <a:spLocks noGrp="1"/>
          </p:cNvSpPr>
          <p:nvPr>
            <p:ph type="body" idx="2"/>
          </p:nvPr>
        </p:nvSpPr>
        <p:spPr>
          <a:xfrm>
            <a:off x="4832400" y="1152475"/>
            <a:ext cx="3999900" cy="3416400"/>
          </a:xfrm>
          <a:prstGeom prst="rect">
            <a:avLst/>
          </a:prstGeom>
        </p:spPr>
        <p:txBody>
          <a:bodyPr spcFirstLastPara="1" wrap="square" lIns="91425" tIns="91425" rIns="91425" bIns="91425" anchor="t">
            <a:noAutofit/>
          </a:bodyPr>
          <a:lstStyle>
            <a:lvl1pPr marL="457200" indent="-317500">
              <a:spcBef>
                <a:spcPts val="0"/>
              </a:spcBef>
              <a:spcAft>
                <a:spcPts val="0"/>
              </a:spcAft>
              <a:buSzPts val="1400"/>
              <a:buChar char="●"/>
              <a:defRPr sz="1400"/>
            </a:lvl1pPr>
            <a:lvl2pPr marL="914400" indent="-304800">
              <a:spcBef>
                <a:spcPts val="1600"/>
              </a:spcBef>
              <a:spcAft>
                <a:spcPts val="0"/>
              </a:spcAft>
              <a:buSzPts val="1200"/>
              <a:buChar char="○"/>
              <a:defRPr sz="1200"/>
            </a:lvl2pPr>
            <a:lvl3pPr marL="1371600" indent="-304800">
              <a:spcBef>
                <a:spcPts val="1600"/>
              </a:spcBef>
              <a:spcAft>
                <a:spcPts val="0"/>
              </a:spcAft>
              <a:buSzPts val="1200"/>
              <a:buChar char="■"/>
              <a:defRPr sz="1200"/>
            </a:lvl3pPr>
            <a:lvl4pPr marL="1828800" indent="-304800">
              <a:spcBef>
                <a:spcPts val="1600"/>
              </a:spcBef>
              <a:spcAft>
                <a:spcPts val="0"/>
              </a:spcAft>
              <a:buSzPts val="1200"/>
              <a:buChar char="●"/>
              <a:defRPr sz="1200"/>
            </a:lvl4pPr>
            <a:lvl5pPr marL="2286000" indent="-304800">
              <a:spcBef>
                <a:spcPts val="1600"/>
              </a:spcBef>
              <a:spcAft>
                <a:spcPts val="0"/>
              </a:spcAft>
              <a:buSzPts val="1200"/>
              <a:buChar char="○"/>
              <a:defRPr sz="1200"/>
            </a:lvl5pPr>
            <a:lvl6pPr marL="2743200" indent="-304800">
              <a:spcBef>
                <a:spcPts val="1600"/>
              </a:spcBef>
              <a:spcAft>
                <a:spcPts val="0"/>
              </a:spcAft>
              <a:buSzPts val="1200"/>
              <a:buChar char="■"/>
              <a:defRPr sz="1200"/>
            </a:lvl6pPr>
            <a:lvl7pPr marL="3200400" indent="-304800">
              <a:spcBef>
                <a:spcPts val="1600"/>
              </a:spcBef>
              <a:spcAft>
                <a:spcPts val="0"/>
              </a:spcAft>
              <a:buSzPts val="1200"/>
              <a:buChar char="●"/>
              <a:defRPr sz="1200"/>
            </a:lvl7pPr>
            <a:lvl8pPr marL="3657600" indent="-304800">
              <a:spcBef>
                <a:spcPts val="1600"/>
              </a:spcBef>
              <a:spcAft>
                <a:spcPts val="0"/>
              </a:spcAft>
              <a:buSzPts val="1200"/>
              <a:buChar char="○"/>
              <a:defRPr sz="1200"/>
            </a:lvl8pPr>
            <a:lvl9pPr marL="4114800" indent="-304800">
              <a:spcBef>
                <a:spcPts val="1600"/>
              </a:spcBef>
              <a:spcAft>
                <a:spcPts val="1600"/>
              </a:spcAft>
              <a:buSzPts val="1200"/>
              <a:buChar char="■"/>
              <a:defRPr sz="1200"/>
            </a:lvl9pPr>
          </a:lstStyle>
          <a:p>
            <a:endParaRPr/>
          </a:p>
        </p:txBody>
      </p:sp>
      <p:sp>
        <p:nvSpPr>
          <p:cNvPr id="24" name="Google Shape;24;p5">
            <a:extLst>
              <a:ext uri="{FF2B5EF4-FFF2-40B4-BE49-F238E27FC236}">
                <a16:creationId xmlns:a16="http://schemas.microsoft.com/office/drawing/2014/main" id="{093154C2-21D2-48E9-AE91-280F24E61797}"/>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26" name="Google Shape;26;p6">
            <a:extLst>
              <a:ext uri="{FF2B5EF4-FFF2-40B4-BE49-F238E27FC236}">
                <a16:creationId xmlns:a16="http://schemas.microsoft.com/office/drawing/2014/main" id="{B75FCE20-662E-46C7-9F3E-2E933231D72B}"/>
              </a:ext>
            </a:extLst>
          </p:cNvPr>
          <p:cNvSpPr>
            <a:spLocks noGrp="1"/>
          </p:cNvSpPr>
          <p:nvPr>
            <p:ph type="title"/>
          </p:nvPr>
        </p:nvSpPr>
        <p:spPr>
          <a:xfrm>
            <a:off x="311700" y="445025"/>
            <a:ext cx="8520600" cy="572700"/>
          </a:xfrm>
          <a:prstGeom prst="rect">
            <a:avLst/>
          </a:prstGeom>
        </p:spPr>
        <p:txBody>
          <a:bodyPr spcFirstLastPara="1" wrap="square" lIns="91425" tIns="91425" rIns="91425" bIns="91425" anchor="t">
            <a:noAutofit/>
          </a:bodyPr>
          <a:lstStyle>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27" name="Google Shape;27;p6">
            <a:extLst>
              <a:ext uri="{FF2B5EF4-FFF2-40B4-BE49-F238E27FC236}">
                <a16:creationId xmlns:a16="http://schemas.microsoft.com/office/drawing/2014/main" id="{0F9BA6C1-E0A3-4DD3-B1EB-3F2DBD08690E}"/>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
        <p:cNvGrpSpPr/>
        <p:nvPr/>
      </p:nvGrpSpPr>
      <p:grpSpPr>
        <a:xfrm>
          <a:off x="0" y="0"/>
          <a:ext cx="0" cy="0"/>
          <a:chOff x="0" y="0"/>
          <a:chExt cx="0" cy="0"/>
        </a:xfrm>
      </p:grpSpPr>
      <p:sp>
        <p:nvSpPr>
          <p:cNvPr id="29" name="Google Shape;29;p7">
            <a:extLst>
              <a:ext uri="{FF2B5EF4-FFF2-40B4-BE49-F238E27FC236}">
                <a16:creationId xmlns:a16="http://schemas.microsoft.com/office/drawing/2014/main" id="{EE22F6C6-B19F-4CF3-83EF-FEA20F879DA5}"/>
              </a:ext>
            </a:extLst>
          </p:cNvPr>
          <p:cNvSpPr>
            <a:spLocks noGrp="1"/>
          </p:cNvSpPr>
          <p:nvPr>
            <p:ph type="title"/>
          </p:nvPr>
        </p:nvSpPr>
        <p:spPr>
          <a:xfrm>
            <a:off x="311700" y="555600"/>
            <a:ext cx="2808000" cy="755700"/>
          </a:xfrm>
          <a:prstGeom prst="rect">
            <a:avLst/>
          </a:prstGeom>
        </p:spPr>
        <p:txBody>
          <a:bodyPr spcFirstLastPara="1" wrap="square" lIns="91425" tIns="91425" rIns="91425" bIns="91425" anchor="b">
            <a:noAutofit/>
          </a:bodyPr>
          <a:lstStyle>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30" name="Google Shape;30;p7">
            <a:extLst>
              <a:ext uri="{FF2B5EF4-FFF2-40B4-BE49-F238E27FC236}">
                <a16:creationId xmlns:a16="http://schemas.microsoft.com/office/drawing/2014/main" id="{043401E9-2A47-4488-BC13-EE376BFFC830}"/>
              </a:ext>
            </a:extLst>
          </p:cNvPr>
          <p:cNvSpPr>
            <a:spLocks noGrp="1"/>
          </p:cNvSpPr>
          <p:nvPr>
            <p:ph type="body" idx="1"/>
          </p:nvPr>
        </p:nvSpPr>
        <p:spPr>
          <a:xfrm>
            <a:off x="311700" y="1389600"/>
            <a:ext cx="2808000" cy="3179400"/>
          </a:xfrm>
          <a:prstGeom prst="rect">
            <a:avLst/>
          </a:prstGeom>
        </p:spPr>
        <p:txBody>
          <a:bodyPr spcFirstLastPara="1" wrap="square" lIns="91425" tIns="91425" rIns="91425" bIns="91425" anchor="t">
            <a:noAutofit/>
          </a:bodyPr>
          <a:lstStyle>
            <a:lvl1pPr marL="457200" indent="-304800">
              <a:spcBef>
                <a:spcPts val="0"/>
              </a:spcBef>
              <a:spcAft>
                <a:spcPts val="0"/>
              </a:spcAft>
              <a:buSzPts val="1200"/>
              <a:buChar char="●"/>
              <a:defRPr sz="1200"/>
            </a:lvl1pPr>
            <a:lvl2pPr marL="914400" indent="-304800">
              <a:spcBef>
                <a:spcPts val="1600"/>
              </a:spcBef>
              <a:spcAft>
                <a:spcPts val="0"/>
              </a:spcAft>
              <a:buSzPts val="1200"/>
              <a:buChar char="○"/>
              <a:defRPr sz="1200"/>
            </a:lvl2pPr>
            <a:lvl3pPr marL="1371600" indent="-304800">
              <a:spcBef>
                <a:spcPts val="1600"/>
              </a:spcBef>
              <a:spcAft>
                <a:spcPts val="0"/>
              </a:spcAft>
              <a:buSzPts val="1200"/>
              <a:buChar char="■"/>
              <a:defRPr sz="1200"/>
            </a:lvl3pPr>
            <a:lvl4pPr marL="1828800" indent="-304800">
              <a:spcBef>
                <a:spcPts val="1600"/>
              </a:spcBef>
              <a:spcAft>
                <a:spcPts val="0"/>
              </a:spcAft>
              <a:buSzPts val="1200"/>
              <a:buChar char="●"/>
              <a:defRPr sz="1200"/>
            </a:lvl4pPr>
            <a:lvl5pPr marL="2286000" indent="-304800">
              <a:spcBef>
                <a:spcPts val="1600"/>
              </a:spcBef>
              <a:spcAft>
                <a:spcPts val="0"/>
              </a:spcAft>
              <a:buSzPts val="1200"/>
              <a:buChar char="○"/>
              <a:defRPr sz="1200"/>
            </a:lvl5pPr>
            <a:lvl6pPr marL="2743200" indent="-304800">
              <a:spcBef>
                <a:spcPts val="1600"/>
              </a:spcBef>
              <a:spcAft>
                <a:spcPts val="0"/>
              </a:spcAft>
              <a:buSzPts val="1200"/>
              <a:buChar char="■"/>
              <a:defRPr sz="1200"/>
            </a:lvl6pPr>
            <a:lvl7pPr marL="3200400" indent="-304800">
              <a:spcBef>
                <a:spcPts val="1600"/>
              </a:spcBef>
              <a:spcAft>
                <a:spcPts val="0"/>
              </a:spcAft>
              <a:buSzPts val="1200"/>
              <a:buChar char="●"/>
              <a:defRPr sz="1200"/>
            </a:lvl7pPr>
            <a:lvl8pPr marL="3657600" indent="-304800">
              <a:spcBef>
                <a:spcPts val="1600"/>
              </a:spcBef>
              <a:spcAft>
                <a:spcPts val="0"/>
              </a:spcAft>
              <a:buSzPts val="1200"/>
              <a:buChar char="○"/>
              <a:defRPr sz="1200"/>
            </a:lvl8pPr>
            <a:lvl9pPr marL="4114800" indent="-304800">
              <a:spcBef>
                <a:spcPts val="1600"/>
              </a:spcBef>
              <a:spcAft>
                <a:spcPts val="1600"/>
              </a:spcAft>
              <a:buSzPts val="1200"/>
              <a:buChar char="■"/>
              <a:defRPr sz="1200"/>
            </a:lvl9pPr>
          </a:lstStyle>
          <a:p>
            <a:endParaRPr/>
          </a:p>
        </p:txBody>
      </p:sp>
      <p:sp>
        <p:nvSpPr>
          <p:cNvPr id="31" name="Google Shape;31;p7">
            <a:extLst>
              <a:ext uri="{FF2B5EF4-FFF2-40B4-BE49-F238E27FC236}">
                <a16:creationId xmlns:a16="http://schemas.microsoft.com/office/drawing/2014/main" id="{B125DB92-8AAF-4B7C-8D8E-84B3DC7A450B}"/>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
        <p:cNvGrpSpPr/>
        <p:nvPr/>
      </p:nvGrpSpPr>
      <p:grpSpPr>
        <a:xfrm>
          <a:off x="0" y="0"/>
          <a:ext cx="0" cy="0"/>
          <a:chOff x="0" y="0"/>
          <a:chExt cx="0" cy="0"/>
        </a:xfrm>
      </p:grpSpPr>
      <p:sp>
        <p:nvSpPr>
          <p:cNvPr id="33" name="Google Shape;33;p8">
            <a:extLst>
              <a:ext uri="{FF2B5EF4-FFF2-40B4-BE49-F238E27FC236}">
                <a16:creationId xmlns:a16="http://schemas.microsoft.com/office/drawing/2014/main" id="{313951A6-CF3D-463C-BAE4-4E6F643BE311}"/>
              </a:ext>
            </a:extLst>
          </p:cNvPr>
          <p:cNvSpPr>
            <a:spLocks noGrp="1"/>
          </p:cNvSpPr>
          <p:nvPr>
            <p:ph type="title"/>
          </p:nvPr>
        </p:nvSpPr>
        <p:spPr>
          <a:xfrm>
            <a:off x="490250" y="450150"/>
            <a:ext cx="6367800" cy="4090800"/>
          </a:xfrm>
          <a:prstGeom prst="rect">
            <a:avLst/>
          </a:prstGeom>
        </p:spPr>
        <p:txBody>
          <a:bodyPr spcFirstLastPara="1" wrap="square" lIns="91425" tIns="91425" rIns="91425" bIns="91425" anchor="ctr">
            <a:noAutofit/>
          </a:bodyPr>
          <a:lstStyle>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a:endParaRPr/>
          </a:p>
        </p:txBody>
      </p:sp>
      <p:sp>
        <p:nvSpPr>
          <p:cNvPr id="34" name="Google Shape;34;p8">
            <a:extLst>
              <a:ext uri="{FF2B5EF4-FFF2-40B4-BE49-F238E27FC236}">
                <a16:creationId xmlns:a16="http://schemas.microsoft.com/office/drawing/2014/main" id="{08ECA8A5-4886-4F5B-8C86-AE49463F5D74}"/>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
        <p:cNvGrpSpPr/>
        <p:nvPr/>
      </p:nvGrpSpPr>
      <p:grpSpPr>
        <a:xfrm>
          <a:off x="0" y="0"/>
          <a:ext cx="0" cy="0"/>
          <a:chOff x="0" y="0"/>
          <a:chExt cx="0" cy="0"/>
        </a:xfrm>
      </p:grpSpPr>
      <p:sp>
        <p:nvSpPr>
          <p:cNvPr id="36" name="Google Shape;36;p9">
            <a:extLst>
              <a:ext uri="{FF2B5EF4-FFF2-40B4-BE49-F238E27FC236}">
                <a16:creationId xmlns:a16="http://schemas.microsoft.com/office/drawing/2014/main" id="{664C842F-962A-4483-91F4-50C691EC3E0B}"/>
              </a:ext>
            </a:extLst>
          </p:cNvPr>
          <p:cNvSpPr>
            <a:spLocks noGrp="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37" name="Google Shape;37;p9">
            <a:extLst>
              <a:ext uri="{FF2B5EF4-FFF2-40B4-BE49-F238E27FC236}">
                <a16:creationId xmlns:a16="http://schemas.microsoft.com/office/drawing/2014/main" id="{7B0F4CF2-50D3-4FF4-8E3E-4DD603AB0257}"/>
              </a:ext>
            </a:extLst>
          </p:cNvPr>
          <p:cNvSpPr>
            <a:spLocks noGrp="1"/>
          </p:cNvSpPr>
          <p:nvPr>
            <p:ph type="title"/>
          </p:nvPr>
        </p:nvSpPr>
        <p:spPr>
          <a:xfrm>
            <a:off x="265500" y="1233175"/>
            <a:ext cx="4045200" cy="1482300"/>
          </a:xfrm>
          <a:prstGeom prst="rect">
            <a:avLst/>
          </a:prstGeom>
        </p:spPr>
        <p:txBody>
          <a:bodyPr spcFirstLastPara="1" wrap="square" lIns="91425" tIns="91425" rIns="91425" bIns="91425" anchor="b">
            <a:noAutofit/>
          </a:bodyPr>
          <a:lstStyle>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a:endParaRPr/>
          </a:p>
        </p:txBody>
      </p:sp>
      <p:sp>
        <p:nvSpPr>
          <p:cNvPr id="38" name="Google Shape;38;p9">
            <a:extLst>
              <a:ext uri="{FF2B5EF4-FFF2-40B4-BE49-F238E27FC236}">
                <a16:creationId xmlns:a16="http://schemas.microsoft.com/office/drawing/2014/main" id="{018BD269-305F-4CA7-A002-79DA2A6D9CDB}"/>
              </a:ext>
            </a:extLst>
          </p:cNvPr>
          <p:cNvSpPr>
            <a:spLocks noGrp="1"/>
          </p:cNvSpPr>
          <p:nvPr>
            <p:ph type="subTitle" idx="1"/>
          </p:nvPr>
        </p:nvSpPr>
        <p:spPr>
          <a:xfrm>
            <a:off x="265500" y="2803075"/>
            <a:ext cx="4045200" cy="1235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a:endParaRPr/>
          </a:p>
        </p:txBody>
      </p:sp>
      <p:sp>
        <p:nvSpPr>
          <p:cNvPr id="39" name="Google Shape;39;p9">
            <a:extLst>
              <a:ext uri="{FF2B5EF4-FFF2-40B4-BE49-F238E27FC236}">
                <a16:creationId xmlns:a16="http://schemas.microsoft.com/office/drawing/2014/main" id="{098BC0D2-0CF8-4E32-A87E-CF21E073EC45}"/>
              </a:ext>
            </a:extLst>
          </p:cNvPr>
          <p:cNvSpPr>
            <a:spLocks noGrp="1"/>
          </p:cNvSpPr>
          <p:nvPr>
            <p:ph type="body" idx="2"/>
          </p:nvPr>
        </p:nvSpPr>
        <p:spPr>
          <a:xfrm>
            <a:off x="4939500" y="724075"/>
            <a:ext cx="3837000" cy="3695100"/>
          </a:xfrm>
          <a:prstGeom prst="rect">
            <a:avLst/>
          </a:prstGeom>
        </p:spPr>
        <p:txBody>
          <a:bodyPr spcFirstLastPara="1" wrap="square" lIns="91425" tIns="91425" rIns="91425" bIns="91425" anchor="ctr">
            <a:noAutofit/>
          </a:bodyPr>
          <a:lstStyle>
            <a:lvl1pPr marL="457200" indent="-342900">
              <a:spcBef>
                <a:spcPts val="0"/>
              </a:spcBef>
              <a:spcAft>
                <a:spcPts val="0"/>
              </a:spcAft>
              <a:buSzPts val="1800"/>
              <a:buChar char="●"/>
              <a:defRPr/>
            </a:lvl1pPr>
            <a:lvl2pPr marL="914400" indent="-317500">
              <a:spcBef>
                <a:spcPts val="1600"/>
              </a:spcBef>
              <a:spcAft>
                <a:spcPts val="0"/>
              </a:spcAft>
              <a:buSzPts val="1400"/>
              <a:buChar char="○"/>
              <a:defRPr/>
            </a:lvl2pPr>
            <a:lvl3pPr marL="1371600" indent="-317500">
              <a:spcBef>
                <a:spcPts val="1600"/>
              </a:spcBef>
              <a:spcAft>
                <a:spcPts val="0"/>
              </a:spcAft>
              <a:buSzPts val="1400"/>
              <a:buChar char="■"/>
              <a:defRPr/>
            </a:lvl3pPr>
            <a:lvl4pPr marL="1828800" indent="-317500">
              <a:spcBef>
                <a:spcPts val="1600"/>
              </a:spcBef>
              <a:spcAft>
                <a:spcPts val="0"/>
              </a:spcAft>
              <a:buSzPts val="1400"/>
              <a:buChar char="●"/>
              <a:defRPr/>
            </a:lvl4pPr>
            <a:lvl5pPr marL="2286000" indent="-317500">
              <a:spcBef>
                <a:spcPts val="1600"/>
              </a:spcBef>
              <a:spcAft>
                <a:spcPts val="0"/>
              </a:spcAft>
              <a:buSzPts val="1400"/>
              <a:buChar char="○"/>
              <a:defRPr/>
            </a:lvl5pPr>
            <a:lvl6pPr marL="2743200" indent="-317500">
              <a:spcBef>
                <a:spcPts val="1600"/>
              </a:spcBef>
              <a:spcAft>
                <a:spcPts val="0"/>
              </a:spcAft>
              <a:buSzPts val="1400"/>
              <a:buChar char="■"/>
              <a:defRPr/>
            </a:lvl6pPr>
            <a:lvl7pPr marL="3200400" indent="-317500">
              <a:spcBef>
                <a:spcPts val="1600"/>
              </a:spcBef>
              <a:spcAft>
                <a:spcPts val="0"/>
              </a:spcAft>
              <a:buSzPts val="1400"/>
              <a:buChar char="●"/>
              <a:defRPr/>
            </a:lvl7pPr>
            <a:lvl8pPr marL="3657600" indent="-317500">
              <a:spcBef>
                <a:spcPts val="1600"/>
              </a:spcBef>
              <a:spcAft>
                <a:spcPts val="0"/>
              </a:spcAft>
              <a:buSzPts val="1400"/>
              <a:buChar char="○"/>
              <a:defRPr/>
            </a:lvl8pPr>
            <a:lvl9pPr marL="4114800" indent="-317500">
              <a:spcBef>
                <a:spcPts val="1600"/>
              </a:spcBef>
              <a:spcAft>
                <a:spcPts val="1600"/>
              </a:spcAft>
              <a:buSzPts val="1400"/>
              <a:buChar char="■"/>
              <a:defRPr/>
            </a:lvl9pPr>
          </a:lstStyle>
          <a:p>
            <a:endParaRPr/>
          </a:p>
        </p:txBody>
      </p:sp>
      <p:sp>
        <p:nvSpPr>
          <p:cNvPr id="40" name="Google Shape;40;p9">
            <a:extLst>
              <a:ext uri="{FF2B5EF4-FFF2-40B4-BE49-F238E27FC236}">
                <a16:creationId xmlns:a16="http://schemas.microsoft.com/office/drawing/2014/main" id="{E176D3C4-7CFE-41EC-92ED-11DC81A9ED5A}"/>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
        <p:cNvGrpSpPr/>
        <p:nvPr/>
      </p:nvGrpSpPr>
      <p:grpSpPr>
        <a:xfrm>
          <a:off x="0" y="0"/>
          <a:ext cx="0" cy="0"/>
          <a:chOff x="0" y="0"/>
          <a:chExt cx="0" cy="0"/>
        </a:xfrm>
      </p:grpSpPr>
      <p:sp>
        <p:nvSpPr>
          <p:cNvPr id="42" name="Google Shape;42;p10">
            <a:extLst>
              <a:ext uri="{FF2B5EF4-FFF2-40B4-BE49-F238E27FC236}">
                <a16:creationId xmlns:a16="http://schemas.microsoft.com/office/drawing/2014/main" id="{703E3E7E-519B-4603-B164-6D65C79CA52A}"/>
              </a:ext>
            </a:extLst>
          </p:cNvPr>
          <p:cNvSpPr>
            <a:spLocks noGrp="1"/>
          </p:cNvSpPr>
          <p:nvPr>
            <p:ph type="body" idx="1"/>
          </p:nvPr>
        </p:nvSpPr>
        <p:spPr>
          <a:xfrm>
            <a:off x="311700" y="4230575"/>
            <a:ext cx="5998800" cy="605100"/>
          </a:xfrm>
          <a:prstGeom prst="rect">
            <a:avLst/>
          </a:prstGeom>
        </p:spPr>
        <p:txBody>
          <a:bodyPr spcFirstLastPara="1" wrap="square" lIns="91425" tIns="91425" rIns="91425" bIns="91425" anchor="ctr">
            <a:noAutofit/>
          </a:bodyPr>
          <a:lstStyle>
            <a:lvl1pPr marL="457200" indent="-228600">
              <a:lnSpc>
                <a:spcPct val="100000"/>
              </a:lnSpc>
              <a:spcBef>
                <a:spcPts val="0"/>
              </a:spcBef>
              <a:spcAft>
                <a:spcPts val="0"/>
              </a:spcAft>
              <a:buSzPts val="1800"/>
              <a:buNone/>
              <a:defRPr/>
            </a:lvl1pPr>
          </a:lstStyle>
          <a:p>
            <a:endParaRPr/>
          </a:p>
        </p:txBody>
      </p:sp>
      <p:sp>
        <p:nvSpPr>
          <p:cNvPr id="43" name="Google Shape;43;p10">
            <a:extLst>
              <a:ext uri="{FF2B5EF4-FFF2-40B4-BE49-F238E27FC236}">
                <a16:creationId xmlns:a16="http://schemas.microsoft.com/office/drawing/2014/main" id="{110AA31E-1AD1-49B8-8071-FB9C0CAA9CAA}"/>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
        <p:cNvGrpSpPr/>
        <p:nvPr/>
      </p:nvGrpSpPr>
      <p:grpSpPr>
        <a:xfrm>
          <a:off x="0" y="0"/>
          <a:ext cx="0" cy="0"/>
          <a:chOff x="0" y="0"/>
          <a:chExt cx="0" cy="0"/>
        </a:xfrm>
      </p:grpSpPr>
      <p:sp>
        <p:nvSpPr>
          <p:cNvPr id="45" name="Google Shape;45;p11">
            <a:extLst>
              <a:ext uri="{FF2B5EF4-FFF2-40B4-BE49-F238E27FC236}">
                <a16:creationId xmlns:a16="http://schemas.microsoft.com/office/drawing/2014/main" id="{65E41CE2-9F39-49ED-9E46-7D015D060473}"/>
              </a:ext>
            </a:extLst>
          </p:cNvPr>
          <p:cNvSpPr>
            <a:spLocks noGrp="1"/>
          </p:cNvSpPr>
          <p:nvPr>
            <p:ph type="title" hasCustomPrompt="1"/>
          </p:nvPr>
        </p:nvSpPr>
        <p:spPr>
          <a:xfrm>
            <a:off x="311700" y="1106125"/>
            <a:ext cx="8520600" cy="1963500"/>
          </a:xfrm>
          <a:prstGeom prst="rect">
            <a:avLst/>
          </a:prstGeom>
        </p:spPr>
        <p:txBody>
          <a:bodyPr spcFirstLastPara="1" wrap="square" lIns="91425" tIns="91425" rIns="91425" bIns="91425" anchor="b">
            <a:noAutofit/>
          </a:bodyPr>
          <a:lstStyle>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a:r>
              <a:t>xx%</a:t>
            </a:r>
          </a:p>
        </p:txBody>
      </p:sp>
      <p:sp>
        <p:nvSpPr>
          <p:cNvPr id="46" name="Google Shape;46;p11">
            <a:extLst>
              <a:ext uri="{FF2B5EF4-FFF2-40B4-BE49-F238E27FC236}">
                <a16:creationId xmlns:a16="http://schemas.microsoft.com/office/drawing/2014/main" id="{B58908D7-E595-434E-8978-AE2BA39E35AB}"/>
              </a:ext>
            </a:extLst>
          </p:cNvPr>
          <p:cNvSpPr>
            <a:spLocks noGrp="1"/>
          </p:cNvSpPr>
          <p:nvPr>
            <p:ph type="body" idx="1"/>
          </p:nvPr>
        </p:nvSpPr>
        <p:spPr>
          <a:xfrm>
            <a:off x="311700" y="3152225"/>
            <a:ext cx="8520600" cy="1300800"/>
          </a:xfrm>
          <a:prstGeom prst="rect">
            <a:avLst/>
          </a:prstGeom>
        </p:spPr>
        <p:txBody>
          <a:bodyPr spcFirstLastPara="1" wrap="square" lIns="91425" tIns="91425" rIns="91425" bIns="91425" anchor="t">
            <a:noAutofit/>
          </a:bodyPr>
          <a:lstStyle>
            <a:lvl1pPr marL="457200" indent="-342900" algn="ctr">
              <a:spcBef>
                <a:spcPts val="0"/>
              </a:spcBef>
              <a:spcAft>
                <a:spcPts val="0"/>
              </a:spcAft>
              <a:buSzPts val="1800"/>
              <a:buChar char="●"/>
              <a:defRPr/>
            </a:lvl1pPr>
            <a:lvl2pPr marL="914400" indent="-317500" algn="ctr">
              <a:spcBef>
                <a:spcPts val="1600"/>
              </a:spcBef>
              <a:spcAft>
                <a:spcPts val="0"/>
              </a:spcAft>
              <a:buSzPts val="1400"/>
              <a:buChar char="○"/>
              <a:defRPr/>
            </a:lvl2pPr>
            <a:lvl3pPr marL="1371600" indent="-317500" algn="ctr">
              <a:spcBef>
                <a:spcPts val="1600"/>
              </a:spcBef>
              <a:spcAft>
                <a:spcPts val="0"/>
              </a:spcAft>
              <a:buSzPts val="1400"/>
              <a:buChar char="■"/>
              <a:defRPr/>
            </a:lvl3pPr>
            <a:lvl4pPr marL="1828800" indent="-317500" algn="ctr">
              <a:spcBef>
                <a:spcPts val="1600"/>
              </a:spcBef>
              <a:spcAft>
                <a:spcPts val="0"/>
              </a:spcAft>
              <a:buSzPts val="1400"/>
              <a:buChar char="●"/>
              <a:defRPr/>
            </a:lvl4pPr>
            <a:lvl5pPr marL="2286000" indent="-317500" algn="ctr">
              <a:spcBef>
                <a:spcPts val="1600"/>
              </a:spcBef>
              <a:spcAft>
                <a:spcPts val="0"/>
              </a:spcAft>
              <a:buSzPts val="1400"/>
              <a:buChar char="○"/>
              <a:defRPr/>
            </a:lvl5pPr>
            <a:lvl6pPr marL="2743200" indent="-317500" algn="ctr">
              <a:spcBef>
                <a:spcPts val="1600"/>
              </a:spcBef>
              <a:spcAft>
                <a:spcPts val="0"/>
              </a:spcAft>
              <a:buSzPts val="1400"/>
              <a:buChar char="■"/>
              <a:defRPr/>
            </a:lvl6pPr>
            <a:lvl7pPr marL="3200400" indent="-317500" algn="ctr">
              <a:spcBef>
                <a:spcPts val="1600"/>
              </a:spcBef>
              <a:spcAft>
                <a:spcPts val="0"/>
              </a:spcAft>
              <a:buSzPts val="1400"/>
              <a:buChar char="●"/>
              <a:defRPr/>
            </a:lvl7pPr>
            <a:lvl8pPr marL="3657600" indent="-317500" algn="ctr">
              <a:spcBef>
                <a:spcPts val="1600"/>
              </a:spcBef>
              <a:spcAft>
                <a:spcPts val="0"/>
              </a:spcAft>
              <a:buSzPts val="1400"/>
              <a:buChar char="○"/>
              <a:defRPr/>
            </a:lvl8pPr>
            <a:lvl9pPr marL="4114800" indent="-317500" algn="ctr">
              <a:spcBef>
                <a:spcPts val="1600"/>
              </a:spcBef>
              <a:spcAft>
                <a:spcPts val="1600"/>
              </a:spcAft>
              <a:buSzPts val="1400"/>
              <a:buChar char="■"/>
              <a:defRPr/>
            </a:lvl9pPr>
          </a:lstStyle>
          <a:p>
            <a:endParaRPr/>
          </a:p>
        </p:txBody>
      </p:sp>
      <p:sp>
        <p:nvSpPr>
          <p:cNvPr id="47" name="Google Shape;47;p11">
            <a:extLst>
              <a:ext uri="{FF2B5EF4-FFF2-40B4-BE49-F238E27FC236}">
                <a16:creationId xmlns:a16="http://schemas.microsoft.com/office/drawing/2014/main" id="{5F7AE2A2-DF2B-412F-8F6F-4B0C1894A956}"/>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
        <p:cNvGrpSpPr/>
        <p:nvPr/>
      </p:nvGrpSpPr>
      <p:grpSpPr>
        <a:xfrm>
          <a:off x="0" y="0"/>
          <a:ext cx="0" cy="0"/>
          <a:chOff x="0" y="0"/>
          <a:chExt cx="0" cy="0"/>
        </a:xfrm>
      </p:grpSpPr>
      <p:sp>
        <p:nvSpPr>
          <p:cNvPr id="49" name="Google Shape;49;p12">
            <a:extLst>
              <a:ext uri="{FF2B5EF4-FFF2-40B4-BE49-F238E27FC236}">
                <a16:creationId xmlns:a16="http://schemas.microsoft.com/office/drawing/2014/main" id="{E427AB0B-C3A3-4735-9432-6E8AAEF16CB4}"/>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E8A71"/>
        </a:solid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3326D01F-76C5-4C12-90E1-2F9EEED23F83}"/>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Autofit/>
          </a:bodyPr>
          <a:lstStyle>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a:endParaRPr/>
          </a:p>
        </p:txBody>
      </p:sp>
      <p:sp>
        <p:nvSpPr>
          <p:cNvPr id="7" name="Google Shape;7;p1">
            <a:extLst>
              <a:ext uri="{FF2B5EF4-FFF2-40B4-BE49-F238E27FC236}">
                <a16:creationId xmlns:a16="http://schemas.microsoft.com/office/drawing/2014/main" id="{E22405A4-4938-497E-9A4F-C60D4E850631}"/>
              </a:ext>
            </a:extLst>
          </p:cNvPr>
          <p:cNvSpPr>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oAutofit/>
          </a:bodyPr>
          <a:lstStyle>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1600"/>
              </a:spcBef>
              <a:spcAft>
                <a:spcPts val="0"/>
              </a:spcAft>
              <a:buClr>
                <a:schemeClr val="dk2"/>
              </a:buClr>
              <a:buSzPts val="1400"/>
              <a:buChar char="○"/>
              <a:defRPr>
                <a:solidFill>
                  <a:schemeClr val="dk2"/>
                </a:solidFill>
              </a:defRPr>
            </a:lvl2pPr>
            <a:lvl3pPr marL="1371600" indent="-317500">
              <a:lnSpc>
                <a:spcPct val="115000"/>
              </a:lnSpc>
              <a:spcBef>
                <a:spcPts val="1600"/>
              </a:spcBef>
              <a:spcAft>
                <a:spcPts val="0"/>
              </a:spcAft>
              <a:buClr>
                <a:schemeClr val="dk2"/>
              </a:buClr>
              <a:buSzPts val="1400"/>
              <a:buChar char="■"/>
              <a:defRPr>
                <a:solidFill>
                  <a:schemeClr val="dk2"/>
                </a:solidFill>
              </a:defRPr>
            </a:lvl3pPr>
            <a:lvl4pPr marL="1828800" indent="-317500">
              <a:lnSpc>
                <a:spcPct val="115000"/>
              </a:lnSpc>
              <a:spcBef>
                <a:spcPts val="1600"/>
              </a:spcBef>
              <a:spcAft>
                <a:spcPts val="0"/>
              </a:spcAft>
              <a:buClr>
                <a:schemeClr val="dk2"/>
              </a:buClr>
              <a:buSzPts val="1400"/>
              <a:buChar char="●"/>
              <a:defRPr>
                <a:solidFill>
                  <a:schemeClr val="dk2"/>
                </a:solidFill>
              </a:defRPr>
            </a:lvl4pPr>
            <a:lvl5pPr marL="2286000" indent="-317500">
              <a:lnSpc>
                <a:spcPct val="115000"/>
              </a:lnSpc>
              <a:spcBef>
                <a:spcPts val="1600"/>
              </a:spcBef>
              <a:spcAft>
                <a:spcPts val="0"/>
              </a:spcAft>
              <a:buClr>
                <a:schemeClr val="dk2"/>
              </a:buClr>
              <a:buSzPts val="1400"/>
              <a:buChar char="○"/>
              <a:defRPr>
                <a:solidFill>
                  <a:schemeClr val="dk2"/>
                </a:solidFill>
              </a:defRPr>
            </a:lvl5pPr>
            <a:lvl6pPr marL="2743200" indent="-317500">
              <a:lnSpc>
                <a:spcPct val="115000"/>
              </a:lnSpc>
              <a:spcBef>
                <a:spcPts val="1600"/>
              </a:spcBef>
              <a:spcAft>
                <a:spcPts val="0"/>
              </a:spcAft>
              <a:buClr>
                <a:schemeClr val="dk2"/>
              </a:buClr>
              <a:buSzPts val="1400"/>
              <a:buChar char="■"/>
              <a:defRPr>
                <a:solidFill>
                  <a:schemeClr val="dk2"/>
                </a:solidFill>
              </a:defRPr>
            </a:lvl6pPr>
            <a:lvl7pPr marL="3200400" indent="-317500">
              <a:lnSpc>
                <a:spcPct val="115000"/>
              </a:lnSpc>
              <a:spcBef>
                <a:spcPts val="1600"/>
              </a:spcBef>
              <a:spcAft>
                <a:spcPts val="0"/>
              </a:spcAft>
              <a:buClr>
                <a:schemeClr val="dk2"/>
              </a:buClr>
              <a:buSzPts val="1400"/>
              <a:buChar char="●"/>
              <a:defRPr>
                <a:solidFill>
                  <a:schemeClr val="dk2"/>
                </a:solidFill>
              </a:defRPr>
            </a:lvl7pPr>
            <a:lvl8pPr marL="3657600" indent="-317500">
              <a:lnSpc>
                <a:spcPct val="115000"/>
              </a:lnSpc>
              <a:spcBef>
                <a:spcPts val="1600"/>
              </a:spcBef>
              <a:spcAft>
                <a:spcPts val="0"/>
              </a:spcAft>
              <a:buClr>
                <a:schemeClr val="dk2"/>
              </a:buClr>
              <a:buSzPts val="1400"/>
              <a:buChar char="○"/>
              <a:defRPr>
                <a:solidFill>
                  <a:schemeClr val="dk2"/>
                </a:solidFill>
              </a:defRPr>
            </a:lvl8pPr>
            <a:lvl9pPr marL="4114800"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a:extLst>
              <a:ext uri="{FF2B5EF4-FFF2-40B4-BE49-F238E27FC236}">
                <a16:creationId xmlns:a16="http://schemas.microsoft.com/office/drawing/2014/main" id="{C8FCB777-0E6E-4999-868A-5BE901D97269}"/>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Autofit/>
          </a:bodyPr>
          <a:lstStyle>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public.tableau.com/"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video.udacity-data.com/topher/2020/May/5ec44092_taxi-rides/taxi-rides.zip"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public.tableau.com/app/profile/christopher.ohara/viz/FlyberMVPLaunchStrategy_17861346231600/PickupOpportunityMap#1"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s://video.udacity-data.com/topher/2020/May/5ebc9060_user-research/user-research.csv"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Google Shape;54;p13">
            <a:extLst>
              <a:ext uri="{FF2B5EF4-FFF2-40B4-BE49-F238E27FC236}">
                <a16:creationId xmlns:a16="http://schemas.microsoft.com/office/drawing/2014/main" id="{8BC4A73F-40E4-45B3-BF74-8558C641841F}"/>
              </a:ext>
            </a:extLst>
          </p:cNvPr>
          <p:cNvSpPr>
            <a:spLocks noGrp="1"/>
          </p:cNvSpPr>
          <p:nvPr>
            <p:ph type="ctrTitle"/>
          </p:nvPr>
        </p:nvSpPr>
        <p:spPr>
          <a:xfrm>
            <a:off x="311700" y="1934550"/>
            <a:ext cx="8520600" cy="1274400"/>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3600">
                <a:solidFill>
                  <a:srgbClr val="434343"/>
                </a:solidFill>
                <a:latin typeface="Nunito Light"/>
                <a:ea typeface="Nunito Light"/>
                <a:cs typeface="Nunito Light"/>
              </a:rPr>
              <a:t>Data Product Manager Nanodegree</a:t>
            </a:r>
          </a:p>
          <a:p>
            <a:pPr marL="0" lvl="0" indent="0" algn="l">
              <a:spcBef>
                <a:spcPts val="0"/>
              </a:spcBef>
              <a:spcAft>
                <a:spcPts val="0"/>
              </a:spcAft>
              <a:buNone/>
            </a:pPr>
            <a:r>
              <a:rPr sz="1800">
                <a:solidFill>
                  <a:srgbClr val="434343"/>
                </a:solidFill>
                <a:latin typeface="Nunito Light"/>
                <a:ea typeface="Nunito Light"/>
                <a:cs typeface="Nunito Light"/>
              </a:rPr>
              <a:t>Applying Data Science to Product Management</a:t>
            </a:r>
          </a:p>
          <a:p>
            <a:pPr marL="0" lvl="0" indent="0" algn="l">
              <a:spcBef>
                <a:spcPts val="0"/>
              </a:spcBef>
              <a:spcAft>
                <a:spcPts val="0"/>
              </a:spcAft>
              <a:buNone/>
            </a:pPr>
            <a:r>
              <a:rPr sz="1800">
                <a:solidFill>
                  <a:srgbClr val="434343"/>
                </a:solidFill>
                <a:latin typeface="Nunito Light"/>
                <a:ea typeface="Nunito Light"/>
                <a:cs typeface="Nunito Light"/>
              </a:rPr>
              <a:t>Final Project: Developing an MVP Launch Strategy for a Flying Taxi Service</a:t>
            </a:r>
          </a:p>
        </p:txBody>
      </p:sp>
    </p:spTree>
    <p:extLst>
      <p:ext uri="{BB962C8B-B14F-4D97-AF65-F5344CB8AC3E}">
        <p14:creationId xmlns:p14="http://schemas.microsoft.com/office/powerpoint/2010/main" val="2093957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CD61"/>
        </a:solidFill>
        <a:effectLst/>
      </p:bgPr>
    </p:bg>
    <p:spTree>
      <p:nvGrpSpPr>
        <p:cNvPr id="1" name=""/>
        <p:cNvGrpSpPr/>
        <p:nvPr/>
      </p:nvGrpSpPr>
      <p:grpSpPr>
        <a:xfrm>
          <a:off x="0" y="0"/>
          <a:ext cx="0" cy="0"/>
          <a:chOff x="0" y="0"/>
          <a:chExt cx="0" cy="0"/>
        </a:xfrm>
      </p:grpSpPr>
      <p:sp>
        <p:nvSpPr>
          <p:cNvPr id="59" name="Google Shape;59;p14">
            <a:extLst>
              <a:ext uri="{FF2B5EF4-FFF2-40B4-BE49-F238E27FC236}">
                <a16:creationId xmlns:a16="http://schemas.microsoft.com/office/drawing/2014/main" id="{A52542F7-4D54-4352-B8DA-8994616D229A}"/>
              </a:ext>
            </a:extLst>
          </p:cNvPr>
          <p:cNvSpPr>
            <a:spLocks noGrp="1"/>
          </p:cNvSpPr>
          <p:nvPr>
            <p:ph type="ctrTitle"/>
          </p:nvPr>
        </p:nvSpPr>
        <p:spPr>
          <a:xfrm>
            <a:off x="311700" y="2253150"/>
            <a:ext cx="8520600" cy="637200"/>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3600">
                <a:solidFill>
                  <a:srgbClr val="434343"/>
                </a:solidFill>
                <a:latin typeface="Nunito Light"/>
                <a:ea typeface="Nunito Light"/>
                <a:cs typeface="Nunito Light"/>
              </a:rPr>
              <a:t>Welcome to your first week at Flyber</a:t>
            </a:r>
          </a:p>
          <a:p>
            <a:pPr marL="0" lvl="0" indent="0" algn="l">
              <a:spcBef>
                <a:spcPts val="0"/>
              </a:spcBef>
              <a:spcAft>
                <a:spcPts val="0"/>
              </a:spcAft>
              <a:buNone/>
            </a:pPr>
            <a:endParaRPr sz="3600">
              <a:solidFill>
                <a:srgbClr val="434343"/>
              </a:solidFill>
              <a:latin typeface="Nunito Light"/>
              <a:ea typeface="Nunito Light"/>
              <a:cs typeface="Nunito Light"/>
            </a:endParaRPr>
          </a:p>
        </p:txBody>
      </p:sp>
    </p:spTree>
    <p:extLst>
      <p:ext uri="{BB962C8B-B14F-4D97-AF65-F5344CB8AC3E}">
        <p14:creationId xmlns:p14="http://schemas.microsoft.com/office/powerpoint/2010/main" val="868388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CD61"/>
        </a:solidFill>
        <a:effectLst/>
      </p:bgPr>
    </p:bg>
    <p:spTree>
      <p:nvGrpSpPr>
        <p:cNvPr id="1" name=""/>
        <p:cNvGrpSpPr/>
        <p:nvPr/>
      </p:nvGrpSpPr>
      <p:grpSpPr>
        <a:xfrm>
          <a:off x="0" y="0"/>
          <a:ext cx="0" cy="0"/>
          <a:chOff x="0" y="0"/>
          <a:chExt cx="0" cy="0"/>
        </a:xfrm>
      </p:grpSpPr>
      <p:pic>
        <p:nvPicPr>
          <p:cNvPr id="2" name="Google Shape;64;p15"/>
          <p:cNvPicPr>
            <a:picLocks noChangeAspect="1"/>
          </p:cNvPicPr>
          <p:nvPr/>
        </p:nvPicPr>
        <p:blipFill>
          <a:blip r:embed="rId3">
            <a:alphaModFix/>
          </a:blip>
          <a:stretch>
            <a:fillRect/>
          </a:stretch>
        </p:blipFill>
        <p:spPr>
          <a:xfrm>
            <a:off x="3753638" y="2124563"/>
            <a:ext cx="1636725" cy="894375"/>
          </a:xfrm>
          <a:prstGeom prst="rect">
            <a:avLst/>
          </a:prstGeom>
          <a:ln>
            <a:noFill/>
          </a:ln>
        </p:spPr>
      </p:pic>
    </p:spTree>
    <p:extLst>
      <p:ext uri="{BB962C8B-B14F-4D97-AF65-F5344CB8AC3E}">
        <p14:creationId xmlns:p14="http://schemas.microsoft.com/office/powerpoint/2010/main" val="910090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CD61"/>
        </a:solidFill>
        <a:effectLst/>
      </p:bgPr>
    </p:bg>
    <p:spTree>
      <p:nvGrpSpPr>
        <p:cNvPr id="1" name=""/>
        <p:cNvGrpSpPr/>
        <p:nvPr/>
      </p:nvGrpSpPr>
      <p:grpSpPr>
        <a:xfrm>
          <a:off x="0" y="0"/>
          <a:ext cx="0" cy="0"/>
          <a:chOff x="0" y="0"/>
          <a:chExt cx="0" cy="0"/>
        </a:xfrm>
      </p:grpSpPr>
      <p:sp>
        <p:nvSpPr>
          <p:cNvPr id="69" name="Google Shape;69;p16">
            <a:extLst>
              <a:ext uri="{FF2B5EF4-FFF2-40B4-BE49-F238E27FC236}">
                <a16:creationId xmlns:a16="http://schemas.microsoft.com/office/drawing/2014/main" id="{D7434921-13A7-453B-82C4-B2DEDDB1F6A0}"/>
              </a:ext>
            </a:extLst>
          </p:cNvPr>
          <p:cNvSpPr>
            <a:spLocks noGrp="1"/>
          </p:cNvSpPr>
          <p:nvPr>
            <p:ph type="ctrTitle"/>
          </p:nvPr>
        </p:nvSpPr>
        <p:spPr>
          <a:xfrm>
            <a:off x="329050" y="1665450"/>
            <a:ext cx="7532700" cy="1812600"/>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1800">
                <a:solidFill>
                  <a:srgbClr val="434343"/>
                </a:solidFill>
                <a:latin typeface="Nunito Light"/>
                <a:ea typeface="Nunito Light"/>
                <a:cs typeface="Nunito Light"/>
              </a:rPr>
              <a:t>In this project, you will apply the skills acquired in this course to create the MVP launch strategy for the first flying car taxi service, Flyber, in one of the most congested cities in America -- New York City. </a:t>
            </a: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r>
              <a:rPr sz="1800">
                <a:solidFill>
                  <a:srgbClr val="434343"/>
                </a:solidFill>
                <a:latin typeface="Nunito Light"/>
                <a:ea typeface="Nunito Light"/>
                <a:cs typeface="Nunito Light"/>
              </a:rPr>
              <a:t>You are responsible for bringing the first flying car taxi service to market by analyzing data and building a product proposal. </a:t>
            </a:r>
          </a:p>
          <a:p>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2084927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CD61"/>
        </a:solidFill>
        <a:effectLst/>
      </p:bgPr>
    </p:bg>
    <p:spTree>
      <p:nvGrpSpPr>
        <p:cNvPr id="1" name=""/>
        <p:cNvGrpSpPr/>
        <p:nvPr/>
      </p:nvGrpSpPr>
      <p:grpSpPr>
        <a:xfrm>
          <a:off x="0" y="0"/>
          <a:ext cx="0" cy="0"/>
          <a:chOff x="0" y="0"/>
          <a:chExt cx="0" cy="0"/>
        </a:xfrm>
      </p:grpSpPr>
      <p:sp>
        <p:nvSpPr>
          <p:cNvPr id="74" name="Google Shape;74;p17">
            <a:extLst>
              <a:ext uri="{FF2B5EF4-FFF2-40B4-BE49-F238E27FC236}">
                <a16:creationId xmlns:a16="http://schemas.microsoft.com/office/drawing/2014/main" id="{F3DCEEB9-3B11-4072-B7C3-0655405A3FB3}"/>
              </a:ext>
            </a:extLst>
          </p:cNvPr>
          <p:cNvSpPr>
            <a:spLocks noGrp="1"/>
          </p:cNvSpPr>
          <p:nvPr>
            <p:ph type="ctrTitle"/>
          </p:nvPr>
        </p:nvSpPr>
        <p:spPr>
          <a:xfrm>
            <a:off x="348950" y="1788150"/>
            <a:ext cx="7532700" cy="1567200"/>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1800">
                <a:solidFill>
                  <a:srgbClr val="434343"/>
                </a:solidFill>
                <a:latin typeface="Nunito Light"/>
                <a:ea typeface="Nunito Light"/>
                <a:cs typeface="Nunito Light"/>
              </a:rPr>
              <a:t>You will need to use the SQL workspace provided in the Classroom, and </a:t>
            </a:r>
            <a:r>
              <a:rPr sz="1800" u="sng">
                <a:solidFill>
                  <a:schemeClr val="hlink"/>
                </a:solidFill>
                <a:latin typeface="Nunito Light"/>
                <a:ea typeface="Nunito Light"/>
                <a:cs typeface="Nunito Light"/>
                <a:hlinkClick r:id="rId3"/>
              </a:rPr>
              <a:t>Tableau Public</a:t>
            </a:r>
            <a:r>
              <a:rPr sz="1800">
                <a:solidFill>
                  <a:srgbClr val="434343"/>
                </a:solidFill>
                <a:latin typeface="Nunito Light"/>
                <a:ea typeface="Nunito Light"/>
                <a:cs typeface="Nunito Light"/>
              </a:rPr>
              <a:t>, in order to successfully complete the project. </a:t>
            </a: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Clr>
                <a:schemeClr val="dk1"/>
              </a:buClr>
              <a:buSzPts val="1100"/>
              <a:buFont typeface="Arial"/>
              <a:buNone/>
            </a:pPr>
            <a:r>
              <a:rPr sz="1800">
                <a:solidFill>
                  <a:srgbClr val="434343"/>
                </a:solidFill>
                <a:latin typeface="Nunito Light"/>
                <a:ea typeface="Nunito Light"/>
                <a:cs typeface="Nunito Light"/>
              </a:rPr>
              <a:t>You'll present your answers, findings, and insights in the Answer Slides found in this deck. Feel free to include any additional slides, if needed. </a:t>
            </a:r>
          </a:p>
          <a:p>
            <a:pPr marL="0" lvl="0" indent="0" algn="l">
              <a:spcBef>
                <a:spcPts val="0"/>
              </a:spcBef>
              <a:spcAft>
                <a:spcPts val="0"/>
              </a:spcAft>
              <a:buClr>
                <a:schemeClr val="dk1"/>
              </a:buClr>
              <a:buSzPts val="1100"/>
              <a:buFont typeface="Arial"/>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858211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DA4AB"/>
        </a:solidFill>
        <a:effectLst/>
      </p:bgPr>
    </p:bg>
    <p:spTree>
      <p:nvGrpSpPr>
        <p:cNvPr id="1" name=""/>
        <p:cNvGrpSpPr/>
        <p:nvPr/>
      </p:nvGrpSpPr>
      <p:grpSpPr>
        <a:xfrm>
          <a:off x="0" y="0"/>
          <a:ext cx="0" cy="0"/>
          <a:chOff x="0" y="0"/>
          <a:chExt cx="0" cy="0"/>
        </a:xfrm>
      </p:grpSpPr>
      <p:sp>
        <p:nvSpPr>
          <p:cNvPr id="79" name="Google Shape;79;p18">
            <a:extLst>
              <a:ext uri="{FF2B5EF4-FFF2-40B4-BE49-F238E27FC236}">
                <a16:creationId xmlns:a16="http://schemas.microsoft.com/office/drawing/2014/main" id="{6520EA69-CED7-4C4A-9F3B-EEC5C8EEE719}"/>
              </a:ext>
            </a:extLst>
          </p:cNvPr>
          <p:cNvSpPr>
            <a:spLocks noGrp="1"/>
          </p:cNvSpPr>
          <p:nvPr>
            <p:ph type="ctrTitle"/>
          </p:nvPr>
        </p:nvSpPr>
        <p:spPr>
          <a:xfrm>
            <a:off x="311700" y="2253150"/>
            <a:ext cx="8520600" cy="637200"/>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3600">
                <a:solidFill>
                  <a:srgbClr val="FFFFFF"/>
                </a:solidFill>
                <a:latin typeface="Nunito Light"/>
                <a:ea typeface="Nunito Light"/>
                <a:cs typeface="Nunito Light"/>
              </a:rPr>
              <a:t>Section 1: Data Exploration</a:t>
            </a:r>
          </a:p>
          <a:p>
            <a:pPr marL="0" lvl="0" indent="0" algn="l">
              <a:spcBef>
                <a:spcPts val="0"/>
              </a:spcBef>
              <a:spcAft>
                <a:spcPts val="0"/>
              </a:spcAft>
              <a:buNone/>
            </a:pPr>
            <a:endParaRPr sz="3600">
              <a:solidFill>
                <a:srgbClr val="434343"/>
              </a:solidFill>
              <a:latin typeface="Nunito Light"/>
              <a:ea typeface="Nunito Light"/>
              <a:cs typeface="Nunito Light"/>
            </a:endParaRPr>
          </a:p>
        </p:txBody>
      </p:sp>
    </p:spTree>
    <p:extLst>
      <p:ext uri="{BB962C8B-B14F-4D97-AF65-F5344CB8AC3E}">
        <p14:creationId xmlns:p14="http://schemas.microsoft.com/office/powerpoint/2010/main" val="1877037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DA4AB"/>
        </a:solidFill>
        <a:effectLst/>
      </p:bgPr>
    </p:bg>
    <p:spTree>
      <p:nvGrpSpPr>
        <p:cNvPr id="1" name=""/>
        <p:cNvGrpSpPr/>
        <p:nvPr/>
      </p:nvGrpSpPr>
      <p:grpSpPr>
        <a:xfrm>
          <a:off x="0" y="0"/>
          <a:ext cx="0" cy="0"/>
          <a:chOff x="0" y="0"/>
          <a:chExt cx="0" cy="0"/>
        </a:xfrm>
      </p:grpSpPr>
      <p:sp>
        <p:nvSpPr>
          <p:cNvPr id="84" name="Google Shape;84;p19">
            <a:extLst>
              <a:ext uri="{FF2B5EF4-FFF2-40B4-BE49-F238E27FC236}">
                <a16:creationId xmlns:a16="http://schemas.microsoft.com/office/drawing/2014/main" id="{7EABE8B7-F7B8-420D-8A19-1351D08758BB}"/>
              </a:ext>
            </a:extLst>
          </p:cNvPr>
          <p:cNvSpPr>
            <a:spLocks noGrp="1"/>
          </p:cNvSpPr>
          <p:nvPr>
            <p:ph type="ctrTitle"/>
          </p:nvPr>
        </p:nvSpPr>
        <p:spPr>
          <a:xfrm>
            <a:off x="341975" y="1656600"/>
            <a:ext cx="7532700" cy="1830300"/>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1800">
                <a:solidFill>
                  <a:srgbClr val="FFFFFF"/>
                </a:solidFill>
                <a:latin typeface="Nunito Light"/>
                <a:ea typeface="Nunito Light"/>
                <a:cs typeface="Nunito Light"/>
              </a:rPr>
              <a:t>Back to the basics of product management, identify your customer and their pain points:</a:t>
            </a:r>
          </a:p>
          <a:p>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What are taxis used for?</a:t>
            </a:r>
          </a:p>
          <a:p>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What are the characteristics of the users that leverage them?</a:t>
            </a:r>
          </a:p>
          <a:p>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What are existing pain points with taxis?</a:t>
            </a:r>
          </a:p>
          <a:p>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What are the existing pain points with digital ride-sharing services?</a:t>
            </a: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1882485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DA4AB"/>
        </a:solidFill>
        <a:effectLst/>
      </p:bgPr>
    </p:bg>
    <p:spTree>
      <p:nvGrpSpPr>
        <p:cNvPr id="1" name=""/>
        <p:cNvGrpSpPr/>
        <p:nvPr/>
      </p:nvGrpSpPr>
      <p:grpSpPr>
        <a:xfrm>
          <a:off x="0" y="0"/>
          <a:ext cx="0" cy="0"/>
          <a:chOff x="0" y="0"/>
          <a:chExt cx="0" cy="0"/>
        </a:xfrm>
      </p:grpSpPr>
      <p:sp>
        <p:nvSpPr>
          <p:cNvPr id="89" name="Google Shape;89;p20">
            <a:extLst>
              <a:ext uri="{FF2B5EF4-FFF2-40B4-BE49-F238E27FC236}">
                <a16:creationId xmlns:a16="http://schemas.microsoft.com/office/drawing/2014/main" id="{9B9614B5-ADEE-4DA3-A39C-6FE19C180616}"/>
              </a:ext>
            </a:extLst>
          </p:cNvPr>
          <p:cNvSpPr>
            <a:spLocks noGrp="1"/>
          </p:cNvSpPr>
          <p:nvPr>
            <p:ph type="ctrTitle"/>
          </p:nvPr>
        </p:nvSpPr>
        <p:spPr>
          <a:xfrm>
            <a:off x="262033" y="177832"/>
            <a:ext cx="8520589" cy="637223"/>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3600">
                <a:solidFill>
                  <a:schemeClr val="lt1"/>
                </a:solidFill>
                <a:latin typeface="Nunito Light"/>
                <a:ea typeface="Nunito Light"/>
                <a:cs typeface="Nunito Light"/>
              </a:rPr>
              <a:t>Ground travel creates uncertainty</a:t>
            </a: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90" name="Google Shape;90;p20">
            <a:extLst>
              <a:ext uri="{FF2B5EF4-FFF2-40B4-BE49-F238E27FC236}">
                <a16:creationId xmlns:a16="http://schemas.microsoft.com/office/drawing/2014/main" id="{BE1A8E79-54FE-4663-A14D-97D4CF2081D4}"/>
              </a:ext>
            </a:extLst>
          </p:cNvPr>
          <p:cNvSpPr>
            <a:spLocks noGrp="1"/>
          </p:cNvSpPr>
          <p:nvPr>
            <p:ph type="ctrTitle"/>
          </p:nvPr>
        </p:nvSpPr>
        <p:spPr>
          <a:xfrm>
            <a:off x="329089" y="1000125"/>
            <a:ext cx="8477250" cy="3857625"/>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1800">
                <a:solidFill>
                  <a:srgbClr val="FFFFFF"/>
                </a:solidFill>
                <a:latin typeface="Nunito Light"/>
                <a:ea typeface="Nunito Light"/>
                <a:cs typeface="Nunito Light"/>
              </a:rPr>
              <a:t>USES: commuting, airport transfers, appointments, nightlife, tourism, and transit-gap trips.
USERS: residents and visitors without cars, time-sensitive riders, and people needing door-to-door access.
TAXI PAINS: road congestion, uncertain arrival time, variable availability, fare opacity, and driver idle/deadhead time.
RIDESHARE PAINS: surge pricing, cancellations, pickup mismatch, driver pay volatility, curb congestion, and privacy concerns.</a:t>
            </a: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899807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9AA7"/>
        </a:solidFill>
        <a:effectLst/>
      </p:bgPr>
    </p:bg>
    <p:spTree>
      <p:nvGrpSpPr>
        <p:cNvPr id="1" name=""/>
        <p:cNvGrpSpPr/>
        <p:nvPr/>
      </p:nvGrpSpPr>
      <p:grpSpPr>
        <a:xfrm>
          <a:off x="0" y="0"/>
          <a:ext cx="0" cy="0"/>
          <a:chOff x="0" y="0"/>
          <a:chExt cx="0" cy="0"/>
        </a:xfrm>
      </p:grpSpPr>
      <p:sp>
        <p:nvSpPr>
          <p:cNvPr id="95" name="Google Shape;95;p21">
            <a:extLst>
              <a:ext uri="{FF2B5EF4-FFF2-40B4-BE49-F238E27FC236}">
                <a16:creationId xmlns:a16="http://schemas.microsoft.com/office/drawing/2014/main" id="{975C97C7-8400-4CA5-ABC4-52B9D4083A04}"/>
              </a:ext>
            </a:extLst>
          </p:cNvPr>
          <p:cNvSpPr>
            <a:spLocks noGrp="1"/>
          </p:cNvSpPr>
          <p:nvPr>
            <p:ph type="ctrTitle"/>
          </p:nvPr>
        </p:nvSpPr>
        <p:spPr>
          <a:xfrm>
            <a:off x="329050" y="1673550"/>
            <a:ext cx="7532700" cy="1796400"/>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1800">
                <a:solidFill>
                  <a:srgbClr val="FFFFFF"/>
                </a:solidFill>
                <a:latin typeface="Nunito Light"/>
                <a:ea typeface="Nunito Light"/>
                <a:cs typeface="Nunito Light"/>
              </a:rPr>
              <a:t>What user improvements do you hypothesize a flying taxi service would have over the existing state of taxis today? </a:t>
            </a: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r>
              <a:rPr sz="1800">
                <a:solidFill>
                  <a:srgbClr val="FFFFFF"/>
                </a:solidFill>
                <a:latin typeface="Nunito Light"/>
                <a:ea typeface="Nunito Light"/>
                <a:cs typeface="Nunito Light"/>
              </a:rPr>
              <a:t>What market improvements do you hypothesize a flying taxi service would have the existing taxi service industry &amp; physical road infrastructure today?</a:t>
            </a: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2007029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9AA7"/>
        </a:solidFill>
        <a:effectLst/>
      </p:bgPr>
    </p:bg>
    <p:spTree>
      <p:nvGrpSpPr>
        <p:cNvPr id="1" name=""/>
        <p:cNvGrpSpPr/>
        <p:nvPr/>
      </p:nvGrpSpPr>
      <p:grpSpPr>
        <a:xfrm>
          <a:off x="0" y="0"/>
          <a:ext cx="0" cy="0"/>
          <a:chOff x="0" y="0"/>
          <a:chExt cx="0" cy="0"/>
        </a:xfrm>
      </p:grpSpPr>
      <p:sp>
        <p:nvSpPr>
          <p:cNvPr id="100" name="Google Shape;100;p22">
            <a:extLst>
              <a:ext uri="{FF2B5EF4-FFF2-40B4-BE49-F238E27FC236}">
                <a16:creationId xmlns:a16="http://schemas.microsoft.com/office/drawing/2014/main" id="{02787A16-45AA-4890-AC0B-8633763F6B93}"/>
              </a:ext>
            </a:extLst>
          </p:cNvPr>
          <p:cNvSpPr>
            <a:spLocks noGrp="1"/>
          </p:cNvSpPr>
          <p:nvPr>
            <p:ph type="ctrTitle"/>
          </p:nvPr>
        </p:nvSpPr>
        <p:spPr>
          <a:xfrm>
            <a:off x="262033" y="177832"/>
            <a:ext cx="8520589" cy="637223"/>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3600">
                <a:solidFill>
                  <a:schemeClr val="lt1"/>
                </a:solidFill>
                <a:latin typeface="Nunito Light"/>
                <a:ea typeface="Nunito Light"/>
                <a:cs typeface="Nunito Light"/>
              </a:rPr>
              <a:t>Flyber's advantage is time certainty</a:t>
            </a: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101" name="Google Shape;101;p22">
            <a:extLst>
              <a:ext uri="{FF2B5EF4-FFF2-40B4-BE49-F238E27FC236}">
                <a16:creationId xmlns:a16="http://schemas.microsoft.com/office/drawing/2014/main" id="{88B6CD85-9978-4F3C-ACBE-1D9205C33E8A}"/>
              </a:ext>
            </a:extLst>
          </p:cNvPr>
          <p:cNvSpPr>
            <a:spLocks noGrp="1"/>
          </p:cNvSpPr>
          <p:nvPr>
            <p:ph type="ctrTitle"/>
          </p:nvPr>
        </p:nvSpPr>
        <p:spPr>
          <a:xfrm>
            <a:off x="329089" y="1000125"/>
            <a:ext cx="8477250" cy="3857625"/>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1800">
                <a:solidFill>
                  <a:srgbClr val="FFFFFF"/>
                </a:solidFill>
                <a:latin typeface="Nunito Light"/>
                <a:ea typeface="Nunito Light"/>
                <a:cs typeface="Nunito Light"/>
              </a:rPr>
              <a:t>USER HYPOTHESIS: bypassing road bottlenecks will reduce travel-time variance on short, slow trips and make airport/business-district transfers more predictable.
DRIVER/PILOT HYPOTHESIS: scheduled nodes and reservations can reduce curb searching, cancellations, and unpaid deadhead time.
MARKET HYPOTHESIS: shifting selected trips off roads may reduce localized curb and road demand, but could create noise, airspace, safety, and access externalities.
These are testable hypotheses, not promised outcomes.</a:t>
            </a: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1710937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E8A71"/>
        </a:solidFill>
        <a:effectLst/>
      </p:bgPr>
    </p:bg>
    <p:spTree>
      <p:nvGrpSpPr>
        <p:cNvPr id="1" name=""/>
        <p:cNvGrpSpPr/>
        <p:nvPr/>
      </p:nvGrpSpPr>
      <p:grpSpPr>
        <a:xfrm>
          <a:off x="0" y="0"/>
          <a:ext cx="0" cy="0"/>
          <a:chOff x="0" y="0"/>
          <a:chExt cx="0" cy="0"/>
        </a:xfrm>
      </p:grpSpPr>
      <p:sp>
        <p:nvSpPr>
          <p:cNvPr id="106" name="Google Shape;106;p23">
            <a:extLst>
              <a:ext uri="{FF2B5EF4-FFF2-40B4-BE49-F238E27FC236}">
                <a16:creationId xmlns:a16="http://schemas.microsoft.com/office/drawing/2014/main" id="{2F7E65FD-EA40-4543-AE51-5537CDA1D63B}"/>
              </a:ext>
            </a:extLst>
          </p:cNvPr>
          <p:cNvSpPr>
            <a:spLocks noGrp="1"/>
          </p:cNvSpPr>
          <p:nvPr>
            <p:ph type="ctrTitle"/>
          </p:nvPr>
        </p:nvSpPr>
        <p:spPr>
          <a:xfrm>
            <a:off x="352475" y="1233900"/>
            <a:ext cx="7532700" cy="2675700"/>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1800">
                <a:solidFill>
                  <a:srgbClr val="434343"/>
                </a:solidFill>
                <a:latin typeface="Nunito Light"/>
                <a:ea typeface="Nunito Light"/>
                <a:cs typeface="Nunito Light"/>
              </a:rPr>
              <a:t>Upload </a:t>
            </a:r>
            <a:r>
              <a:rPr sz="1800" u="sng">
                <a:solidFill>
                  <a:schemeClr val="hlink"/>
                </a:solidFill>
                <a:latin typeface="Nunito Light"/>
                <a:ea typeface="Nunito Light"/>
                <a:cs typeface="Nunito Light"/>
                <a:hlinkClick r:id="rId3"/>
              </a:rPr>
              <a:t>this dataset</a:t>
            </a:r>
            <a:r>
              <a:rPr sz="1800">
                <a:solidFill>
                  <a:srgbClr val="434343"/>
                </a:solidFill>
                <a:latin typeface="Nunito Light"/>
                <a:ea typeface="Nunito Light"/>
                <a:cs typeface="Nunito Light"/>
              </a:rPr>
              <a:t> into Tableau Online.  </a:t>
            </a: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r>
              <a:rPr sz="1800">
                <a:solidFill>
                  <a:srgbClr val="434343"/>
                </a:solidFill>
                <a:latin typeface="Nunito Light"/>
                <a:ea typeface="Nunito Light"/>
                <a:cs typeface="Nunito Light"/>
              </a:rPr>
              <a:t>Ensure the fields are parsed correctly; field headers are included in the first row of the CSV. </a:t>
            </a:r>
            <a:br/>
            <a:br/>
            <a:r>
              <a:rPr sz="1800">
                <a:solidFill>
                  <a:srgbClr val="434343"/>
                </a:solidFill>
                <a:latin typeface="Nunito Light"/>
                <a:ea typeface="Nunito Light"/>
                <a:cs typeface="Nunito Light"/>
              </a:rPr>
              <a:t>Let's begin exploration!</a:t>
            </a: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1664630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E8A71"/>
        </a:solidFill>
        <a:effectLst/>
      </p:bgPr>
    </p:bg>
    <p:spTree>
      <p:nvGrpSpPr>
        <p:cNvPr id="1" name=""/>
        <p:cNvGrpSpPr/>
        <p:nvPr/>
      </p:nvGrpSpPr>
      <p:grpSpPr>
        <a:xfrm>
          <a:off x="0" y="0"/>
          <a:ext cx="0" cy="0"/>
          <a:chOff x="0" y="0"/>
          <a:chExt cx="0" cy="0"/>
        </a:xfrm>
      </p:grpSpPr>
      <p:sp>
        <p:nvSpPr>
          <p:cNvPr id="111" name="Google Shape;111;p24">
            <a:extLst>
              <a:ext uri="{FF2B5EF4-FFF2-40B4-BE49-F238E27FC236}">
                <a16:creationId xmlns:a16="http://schemas.microsoft.com/office/drawing/2014/main" id="{9BCF31BD-13B0-41A7-AA00-3E5F1A9D5F3F}"/>
              </a:ext>
            </a:extLst>
          </p:cNvPr>
          <p:cNvSpPr>
            <a:spLocks noGrp="1"/>
          </p:cNvSpPr>
          <p:nvPr>
            <p:ph type="ctrTitle"/>
          </p:nvPr>
        </p:nvSpPr>
        <p:spPr>
          <a:xfrm>
            <a:off x="329025" y="1250550"/>
            <a:ext cx="7532700" cy="2642400"/>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1800">
                <a:solidFill>
                  <a:srgbClr val="434343"/>
                </a:solidFill>
                <a:latin typeface="Nunito Light"/>
                <a:ea typeface="Nunito Light"/>
                <a:cs typeface="Nunito Light"/>
              </a:rPr>
              <a:t>Acquire a high-level understanding of the granularity and scope of the dataset, to inform the basis for your analyses:</a:t>
            </a:r>
          </a:p>
          <a:p>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How many records are in the dataset</a:t>
            </a:r>
          </a:p>
          <a:p>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What does each record represent?</a:t>
            </a:r>
          </a:p>
          <a:p>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What is the primary key?</a:t>
            </a:r>
          </a:p>
          <a:p>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What date range is your dataset bound to?</a:t>
            </a:r>
          </a:p>
          <a:p>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What are the geographical bounds of this dataset? Is it limited to Manhattan, or is Brooklyn, Queens, Staten Island, the Bronx, and New Jersey included? Where are most of the data points centralized at? Are there outliers?</a:t>
            </a:r>
          </a:p>
          <a:p>
            <a:pPr marL="0" lvl="0" indent="0" algn="l">
              <a:spcBef>
                <a:spcPts val="0"/>
              </a:spcBef>
              <a:spcAft>
                <a:spcPts val="0"/>
              </a:spcAft>
              <a:buClr>
                <a:schemeClr val="dk1"/>
              </a:buClr>
              <a:buSzPts val="1100"/>
              <a:buFont typeface="Arial"/>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1812043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E8A71"/>
        </a:solidFill>
        <a:effectLst/>
      </p:bgPr>
    </p:bg>
    <p:spTree>
      <p:nvGrpSpPr>
        <p:cNvPr id="1" name=""/>
        <p:cNvGrpSpPr/>
        <p:nvPr/>
      </p:nvGrpSpPr>
      <p:grpSpPr>
        <a:xfrm>
          <a:off x="0" y="0"/>
          <a:ext cx="0" cy="0"/>
          <a:chOff x="0" y="0"/>
          <a:chExt cx="0" cy="0"/>
        </a:xfrm>
      </p:grpSpPr>
      <p:sp>
        <p:nvSpPr>
          <p:cNvPr id="116" name="Google Shape;116;p25">
            <a:extLst>
              <a:ext uri="{FF2B5EF4-FFF2-40B4-BE49-F238E27FC236}">
                <a16:creationId xmlns:a16="http://schemas.microsoft.com/office/drawing/2014/main" id="{C708D115-38C6-4E07-9358-80FAE21860BC}"/>
              </a:ext>
            </a:extLst>
          </p:cNvPr>
          <p:cNvSpPr>
            <a:spLocks noGrp="1"/>
          </p:cNvSpPr>
          <p:nvPr>
            <p:ph type="ctrTitle"/>
          </p:nvPr>
        </p:nvSpPr>
        <p:spPr>
          <a:xfrm>
            <a:off x="262033" y="177832"/>
            <a:ext cx="8520589" cy="637223"/>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3600">
                <a:solidFill>
                  <a:srgbClr val="434343"/>
                </a:solidFill>
                <a:latin typeface="Nunito Light"/>
                <a:ea typeface="Nunito Light"/>
                <a:cs typeface="Nunito Light"/>
              </a:rPr>
              <a:t>1,048,468 unique trips define the market</a:t>
            </a: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117" name="Google Shape;117;p25">
            <a:extLst>
              <a:ext uri="{FF2B5EF4-FFF2-40B4-BE49-F238E27FC236}">
                <a16:creationId xmlns:a16="http://schemas.microsoft.com/office/drawing/2014/main" id="{EBD3AC00-A899-4FF8-952A-26878397D60F}"/>
              </a:ext>
            </a:extLst>
          </p:cNvPr>
          <p:cNvSpPr>
            <a:spLocks noGrp="1"/>
          </p:cNvSpPr>
          <p:nvPr>
            <p:ph type="ctrTitle"/>
          </p:nvPr>
        </p:nvSpPr>
        <p:spPr>
          <a:xfrm>
            <a:off x="329089" y="1000125"/>
            <a:ext cx="8477250" cy="3857625"/>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1800">
                <a:solidFill>
                  <a:srgbClr val="434343"/>
                </a:solidFill>
                <a:latin typeface="Nunito Light"/>
                <a:ea typeface="Nunito Light"/>
                <a:cs typeface="Nunito Light"/>
              </a:rPr>
              <a:t>GRAIN: one completed taxi trip with pickup/dropoff time and coordinates, passengers, duration, and distance.
PRIMARY KEY: id; 1,048,468 records and 1,048,468 unique ids.
TIME: pickups from Jan 1 through Jun 30, 2016; the latest dropoff is Jul 1, 2016.
SPACE: trips center on Manhattan and extend to outer borough/airport catchments. Raw outlier bounds reach 32.18-51.88 N and 79.82-61.34 W.
QUALITY: 1,031,441 records (98.4%) pass the documented operational filter; 99.9% of pickups and 99.6% of dropoffs map to an NYC NTA.</a:t>
            </a: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1453897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E8A71"/>
        </a:solidFill>
        <a:effectLst/>
      </p:bgPr>
    </p:bg>
    <p:spTree>
      <p:nvGrpSpPr>
        <p:cNvPr id="1" name=""/>
        <p:cNvGrpSpPr/>
        <p:nvPr/>
      </p:nvGrpSpPr>
      <p:grpSpPr>
        <a:xfrm>
          <a:off x="0" y="0"/>
          <a:ext cx="0" cy="0"/>
          <a:chOff x="0" y="0"/>
          <a:chExt cx="0" cy="0"/>
        </a:xfrm>
      </p:grpSpPr>
      <p:sp>
        <p:nvSpPr>
          <p:cNvPr id="122" name="Google Shape;122;p26">
            <a:extLst>
              <a:ext uri="{FF2B5EF4-FFF2-40B4-BE49-F238E27FC236}">
                <a16:creationId xmlns:a16="http://schemas.microsoft.com/office/drawing/2014/main" id="{848CF8B5-D75F-4B73-A01A-E471945AC10A}"/>
              </a:ext>
            </a:extLst>
          </p:cNvPr>
          <p:cNvSpPr>
            <a:spLocks noGrp="1"/>
          </p:cNvSpPr>
          <p:nvPr>
            <p:ph type="ctrTitle"/>
          </p:nvPr>
        </p:nvSpPr>
        <p:spPr>
          <a:xfrm>
            <a:off x="319100" y="845850"/>
            <a:ext cx="7532700" cy="34518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pPr>
            <a:r>
              <a:rPr sz="1800">
                <a:solidFill>
                  <a:srgbClr val="434343"/>
                </a:solidFill>
                <a:latin typeface="Nunito Light"/>
                <a:ea typeface="Nunito Light"/>
                <a:cs typeface="Nunito Light"/>
              </a:rPr>
              <a:t>You notice that the dataset does not contain explicit data points out-of the-box, we'll need to enrich the dataset with relevant fields:</a:t>
            </a:r>
          </a:p>
          <a:p>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You notice that ride price is not included, but figure it could be derived. Based on information about New York taxi prices gleaned from the internet, create a calculated field called  `price` using the `duration`, `distance`, and `passenger count` fields.</a:t>
            </a:r>
          </a:p>
          <a:p>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You hypothesize your target users will be those who take a relatively longer time getting to a destination that is relatively close, due to heavy traffic conditions and/or limitations to physical road infrastructure. To be able to analyze where this is happening, you will need to create a calculated field called `duration-to-distance ratio`.</a:t>
            </a:r>
          </a:p>
          <a:p>
            <a:pPr marL="0" lvl="0" indent="0" algn="l">
              <a:spcBef>
                <a:spcPts val="0"/>
              </a:spcBef>
              <a:spcAft>
                <a:spcPts val="0"/>
              </a:spcAft>
              <a:buClr>
                <a:schemeClr val="dk1"/>
              </a:buClr>
              <a:buSzPts val="1100"/>
              <a:buFont typeface="Arial"/>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822150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CD61"/>
        </a:solidFill>
        <a:effectLst/>
      </p:bgPr>
    </p:bg>
    <p:spTree>
      <p:nvGrpSpPr>
        <p:cNvPr id="1" name=""/>
        <p:cNvGrpSpPr/>
        <p:nvPr/>
      </p:nvGrpSpPr>
      <p:grpSpPr>
        <a:xfrm>
          <a:off x="0" y="0"/>
          <a:ext cx="0" cy="0"/>
          <a:chOff x="0" y="0"/>
          <a:chExt cx="0" cy="0"/>
        </a:xfrm>
      </p:grpSpPr>
      <p:sp>
        <p:nvSpPr>
          <p:cNvPr id="127" name="Google Shape;127;p27">
            <a:extLst>
              <a:ext uri="{FF2B5EF4-FFF2-40B4-BE49-F238E27FC236}">
                <a16:creationId xmlns:a16="http://schemas.microsoft.com/office/drawing/2014/main" id="{AC2815EE-5165-466A-95B9-A37EE3C06637}"/>
              </a:ext>
            </a:extLst>
          </p:cNvPr>
          <p:cNvSpPr>
            <a:spLocks noGrp="1"/>
          </p:cNvSpPr>
          <p:nvPr>
            <p:ph type="ctrTitle"/>
          </p:nvPr>
        </p:nvSpPr>
        <p:spPr>
          <a:xfrm>
            <a:off x="338975" y="1408650"/>
            <a:ext cx="7532700" cy="23262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pPr>
            <a:r>
              <a:rPr sz="1800">
                <a:solidFill>
                  <a:srgbClr val="434343"/>
                </a:solidFill>
                <a:latin typeface="Nunito Light"/>
                <a:ea typeface="Nunito Light"/>
                <a:cs typeface="Nunito Light"/>
              </a:rPr>
              <a:t>Let's understand the scope and distribution various dimensions within the dataset. Calculate the </a:t>
            </a:r>
            <a:r>
              <a:rPr sz="1800" b="1">
                <a:solidFill>
                  <a:srgbClr val="434343"/>
                </a:solidFill>
                <a:latin typeface="Nunito"/>
                <a:ea typeface="Nunito"/>
                <a:cs typeface="Nunito"/>
              </a:rPr>
              <a:t>average</a:t>
            </a:r>
            <a:r>
              <a:rPr sz="1800">
                <a:solidFill>
                  <a:srgbClr val="434343"/>
                </a:solidFill>
                <a:latin typeface="Nunito Light"/>
                <a:ea typeface="Nunito Light"/>
                <a:cs typeface="Nunito Light"/>
              </a:rPr>
              <a:t>, </a:t>
            </a:r>
            <a:r>
              <a:rPr sz="1800" b="1">
                <a:solidFill>
                  <a:srgbClr val="434343"/>
                </a:solidFill>
                <a:latin typeface="Nunito"/>
                <a:ea typeface="Nunito"/>
                <a:cs typeface="Nunito"/>
              </a:rPr>
              <a:t>median</a:t>
            </a:r>
            <a:r>
              <a:rPr sz="1800">
                <a:solidFill>
                  <a:srgbClr val="434343"/>
                </a:solidFill>
                <a:latin typeface="Nunito Light"/>
                <a:ea typeface="Nunito Light"/>
                <a:cs typeface="Nunito Light"/>
              </a:rPr>
              <a:t>, and the </a:t>
            </a:r>
            <a:r>
              <a:rPr sz="1800" b="1">
                <a:solidFill>
                  <a:srgbClr val="434343"/>
                </a:solidFill>
                <a:latin typeface="Nunito"/>
                <a:ea typeface="Nunito"/>
                <a:cs typeface="Nunito"/>
              </a:rPr>
              <a:t>first &amp; second standard deviation of the mean</a:t>
            </a:r>
            <a:r>
              <a:rPr sz="1800">
                <a:solidFill>
                  <a:srgbClr val="434343"/>
                </a:solidFill>
                <a:latin typeface="Nunito Light"/>
                <a:ea typeface="Nunito Light"/>
                <a:cs typeface="Nunito Light"/>
              </a:rPr>
              <a:t> for the following measures:</a:t>
            </a:r>
          </a:p>
          <a:p>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duration</a:t>
            </a:r>
          </a:p>
          <a:p>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distance</a:t>
            </a:r>
          </a:p>
          <a:p>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passenger counts</a:t>
            </a:r>
          </a:p>
          <a:p>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duration-to-distance ratio</a:t>
            </a:r>
          </a:p>
          <a:p>
            <a:pPr marL="457200" lvl="0" indent="-342900" algn="l">
              <a:spcBef>
                <a:spcPts val="0"/>
              </a:spcBef>
              <a:spcAft>
                <a:spcPts val="0"/>
              </a:spcAft>
              <a:buClr>
                <a:srgbClr val="434343"/>
              </a:buClr>
              <a:buSzPts val="1800"/>
              <a:buFont typeface="Nunito Light"/>
              <a:buChar char="●"/>
            </a:pPr>
            <a:r>
              <a:rPr sz="1800">
                <a:solidFill>
                  <a:srgbClr val="434343"/>
                </a:solidFill>
                <a:latin typeface="Nunito Light"/>
                <a:ea typeface="Nunito Light"/>
                <a:cs typeface="Nunito Light"/>
              </a:rPr>
              <a:t>price</a:t>
            </a:r>
          </a:p>
          <a:p>
            <a:pPr marL="0" lvl="0" indent="0" algn="l">
              <a:spcBef>
                <a:spcPts val="0"/>
              </a:spcBef>
              <a:spcAft>
                <a:spcPts val="0"/>
              </a:spcAft>
              <a:buClr>
                <a:schemeClr val="dk1"/>
              </a:buClr>
              <a:buSzPts val="1100"/>
              <a:buFont typeface="Arial"/>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1063894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CD61"/>
        </a:solidFill>
        <a:effectLst/>
      </p:bgPr>
    </p:bg>
    <p:spTree>
      <p:nvGrpSpPr>
        <p:cNvPr id="1" name=""/>
        <p:cNvGrpSpPr/>
        <p:nvPr/>
      </p:nvGrpSpPr>
      <p:grpSpPr>
        <a:xfrm>
          <a:off x="0" y="0"/>
          <a:ext cx="0" cy="0"/>
          <a:chOff x="0" y="0"/>
          <a:chExt cx="0" cy="0"/>
        </a:xfrm>
      </p:grpSpPr>
      <p:sp>
        <p:nvSpPr>
          <p:cNvPr id="132" name="Google Shape;132;p28">
            <a:extLst>
              <a:ext uri="{FF2B5EF4-FFF2-40B4-BE49-F238E27FC236}">
                <a16:creationId xmlns:a16="http://schemas.microsoft.com/office/drawing/2014/main" id="{CCBF5475-816E-4704-9495-202AA42B2F4B}"/>
              </a:ext>
            </a:extLst>
          </p:cNvPr>
          <p:cNvSpPr>
            <a:spLocks noGrp="1"/>
          </p:cNvSpPr>
          <p:nvPr>
            <p:ph type="ctrTitle"/>
          </p:nvPr>
        </p:nvSpPr>
        <p:spPr>
          <a:xfrm>
            <a:off x="262033" y="177832"/>
            <a:ext cx="8520589" cy="637223"/>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3600">
                <a:solidFill>
                  <a:srgbClr val="434343"/>
                </a:solidFill>
                <a:latin typeface="Nunito Light"/>
                <a:ea typeface="Nunito Light"/>
                <a:cs typeface="Nunito Light"/>
              </a:rPr>
              <a:t>A typical trip is 11 min over 2.1 mi</a:t>
            </a: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133" name="Google Shape;133;p28">
            <a:extLst>
              <a:ext uri="{FF2B5EF4-FFF2-40B4-BE49-F238E27FC236}">
                <a16:creationId xmlns:a16="http://schemas.microsoft.com/office/drawing/2014/main" id="{DB220A9A-258B-44F6-B764-1F3C11F2EE52}"/>
              </a:ext>
            </a:extLst>
          </p:cNvPr>
          <p:cNvSpPr>
            <a:spLocks noGrp="1"/>
          </p:cNvSpPr>
          <p:nvPr>
            <p:ph type="ctrTitle"/>
          </p:nvPr>
        </p:nvSpPr>
        <p:spPr>
          <a:xfrm>
            <a:off x="329089" y="1000125"/>
            <a:ext cx="8477250" cy="3857625"/>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1800">
                <a:solidFill>
                  <a:srgbClr val="434343"/>
                </a:solidFill>
                <a:latin typeface="Nunito Light"/>
                <a:ea typeface="Nunito Light"/>
                <a:cs typeface="Nunito Light"/>
              </a:rPr>
              <a:t>Operational-quality subset: n = 1,031,441 (98.4% of records)
Duration (min): mean 14.04 | median 11.12 | SD 10.85
  1 SD: 3.19 to 24.89 | 2 SD: -7.67 to 35.71
Distance (mi): mean 3.48 | median 2.13 | SD 3.92
  1 SD: -0.44 to 7.41 | 2 SD: -4.37 to 11.33
Passengers: mean 1.66 | median 1.00 | SD 1.31
  1 SD: 0.35 to 2.98 | 2 SD: -0.96 to 4.29
Minutes/mile: mean 5.39 | median 4.66 | SD 3.33
  1 SD: 2.06 to 8.71 | 2 SD: -1.26 to 12.04
Fare proxy (USD): mean 12.94 | median 9.83 | SD 9.70
  1 SD: 3.24 to 22.65 | 2 SD: -6.46 to 32.35
SD bands are descriptive and may cross impossible values; medians are retained for skewed measures.</a:t>
            </a: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2133730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CD61"/>
        </a:solidFill>
        <a:effectLst/>
      </p:bgPr>
    </p:bg>
    <p:spTree>
      <p:nvGrpSpPr>
        <p:cNvPr id="1" name=""/>
        <p:cNvGrpSpPr/>
        <p:nvPr/>
      </p:nvGrpSpPr>
      <p:grpSpPr>
        <a:xfrm>
          <a:off x="0" y="0"/>
          <a:ext cx="0" cy="0"/>
          <a:chOff x="0" y="0"/>
          <a:chExt cx="0" cy="0"/>
        </a:xfrm>
      </p:grpSpPr>
      <p:sp>
        <p:nvSpPr>
          <p:cNvPr id="138" name="Google Shape;138;p29">
            <a:extLst>
              <a:ext uri="{FF2B5EF4-FFF2-40B4-BE49-F238E27FC236}">
                <a16:creationId xmlns:a16="http://schemas.microsoft.com/office/drawing/2014/main" id="{1922BB2D-EF62-4C08-B436-159BAAB6544B}"/>
              </a:ext>
            </a:extLst>
          </p:cNvPr>
          <p:cNvSpPr>
            <a:spLocks noGrp="1"/>
          </p:cNvSpPr>
          <p:nvPr>
            <p:ph type="ctrTitle"/>
          </p:nvPr>
        </p:nvSpPr>
        <p:spPr>
          <a:xfrm>
            <a:off x="329025" y="1508850"/>
            <a:ext cx="7532700" cy="2125800"/>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1800">
                <a:solidFill>
                  <a:srgbClr val="434343"/>
                </a:solidFill>
                <a:latin typeface="Nunito Light"/>
                <a:ea typeface="Nunito Light"/>
                <a:cs typeface="Nunito Light"/>
              </a:rPr>
              <a:t>Flying cars may have to have to be a lower weight for efficiency &amp; take-off. Or you may just decide to leverage mini-copters for your initial MVP. </a:t>
            </a: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r>
              <a:rPr sz="1800">
                <a:solidFill>
                  <a:srgbClr val="434343"/>
                </a:solidFill>
                <a:latin typeface="Nunito Light"/>
                <a:ea typeface="Nunito Light"/>
                <a:cs typeface="Nunito Light"/>
              </a:rPr>
              <a:t>Create a histogram that visualizes the number of total rides grouped by passenger counts to analyze the potential market volume of low passenger pickups (1-2 passengers).</a:t>
            </a:r>
          </a:p>
          <a:p>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8274070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CD61"/>
        </a:solidFill>
        <a:effectLst/>
      </p:bgPr>
    </p:bg>
    <p:spTree>
      <p:nvGrpSpPr>
        <p:cNvPr id="1" name=""/>
        <p:cNvGrpSpPr/>
        <p:nvPr/>
      </p:nvGrpSpPr>
      <p:grpSpPr>
        <a:xfrm>
          <a:off x="0" y="0"/>
          <a:ext cx="0" cy="0"/>
          <a:chOff x="0" y="0"/>
          <a:chExt cx="0" cy="0"/>
        </a:xfrm>
      </p:grpSpPr>
      <p:sp>
        <p:nvSpPr>
          <p:cNvPr id="143" name="Google Shape;143;p30">
            <a:extLst>
              <a:ext uri="{FF2B5EF4-FFF2-40B4-BE49-F238E27FC236}">
                <a16:creationId xmlns:a16="http://schemas.microsoft.com/office/drawing/2014/main" id="{EE0ABFB4-BDD4-48F1-BD22-725EB14F0411}"/>
              </a:ext>
            </a:extLst>
          </p:cNvPr>
          <p:cNvSpPr>
            <a:spLocks noGrp="1"/>
          </p:cNvSpPr>
          <p:nvPr>
            <p:ph type="ctrTitle"/>
          </p:nvPr>
        </p:nvSpPr>
        <p:spPr>
          <a:xfrm>
            <a:off x="262033" y="177832"/>
            <a:ext cx="8520589" cy="637223"/>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3600">
                <a:solidFill>
                  <a:srgbClr val="434343"/>
                </a:solidFill>
                <a:latin typeface="Nunito Light"/>
                <a:ea typeface="Nunito Light"/>
                <a:cs typeface="Nunito Light"/>
              </a:rPr>
              <a:t>1-2 riders represent 85.3% of trips</a:t>
            </a: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144" name="Google Shape;144;p30">
            <a:extLst>
              <a:ext uri="{FF2B5EF4-FFF2-40B4-BE49-F238E27FC236}">
                <a16:creationId xmlns:a16="http://schemas.microsoft.com/office/drawing/2014/main" id="{C4FFA97B-5E7E-4692-91CF-67BC9DC2798B}"/>
              </a:ext>
            </a:extLst>
          </p:cNvPr>
          <p:cNvSpPr>
            <a:spLocks noGrp="1"/>
          </p:cNvSpPr>
          <p:nvPr>
            <p:ph type="ctrTitle"/>
          </p:nvPr>
        </p:nvSpPr>
        <p:spPr>
          <a:xfrm>
            <a:off x="329089" y="4591050"/>
            <a:ext cx="8477250" cy="361950"/>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1800">
                <a:solidFill>
                  <a:srgbClr val="434343"/>
                </a:solidFill>
                <a:latin typeface="Nunito Light"/>
                <a:ea typeface="Nunito Light"/>
                <a:cs typeface="Nunito Light"/>
              </a:rPr>
              <a:t>Full-data analysis; operational-quality subset n = 1,031,441.</a:t>
            </a: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p:txBody>
      </p:sp>
      <p:pic>
        <p:nvPicPr>
          <p:cNvPr id="148" name="Picture 147"/>
          <p:cNvPicPr>
            <a:picLocks noChangeAspect="1"/>
          </p:cNvPicPr>
          <p:nvPr/>
        </p:nvPicPr>
        <p:blipFill>
          <a:blip r:embed="rId3"/>
          <a:stretch/>
        </p:blipFill>
        <p:spPr>
          <a:xfrm>
            <a:off x="1495853" y="895350"/>
            <a:ext cx="6152294" cy="3619500"/>
          </a:xfrm>
          <a:prstGeom prst="rect">
            <a:avLst/>
          </a:prstGeom>
        </p:spPr>
      </p:pic>
    </p:spTree>
    <p:extLst>
      <p:ext uri="{BB962C8B-B14F-4D97-AF65-F5344CB8AC3E}">
        <p14:creationId xmlns:p14="http://schemas.microsoft.com/office/powerpoint/2010/main" val="14672583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DA4AB"/>
        </a:solidFill>
        <a:effectLst/>
      </p:bgPr>
    </p:bg>
    <p:spTree>
      <p:nvGrpSpPr>
        <p:cNvPr id="1" name=""/>
        <p:cNvGrpSpPr/>
        <p:nvPr/>
      </p:nvGrpSpPr>
      <p:grpSpPr>
        <a:xfrm>
          <a:off x="0" y="0"/>
          <a:ext cx="0" cy="0"/>
          <a:chOff x="0" y="0"/>
          <a:chExt cx="0" cy="0"/>
        </a:xfrm>
      </p:grpSpPr>
      <p:sp>
        <p:nvSpPr>
          <p:cNvPr id="149" name="Google Shape;149;p31">
            <a:extLst>
              <a:ext uri="{FF2B5EF4-FFF2-40B4-BE49-F238E27FC236}">
                <a16:creationId xmlns:a16="http://schemas.microsoft.com/office/drawing/2014/main" id="{4204792D-8763-48A4-9600-48E7EFC0F529}"/>
              </a:ext>
            </a:extLst>
          </p:cNvPr>
          <p:cNvSpPr>
            <a:spLocks noGrp="1"/>
          </p:cNvSpPr>
          <p:nvPr>
            <p:ph type="ctrTitle"/>
          </p:nvPr>
        </p:nvSpPr>
        <p:spPr>
          <a:xfrm>
            <a:off x="319150" y="573450"/>
            <a:ext cx="7532700" cy="39966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pPr>
            <a:r>
              <a:rPr sz="1800">
                <a:solidFill>
                  <a:srgbClr val="FFFFFF"/>
                </a:solidFill>
                <a:latin typeface="Nunito Light"/>
                <a:ea typeface="Nunito Light"/>
                <a:cs typeface="Nunito Light"/>
              </a:rPr>
              <a:t>For the initial MVP launch (&amp; most likely GA), we have a finite amount of monetary resources to build Flyber pick-up / drop-off nodes. We'll need to be strategic on where we'll place them: </a:t>
            </a:r>
          </a:p>
          <a:p>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Which neighborhoods/zip codes tends to experience a relatively higher density of pick-ups? </a:t>
            </a:r>
          </a:p>
          <a:p>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Which neighborhoods/zip codes tends to experience a relatively higher density of drop-offs?</a:t>
            </a:r>
          </a:p>
          <a:p>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Which neighborhoods/zip codes tends to have the highest duration-to-distance ratios, based on pick-up?</a:t>
            </a:r>
          </a:p>
          <a:p>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Which neighborhoods/zip codes tends to have the highest duration-to-distance ratios, based on drop-off?</a:t>
            </a:r>
          </a:p>
          <a:p>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For any of the neighborhoods identified, are there any potential areas within the neighborhood that are optimal for flying taxi pick-up / drop-off? What makes them suitable?</a:t>
            </a:r>
          </a:p>
          <a:p>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2406704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DA4AB"/>
        </a:solidFill>
        <a:effectLst/>
      </p:bgPr>
    </p:bg>
    <p:spTree>
      <p:nvGrpSpPr>
        <p:cNvPr id="1" name=""/>
        <p:cNvGrpSpPr/>
        <p:nvPr/>
      </p:nvGrpSpPr>
      <p:grpSpPr>
        <a:xfrm>
          <a:off x="0" y="0"/>
          <a:ext cx="0" cy="0"/>
          <a:chOff x="0" y="0"/>
          <a:chExt cx="0" cy="0"/>
        </a:xfrm>
      </p:grpSpPr>
      <p:sp>
        <p:nvSpPr>
          <p:cNvPr id="154" name="Google Shape;154;p32">
            <a:extLst>
              <a:ext uri="{FF2B5EF4-FFF2-40B4-BE49-F238E27FC236}">
                <a16:creationId xmlns:a16="http://schemas.microsoft.com/office/drawing/2014/main" id="{A888973C-7A03-4D87-9C18-AFF00A06178E}"/>
              </a:ext>
            </a:extLst>
          </p:cNvPr>
          <p:cNvSpPr>
            <a:spLocks noGrp="1"/>
          </p:cNvSpPr>
          <p:nvPr>
            <p:ph type="ctrTitle"/>
          </p:nvPr>
        </p:nvSpPr>
        <p:spPr>
          <a:xfrm>
            <a:off x="262033" y="177832"/>
            <a:ext cx="8520589" cy="637223"/>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3600">
                <a:solidFill>
                  <a:schemeClr val="lt1"/>
                </a:solidFill>
                <a:latin typeface="Nunito Light"/>
                <a:ea typeface="Nunito Light"/>
                <a:cs typeface="Nunito Light"/>
              </a:rPr>
              <a:t>Midtown concentrates demand and delay</a:t>
            </a: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155" name="Google Shape;155;p32">
            <a:extLst>
              <a:ext uri="{FF2B5EF4-FFF2-40B4-BE49-F238E27FC236}">
                <a16:creationId xmlns:a16="http://schemas.microsoft.com/office/drawing/2014/main" id="{6AD660C7-A896-47D3-BD00-4ACEEF86C0F2}"/>
              </a:ext>
            </a:extLst>
          </p:cNvPr>
          <p:cNvSpPr>
            <a:spLocks noGrp="1"/>
          </p:cNvSpPr>
          <p:nvPr>
            <p:ph type="ctrTitle"/>
          </p:nvPr>
        </p:nvSpPr>
        <p:spPr>
          <a:xfrm>
            <a:off x="329089" y="4591050"/>
            <a:ext cx="8477250" cy="361950"/>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1800">
                <a:solidFill>
                  <a:srgbClr val="FFFFFF"/>
                </a:solidFill>
                <a:latin typeface="Nunito Light"/>
                <a:ea typeface="Nunito Light"/>
                <a:cs typeface="Nunito Light"/>
              </a:rPr>
              <a:t>Midtown leads density and delay. </a:t>
            </a:r>
            <a:r>
              <a:rPr sz="1800" u="sng">
                <a:solidFill>
                  <a:srgbClr val="FFFFFF"/>
                </a:solidFill>
                <a:latin typeface="Nunito Light"/>
                <a:ea typeface="Nunito Light"/>
                <a:cs typeface="Nunito Light"/>
                <a:hlinkClick r:id="rId3"/>
              </a:rPr>
              <a:t>Open Tableau Public workbook.</a:t>
            </a: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p:txBody>
      </p:sp>
      <p:pic>
        <p:nvPicPr>
          <p:cNvPr id="159" name="Picture 158"/>
          <p:cNvPicPr>
            <a:picLocks noChangeAspect="1"/>
          </p:cNvPicPr>
          <p:nvPr/>
        </p:nvPicPr>
        <p:blipFill>
          <a:blip r:embed="rId4"/>
          <a:stretch/>
        </p:blipFill>
        <p:spPr>
          <a:xfrm>
            <a:off x="2747928" y="895350"/>
            <a:ext cx="3648145" cy="3619500"/>
          </a:xfrm>
          <a:prstGeom prst="rect">
            <a:avLst/>
          </a:prstGeom>
        </p:spPr>
      </p:pic>
    </p:spTree>
    <p:extLst>
      <p:ext uri="{BB962C8B-B14F-4D97-AF65-F5344CB8AC3E}">
        <p14:creationId xmlns:p14="http://schemas.microsoft.com/office/powerpoint/2010/main" val="11096417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DA4AB"/>
        </a:solidFill>
        <a:effectLst/>
      </p:bgPr>
    </p:bg>
    <p:spTree>
      <p:nvGrpSpPr>
        <p:cNvPr id="1" name=""/>
        <p:cNvGrpSpPr/>
        <p:nvPr/>
      </p:nvGrpSpPr>
      <p:grpSpPr>
        <a:xfrm>
          <a:off x="0" y="0"/>
          <a:ext cx="0" cy="0"/>
          <a:chOff x="0" y="0"/>
          <a:chExt cx="0" cy="0"/>
        </a:xfrm>
      </p:grpSpPr>
      <p:sp>
        <p:nvSpPr>
          <p:cNvPr id="160" name="Google Shape;160;p33">
            <a:extLst>
              <a:ext uri="{FF2B5EF4-FFF2-40B4-BE49-F238E27FC236}">
                <a16:creationId xmlns:a16="http://schemas.microsoft.com/office/drawing/2014/main" id="{0A882B66-24AD-47A6-A107-37A705B7B433}"/>
              </a:ext>
            </a:extLst>
          </p:cNvPr>
          <p:cNvSpPr>
            <a:spLocks noGrp="1"/>
          </p:cNvSpPr>
          <p:nvPr>
            <p:ph type="ctrTitle"/>
          </p:nvPr>
        </p:nvSpPr>
        <p:spPr>
          <a:xfrm>
            <a:off x="339025" y="911050"/>
            <a:ext cx="7532700" cy="3219600"/>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1800">
                <a:solidFill>
                  <a:srgbClr val="FFFFFF"/>
                </a:solidFill>
                <a:latin typeface="Nunito Light"/>
                <a:ea typeface="Nunito Light"/>
                <a:cs typeface="Nunito Light"/>
              </a:rPr>
              <a:t>It may not make operational sense to have the service running 24/7, for now.</a:t>
            </a:r>
          </a:p>
          <a:p>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What times throughout the day experience relatively higher volumes of ride pick-ups?</a:t>
            </a:r>
          </a:p>
          <a:p>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What days throughout the week experience relatively higher volumes of ride pick-ups?</a:t>
            </a:r>
          </a:p>
          <a:p>
            <a:pPr marL="457200" lvl="0" indent="-342900" algn="l">
              <a:spcBef>
                <a:spcPts val="0"/>
              </a:spcBef>
              <a:spcAft>
                <a:spcPts val="0"/>
              </a:spcAft>
              <a:buClr>
                <a:srgbClr val="FFFFFF"/>
              </a:buClr>
              <a:buSzPts val="1800"/>
              <a:buFont typeface="Nunito Light"/>
              <a:buChar char="●"/>
            </a:pPr>
            <a:r>
              <a:rPr sz="1800">
                <a:solidFill>
                  <a:srgbClr val="FFFFFF"/>
                </a:solidFill>
                <a:latin typeface="Nunito Light"/>
                <a:ea typeface="Nunito Light"/>
                <a:cs typeface="Nunito Light"/>
              </a:rPr>
              <a:t>Pinpoint any periods throughout the year that experience trend fluctuation or seasonality around ride pick-up volumes. This will help us in our post-launch analyses to determine if any spikes or dips were influenced by seasonality or through actual feature adoption/regression.</a:t>
            </a:r>
          </a:p>
          <a:p>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15324523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3DA4AB"/>
        </a:solidFill>
        <a:effectLst/>
      </p:bgPr>
    </p:bg>
    <p:spTree>
      <p:nvGrpSpPr>
        <p:cNvPr id="1" name=""/>
        <p:cNvGrpSpPr/>
        <p:nvPr/>
      </p:nvGrpSpPr>
      <p:grpSpPr>
        <a:xfrm>
          <a:off x="0" y="0"/>
          <a:ext cx="0" cy="0"/>
          <a:chOff x="0" y="0"/>
          <a:chExt cx="0" cy="0"/>
        </a:xfrm>
      </p:grpSpPr>
      <p:sp>
        <p:nvSpPr>
          <p:cNvPr id="165" name="Google Shape;165;p34">
            <a:extLst>
              <a:ext uri="{FF2B5EF4-FFF2-40B4-BE49-F238E27FC236}">
                <a16:creationId xmlns:a16="http://schemas.microsoft.com/office/drawing/2014/main" id="{5B4E48C0-B9ED-4F89-924F-73F3FC503404}"/>
              </a:ext>
            </a:extLst>
          </p:cNvPr>
          <p:cNvSpPr>
            <a:spLocks noGrp="1"/>
          </p:cNvSpPr>
          <p:nvPr>
            <p:ph type="ctrTitle"/>
          </p:nvPr>
        </p:nvSpPr>
        <p:spPr>
          <a:xfrm>
            <a:off x="262033" y="177832"/>
            <a:ext cx="8520589" cy="637223"/>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3600">
                <a:solidFill>
                  <a:schemeClr val="lt1"/>
                </a:solidFill>
                <a:latin typeface="Nunito Light"/>
                <a:ea typeface="Nunito Light"/>
                <a:cs typeface="Nunito Light"/>
              </a:rPr>
              <a:t>Thu-Sat evenings maximize demand</a:t>
            </a: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166" name="Google Shape;166;p34">
            <a:extLst>
              <a:ext uri="{FF2B5EF4-FFF2-40B4-BE49-F238E27FC236}">
                <a16:creationId xmlns:a16="http://schemas.microsoft.com/office/drawing/2014/main" id="{B5A8977D-787B-42D9-AC0E-A0B14731FEE3}"/>
              </a:ext>
            </a:extLst>
          </p:cNvPr>
          <p:cNvSpPr>
            <a:spLocks noGrp="1"/>
          </p:cNvSpPr>
          <p:nvPr>
            <p:ph type="ctrTitle"/>
          </p:nvPr>
        </p:nvSpPr>
        <p:spPr>
          <a:xfrm>
            <a:off x="329089" y="4591050"/>
            <a:ext cx="8477250" cy="361950"/>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1800">
                <a:solidFill>
                  <a:srgbClr val="FFFFFF"/>
                </a:solidFill>
                <a:latin typeface="Nunito Light"/>
                <a:ea typeface="Nunito Light"/>
                <a:cs typeface="Nunito Light"/>
              </a:rPr>
              <a:t>6-7 PM leads hourly volume; Friday, Saturday, and Thursday lead days.</a:t>
            </a: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p:txBody>
      </p:sp>
      <p:pic>
        <p:nvPicPr>
          <p:cNvPr id="170" name="Picture 169"/>
          <p:cNvPicPr>
            <a:picLocks noChangeAspect="1"/>
          </p:cNvPicPr>
          <p:nvPr/>
        </p:nvPicPr>
        <p:blipFill>
          <a:blip r:embed="rId3"/>
          <a:stretch/>
        </p:blipFill>
        <p:spPr>
          <a:xfrm>
            <a:off x="266700" y="1377474"/>
            <a:ext cx="8610600" cy="2655251"/>
          </a:xfrm>
          <a:prstGeom prst="rect">
            <a:avLst/>
          </a:prstGeom>
        </p:spPr>
      </p:pic>
    </p:spTree>
    <p:extLst>
      <p:ext uri="{BB962C8B-B14F-4D97-AF65-F5344CB8AC3E}">
        <p14:creationId xmlns:p14="http://schemas.microsoft.com/office/powerpoint/2010/main" val="4673615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E9AA7"/>
        </a:solidFill>
        <a:effectLst/>
      </p:bgPr>
    </p:bg>
    <p:spTree>
      <p:nvGrpSpPr>
        <p:cNvPr id="1" name=""/>
        <p:cNvGrpSpPr/>
        <p:nvPr/>
      </p:nvGrpSpPr>
      <p:grpSpPr>
        <a:xfrm>
          <a:off x="0" y="0"/>
          <a:ext cx="0" cy="0"/>
          <a:chOff x="0" y="0"/>
          <a:chExt cx="0" cy="0"/>
        </a:xfrm>
      </p:grpSpPr>
      <p:sp>
        <p:nvSpPr>
          <p:cNvPr id="171" name="Google Shape;171;p35">
            <a:extLst>
              <a:ext uri="{FF2B5EF4-FFF2-40B4-BE49-F238E27FC236}">
                <a16:creationId xmlns:a16="http://schemas.microsoft.com/office/drawing/2014/main" id="{4FDA29CE-FAEB-4A9E-A95F-FCD90A3D4E35}"/>
              </a:ext>
            </a:extLst>
          </p:cNvPr>
          <p:cNvSpPr>
            <a:spLocks noGrp="1"/>
          </p:cNvSpPr>
          <p:nvPr>
            <p:ph type="ctrTitle"/>
          </p:nvPr>
        </p:nvSpPr>
        <p:spPr>
          <a:xfrm>
            <a:off x="282625" y="913750"/>
            <a:ext cx="7532700" cy="3260700"/>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1800">
                <a:solidFill>
                  <a:schemeClr val="lt1"/>
                </a:solidFill>
                <a:latin typeface="Nunito Light"/>
                <a:ea typeface="Nunito Light"/>
                <a:cs typeface="Nunito Light"/>
              </a:rPr>
              <a:t>You and the user research team ran a quantitative survey on existing taxi and/or rideshare users in New York City to determine sentiment around potentially using a flying taxi service.</a:t>
            </a:r>
          </a:p>
          <a:p>
            <a:pPr marL="0" lvl="0" indent="0" algn="l">
              <a:spcBef>
                <a:spcPts val="0"/>
              </a:spcBef>
              <a:spcAft>
                <a:spcPts val="0"/>
              </a:spcAft>
              <a:buNone/>
            </a:pPr>
            <a:endParaRPr sz="1800">
              <a:solidFill>
                <a:schemeClr val="lt1"/>
              </a:solidFill>
              <a:latin typeface="Nunito Light"/>
              <a:ea typeface="Nunito Light"/>
              <a:cs typeface="Nunito Light"/>
            </a:endParaRPr>
          </a:p>
          <a:p>
            <a:pPr marL="0" lvl="0" indent="0" algn="l">
              <a:spcBef>
                <a:spcPts val="0"/>
              </a:spcBef>
              <a:spcAft>
                <a:spcPts val="0"/>
              </a:spcAft>
              <a:buNone/>
            </a:pPr>
            <a:r>
              <a:rPr sz="1800">
                <a:solidFill>
                  <a:schemeClr val="lt1"/>
                </a:solidFill>
                <a:latin typeface="Nunito Light"/>
                <a:ea typeface="Nunito Light"/>
                <a:cs typeface="Nunito Light"/>
              </a:rPr>
              <a:t>Dive into the survey results dataset in order to extract insights from explicit feedback.</a:t>
            </a:r>
          </a:p>
          <a:p>
            <a:pPr marL="0" lvl="0" indent="0" algn="l">
              <a:spcBef>
                <a:spcPts val="0"/>
              </a:spcBef>
              <a:spcAft>
                <a:spcPts val="0"/>
              </a:spcAft>
              <a:buNone/>
            </a:pPr>
            <a:endParaRPr sz="1800">
              <a:solidFill>
                <a:schemeClr val="lt1"/>
              </a:solidFill>
              <a:latin typeface="Nunito Light"/>
              <a:ea typeface="Nunito Light"/>
              <a:cs typeface="Nunito Light"/>
            </a:endParaRPr>
          </a:p>
          <a:p>
            <a:pPr marL="0" lvl="0" indent="0" algn="l">
              <a:spcBef>
                <a:spcPts val="0"/>
              </a:spcBef>
              <a:spcAft>
                <a:spcPts val="0"/>
              </a:spcAft>
              <a:buNone/>
            </a:pPr>
            <a:r>
              <a:rPr sz="1800">
                <a:solidFill>
                  <a:schemeClr val="lt1"/>
                </a:solidFill>
                <a:latin typeface="Nunito Light"/>
                <a:ea typeface="Nunito Light"/>
                <a:cs typeface="Nunito Light"/>
              </a:rPr>
              <a:t>Upload </a:t>
            </a:r>
            <a:r>
              <a:rPr sz="1800" u="sng">
                <a:solidFill>
                  <a:srgbClr val="0000FF"/>
                </a:solidFill>
                <a:latin typeface="Nunito Light"/>
                <a:ea typeface="Nunito Light"/>
                <a:cs typeface="Nunito Light"/>
                <a:hlinkClick r:id="rId3"/>
              </a:rPr>
              <a:t>this dataset</a:t>
            </a:r>
            <a:r>
              <a:rPr sz="1800">
                <a:solidFill>
                  <a:schemeClr val="lt1"/>
                </a:solidFill>
                <a:latin typeface="Nunito Light"/>
                <a:ea typeface="Nunito Light"/>
                <a:cs typeface="Nunito Light"/>
              </a:rPr>
              <a:t> into Tableau Online or a SQL database (the classroom contains a workspace with the data for you as well).</a:t>
            </a: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13941686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E9AA7"/>
        </a:solidFill>
        <a:effectLst/>
      </p:bgPr>
    </p:bg>
    <p:spTree>
      <p:nvGrpSpPr>
        <p:cNvPr id="1" name=""/>
        <p:cNvGrpSpPr/>
        <p:nvPr/>
      </p:nvGrpSpPr>
      <p:grpSpPr>
        <a:xfrm>
          <a:off x="0" y="0"/>
          <a:ext cx="0" cy="0"/>
          <a:chOff x="0" y="0"/>
          <a:chExt cx="0" cy="0"/>
        </a:xfrm>
      </p:grpSpPr>
      <p:sp>
        <p:nvSpPr>
          <p:cNvPr id="176" name="Google Shape;176;p36">
            <a:extLst>
              <a:ext uri="{FF2B5EF4-FFF2-40B4-BE49-F238E27FC236}">
                <a16:creationId xmlns:a16="http://schemas.microsoft.com/office/drawing/2014/main" id="{864E8A72-A18C-4BB7-8E92-EB9770519469}"/>
              </a:ext>
            </a:extLst>
          </p:cNvPr>
          <p:cNvSpPr>
            <a:spLocks noGrp="1"/>
          </p:cNvSpPr>
          <p:nvPr>
            <p:ph type="ctrTitle"/>
          </p:nvPr>
        </p:nvSpPr>
        <p:spPr>
          <a:xfrm>
            <a:off x="329850" y="849900"/>
            <a:ext cx="7532700" cy="3443700"/>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1800">
                <a:solidFill>
                  <a:schemeClr val="lt1"/>
                </a:solidFill>
                <a:latin typeface="Nunito Light"/>
                <a:ea typeface="Nunito Light"/>
                <a:cs typeface="Nunito Light"/>
              </a:rPr>
              <a:t>Ensure the fields are parsed correctly, field headers are included in the first row of the CSV.</a:t>
            </a:r>
          </a:p>
          <a:p>
            <a:pPr marL="0" lvl="0" indent="0" algn="l">
              <a:spcBef>
                <a:spcPts val="0"/>
              </a:spcBef>
              <a:spcAft>
                <a:spcPts val="0"/>
              </a:spcAft>
              <a:buNone/>
            </a:pPr>
            <a:endParaRPr sz="1800">
              <a:solidFill>
                <a:schemeClr val="lt1"/>
              </a:solidFill>
              <a:latin typeface="Nunito Light"/>
              <a:ea typeface="Nunito Light"/>
              <a:cs typeface="Nunito Light"/>
            </a:endParaRPr>
          </a:p>
          <a:p>
            <a:pPr marL="0" lvl="0" indent="0" algn="l">
              <a:spcBef>
                <a:spcPts val="0"/>
              </a:spcBef>
              <a:spcAft>
                <a:spcPts val="0"/>
              </a:spcAft>
              <a:buNone/>
            </a:pPr>
            <a:r>
              <a:rPr sz="1800">
                <a:solidFill>
                  <a:schemeClr val="lt1"/>
                </a:solidFill>
                <a:latin typeface="Nunito Light"/>
                <a:ea typeface="Nunito Light"/>
                <a:cs typeface="Nunito Light"/>
              </a:rPr>
              <a:t>Question schema:</a:t>
            </a:r>
          </a:p>
          <a:p>
            <a:pPr marL="0" lvl="0" indent="0" algn="l">
              <a:spcBef>
                <a:spcPts val="0"/>
              </a:spcBef>
              <a:spcAft>
                <a:spcPts val="0"/>
              </a:spcAft>
              <a:buNone/>
            </a:pPr>
            <a:endParaRPr sz="1800">
              <a:solidFill>
                <a:schemeClr val="lt1"/>
              </a:solidFill>
              <a:latin typeface="Nunito Light"/>
              <a:ea typeface="Nunito Light"/>
              <a:cs typeface="Nunito Light"/>
            </a:endParaRPr>
          </a:p>
          <a:p>
            <a:pPr marL="0" lvl="0" indent="0" algn="l">
              <a:spcBef>
                <a:spcPts val="0"/>
              </a:spcBef>
              <a:spcAft>
                <a:spcPts val="0"/>
              </a:spcAft>
              <a:buNone/>
            </a:pPr>
            <a:r>
              <a:rPr sz="1200">
                <a:solidFill>
                  <a:schemeClr val="lt1"/>
                </a:solidFill>
                <a:latin typeface="Nunito Light"/>
                <a:ea typeface="Nunito Light"/>
                <a:cs typeface="Nunito Light"/>
              </a:rPr>
              <a:t>Q1 - What is your email?</a:t>
            </a:r>
          </a:p>
          <a:p>
            <a:pPr marL="0" lvl="0" indent="0" algn="l">
              <a:spcBef>
                <a:spcPts val="0"/>
              </a:spcBef>
              <a:spcAft>
                <a:spcPts val="0"/>
              </a:spcAft>
              <a:buNone/>
            </a:pPr>
            <a:r>
              <a:rPr sz="1200">
                <a:solidFill>
                  <a:schemeClr val="lt1"/>
                </a:solidFill>
                <a:latin typeface="Nunito Light"/>
                <a:ea typeface="Nunito Light"/>
                <a:cs typeface="Nunito Light"/>
              </a:rPr>
              <a:t>Q2 - What gender do you identify as?</a:t>
            </a:r>
          </a:p>
          <a:p>
            <a:pPr marL="0" lvl="0" indent="0" algn="l">
              <a:spcBef>
                <a:spcPts val="0"/>
              </a:spcBef>
              <a:spcAft>
                <a:spcPts val="0"/>
              </a:spcAft>
              <a:buNone/>
            </a:pPr>
            <a:r>
              <a:rPr sz="1200">
                <a:solidFill>
                  <a:schemeClr val="lt1"/>
                </a:solidFill>
                <a:latin typeface="Nunito Light"/>
                <a:ea typeface="Nunito Light"/>
                <a:cs typeface="Nunito Light"/>
              </a:rPr>
              <a:t>Q3 - What is your age?</a:t>
            </a:r>
          </a:p>
          <a:p>
            <a:pPr marL="0" lvl="0" indent="0" algn="l">
              <a:spcBef>
                <a:spcPts val="0"/>
              </a:spcBef>
              <a:spcAft>
                <a:spcPts val="0"/>
              </a:spcAft>
              <a:buNone/>
            </a:pPr>
            <a:r>
              <a:rPr sz="1200">
                <a:solidFill>
                  <a:schemeClr val="lt1"/>
                </a:solidFill>
                <a:latin typeface="Nunito Light"/>
                <a:ea typeface="Nunito Light"/>
                <a:cs typeface="Nunito Light"/>
              </a:rPr>
              <a:t>Q4 - What is your annual income? (income bands)</a:t>
            </a:r>
          </a:p>
          <a:p>
            <a:pPr marL="0" lvl="0" indent="0" algn="l">
              <a:spcBef>
                <a:spcPts val="0"/>
              </a:spcBef>
              <a:spcAft>
                <a:spcPts val="0"/>
              </a:spcAft>
              <a:buNone/>
            </a:pPr>
            <a:r>
              <a:rPr sz="1200">
                <a:solidFill>
                  <a:schemeClr val="lt1"/>
                </a:solidFill>
                <a:latin typeface="Nunito Light"/>
                <a:ea typeface="Nunito Light"/>
                <a:cs typeface="Nunito Light"/>
              </a:rPr>
              <a:t>Q5 - What neighborhood do you reside in?</a:t>
            </a:r>
          </a:p>
          <a:p>
            <a:pPr marL="0" lvl="0" indent="0" algn="l">
              <a:spcBef>
                <a:spcPts val="0"/>
              </a:spcBef>
              <a:spcAft>
                <a:spcPts val="0"/>
              </a:spcAft>
              <a:buNone/>
            </a:pPr>
            <a:r>
              <a:rPr sz="1200">
                <a:solidFill>
                  <a:schemeClr val="lt1"/>
                </a:solidFill>
                <a:latin typeface="Nunito Light"/>
                <a:ea typeface="Nunito Light"/>
                <a:cs typeface="Nunito Light"/>
              </a:rPr>
              <a:t>Q6 - Do you currently use taxis? (Y/N)</a:t>
            </a:r>
          </a:p>
          <a:p>
            <a:pPr marL="0" lvl="0" indent="0" algn="l">
              <a:spcBef>
                <a:spcPts val="0"/>
              </a:spcBef>
              <a:spcAft>
                <a:spcPts val="0"/>
              </a:spcAft>
              <a:buNone/>
            </a:pPr>
            <a:r>
              <a:rPr sz="1200">
                <a:solidFill>
                  <a:schemeClr val="lt1"/>
                </a:solidFill>
                <a:latin typeface="Nunito Light"/>
                <a:ea typeface="Nunito Light"/>
                <a:cs typeface="Nunito Light"/>
              </a:rPr>
              <a:t>Q7 - Do you currently use ridesharing services? (Y/N)</a:t>
            </a:r>
          </a:p>
          <a:p>
            <a:pPr marL="0" lvl="0" indent="0" algn="l">
              <a:spcBef>
                <a:spcPts val="0"/>
              </a:spcBef>
              <a:spcAft>
                <a:spcPts val="0"/>
              </a:spcAft>
              <a:buNone/>
            </a:pPr>
            <a:r>
              <a:rPr sz="1200">
                <a:solidFill>
                  <a:schemeClr val="lt1"/>
                </a:solidFill>
                <a:latin typeface="Nunito Light"/>
                <a:ea typeface="Nunito Light"/>
                <a:cs typeface="Nunito Light"/>
              </a:rPr>
              <a:t>Q8 - Would you use a flying taxi service, if such a concept existed? (Y/N)</a:t>
            </a:r>
          </a:p>
          <a:p>
            <a:pPr marL="0" lvl="0" indent="0" algn="l">
              <a:spcBef>
                <a:spcPts val="0"/>
              </a:spcBef>
              <a:spcAft>
                <a:spcPts val="0"/>
              </a:spcAft>
              <a:buNone/>
            </a:pPr>
            <a:r>
              <a:rPr sz="1200">
                <a:solidFill>
                  <a:schemeClr val="lt1"/>
                </a:solidFill>
                <a:latin typeface="Nunito Light"/>
                <a:ea typeface="Nunito Light"/>
                <a:cs typeface="Nunito Light"/>
              </a:rPr>
              <a:t>Q9 - If yes to Q8, how much would you be willing to pay per mile for such a service? (USD)</a:t>
            </a:r>
          </a:p>
          <a:p>
            <a:pPr marL="0" lvl="0" indent="0" algn="l">
              <a:spcBef>
                <a:spcPts val="0"/>
              </a:spcBef>
              <a:spcAft>
                <a:spcPts val="0"/>
              </a:spcAft>
              <a:buNone/>
            </a:pPr>
            <a:r>
              <a:rPr sz="1200">
                <a:solidFill>
                  <a:schemeClr val="lt1"/>
                </a:solidFill>
                <a:latin typeface="Nunito Light"/>
                <a:ea typeface="Nunito Light"/>
                <a:cs typeface="Nunito Light"/>
              </a:rPr>
              <a:t>Q10 - If no to Q8, what is the reason?</a:t>
            </a:r>
          </a:p>
          <a:p>
            <a:pPr marL="0" lvl="0" indent="0" algn="l">
              <a:spcBef>
                <a:spcPts val="0"/>
              </a:spcBef>
              <a:spcAft>
                <a:spcPts val="0"/>
              </a:spcAft>
              <a:buNone/>
            </a:pPr>
            <a:endParaRPr sz="1800">
              <a:solidFill>
                <a:schemeClr val="lt1"/>
              </a:solidFill>
              <a:latin typeface="Nunito Light"/>
              <a:ea typeface="Nunito Light"/>
              <a:cs typeface="Nunito Light"/>
            </a:endParaRPr>
          </a:p>
          <a:p>
            <a:pPr marL="0" lvl="0" indent="0" algn="l">
              <a:spcBef>
                <a:spcPts val="0"/>
              </a:spcBef>
              <a:spcAft>
                <a:spcPts val="0"/>
              </a:spcAft>
              <a:buNone/>
            </a:pPr>
            <a:endParaRPr sz="1800">
              <a:solidFill>
                <a:schemeClr val="lt1"/>
              </a:solidFill>
              <a:latin typeface="Nunito Light"/>
              <a:ea typeface="Nunito Light"/>
              <a:cs typeface="Nunito Light"/>
            </a:endParaRPr>
          </a:p>
          <a:p>
            <a:pPr marL="0" lvl="0" indent="0" algn="l">
              <a:spcBef>
                <a:spcPts val="0"/>
              </a:spcBef>
              <a:spcAft>
                <a:spcPts val="0"/>
              </a:spcAft>
              <a:buNone/>
            </a:pPr>
            <a:endParaRPr sz="1800">
              <a:solidFill>
                <a:schemeClr val="lt1"/>
              </a:solidFill>
              <a:latin typeface="Nunito Light"/>
              <a:ea typeface="Nunito Light"/>
              <a:cs typeface="Nunito Light"/>
            </a:endParaRPr>
          </a:p>
          <a:p>
            <a:pPr marL="0" lvl="0" indent="0" algn="l">
              <a:spcBef>
                <a:spcPts val="0"/>
              </a:spcBef>
              <a:spcAft>
                <a:spcPts val="0"/>
              </a:spcAft>
              <a:buNone/>
            </a:pPr>
            <a:endParaRPr sz="1800">
              <a:solidFill>
                <a:schemeClr val="lt1"/>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15290946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E9AA7"/>
        </a:solidFill>
        <a:effectLst/>
      </p:bgPr>
    </p:bg>
    <p:spTree>
      <p:nvGrpSpPr>
        <p:cNvPr id="1" name=""/>
        <p:cNvGrpSpPr/>
        <p:nvPr/>
      </p:nvGrpSpPr>
      <p:grpSpPr>
        <a:xfrm>
          <a:off x="0" y="0"/>
          <a:ext cx="0" cy="0"/>
          <a:chOff x="0" y="0"/>
          <a:chExt cx="0" cy="0"/>
        </a:xfrm>
      </p:grpSpPr>
      <p:sp>
        <p:nvSpPr>
          <p:cNvPr id="181" name="Google Shape;181;p37">
            <a:extLst>
              <a:ext uri="{FF2B5EF4-FFF2-40B4-BE49-F238E27FC236}">
                <a16:creationId xmlns:a16="http://schemas.microsoft.com/office/drawing/2014/main" id="{7BB9D238-5F1F-4D71-9AA9-40F9F7968D9B}"/>
              </a:ext>
            </a:extLst>
          </p:cNvPr>
          <p:cNvSpPr>
            <a:spLocks noGrp="1"/>
          </p:cNvSpPr>
          <p:nvPr>
            <p:ph type="ctrTitle"/>
          </p:nvPr>
        </p:nvSpPr>
        <p:spPr>
          <a:xfrm>
            <a:off x="350100" y="1255050"/>
            <a:ext cx="7532700" cy="2633400"/>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1800">
                <a:solidFill>
                  <a:schemeClr val="lt1"/>
                </a:solidFill>
                <a:latin typeface="Nunito Light"/>
                <a:ea typeface="Nunito Light"/>
                <a:cs typeface="Nunito Light"/>
              </a:rPr>
              <a:t>To inform our future product marketing efforts, we'll want to extract the following:</a:t>
            </a:r>
          </a:p>
          <a:p>
            <a:pPr marL="0" lvl="0" indent="0" algn="l">
              <a:spcBef>
                <a:spcPts val="0"/>
              </a:spcBef>
              <a:spcAft>
                <a:spcPts val="0"/>
              </a:spcAft>
              <a:buNone/>
            </a:pPr>
            <a:endParaRPr sz="1800">
              <a:solidFill>
                <a:schemeClr val="lt1"/>
              </a:solidFill>
              <a:latin typeface="Nunito Light"/>
              <a:ea typeface="Nunito Light"/>
              <a:cs typeface="Nunito Light"/>
            </a:endParaRPr>
          </a:p>
          <a:p>
            <a:pPr marL="457200" lvl="0" indent="-342900" algn="l">
              <a:spcBef>
                <a:spcPts val="0"/>
              </a:spcBef>
              <a:spcAft>
                <a:spcPts val="0"/>
              </a:spcAft>
              <a:buClr>
                <a:schemeClr val="lt1"/>
              </a:buClr>
              <a:buSzPts val="1800"/>
              <a:buFont typeface="Nunito Light"/>
              <a:buChar char="●"/>
            </a:pPr>
            <a:r>
              <a:rPr sz="1800">
                <a:solidFill>
                  <a:schemeClr val="lt1"/>
                </a:solidFill>
                <a:latin typeface="Nunito Light"/>
                <a:ea typeface="Nunito Light"/>
                <a:cs typeface="Nunito Light"/>
              </a:rPr>
              <a:t>Is there an inclination of better Flyber adoption based on gender, age, income level, or neighborhood of residence? </a:t>
            </a:r>
          </a:p>
          <a:p>
            <a:pPr marL="457200" lvl="0" indent="-342900" algn="l">
              <a:spcBef>
                <a:spcPts val="0"/>
              </a:spcBef>
              <a:spcAft>
                <a:spcPts val="0"/>
              </a:spcAft>
              <a:buClr>
                <a:schemeClr val="lt1"/>
              </a:buClr>
              <a:buSzPts val="1800"/>
              <a:buFont typeface="Nunito Light"/>
              <a:buChar char="●"/>
            </a:pPr>
            <a:r>
              <a:rPr sz="1800">
                <a:solidFill>
                  <a:schemeClr val="lt1"/>
                </a:solidFill>
                <a:latin typeface="Nunito Light"/>
                <a:ea typeface="Nunito Light"/>
                <a:cs typeface="Nunito Light"/>
              </a:rPr>
              <a:t>What is the distribution of potential price per mile based on gender, age, income level, and neighborhood of residence?</a:t>
            </a:r>
          </a:p>
          <a:p>
            <a:pPr marL="457200" lvl="0" indent="-342900" algn="l">
              <a:spcBef>
                <a:spcPts val="0"/>
              </a:spcBef>
              <a:spcAft>
                <a:spcPts val="0"/>
              </a:spcAft>
              <a:buClr>
                <a:schemeClr val="lt1"/>
              </a:buClr>
              <a:buSzPts val="1800"/>
              <a:buFont typeface="Nunito Light"/>
              <a:buChar char="●"/>
            </a:pPr>
            <a:r>
              <a:rPr sz="1800">
                <a:solidFill>
                  <a:schemeClr val="lt1"/>
                </a:solidFill>
                <a:latin typeface="Nunito Light"/>
                <a:ea typeface="Nunito Light"/>
                <a:cs typeface="Nunito Light"/>
              </a:rPr>
              <a:t>What is the different personas/segments of negative sentiment towards not using a flying taxi car service?</a:t>
            </a:r>
          </a:p>
          <a:p>
            <a:pPr marL="0" lvl="0" indent="0" algn="l">
              <a:spcBef>
                <a:spcPts val="0"/>
              </a:spcBef>
              <a:spcAft>
                <a:spcPts val="0"/>
              </a:spcAft>
              <a:buNone/>
            </a:pPr>
            <a:endParaRPr sz="1800">
              <a:solidFill>
                <a:schemeClr val="lt1"/>
              </a:solidFill>
              <a:latin typeface="Nunito Light"/>
              <a:ea typeface="Nunito Light"/>
              <a:cs typeface="Nunito Light"/>
            </a:endParaRPr>
          </a:p>
          <a:p>
            <a:pPr marL="0" lvl="0" indent="0" algn="l">
              <a:spcBef>
                <a:spcPts val="0"/>
              </a:spcBef>
              <a:spcAft>
                <a:spcPts val="0"/>
              </a:spcAft>
              <a:buNone/>
            </a:pPr>
            <a:br/>
            <a:r>
              <a:rPr sz="1800">
                <a:solidFill>
                  <a:srgbClr val="FFFFFF"/>
                </a:solidFill>
                <a:latin typeface="Nunito Light"/>
                <a:ea typeface="Nunito Light"/>
                <a:cs typeface="Nunito Light"/>
              </a:rPr>
              <a:t>Please support your answers with clear, relevant visualizations.</a:t>
            </a:r>
            <a:endParaRPr sz="1800">
              <a:solidFill>
                <a:schemeClr val="lt1"/>
              </a:solidFill>
              <a:latin typeface="Nunito Light"/>
              <a:ea typeface="Nunito Light"/>
              <a:cs typeface="Nunito Light"/>
            </a:endParaRPr>
          </a:p>
          <a:p>
            <a:pPr marL="0" lvl="0" indent="0" algn="l">
              <a:spcBef>
                <a:spcPts val="0"/>
              </a:spcBef>
              <a:spcAft>
                <a:spcPts val="0"/>
              </a:spcAft>
              <a:buNone/>
            </a:pPr>
            <a:endParaRPr sz="1800">
              <a:solidFill>
                <a:schemeClr val="lt1"/>
              </a:solidFill>
              <a:latin typeface="Nunito Light"/>
              <a:ea typeface="Nunito Light"/>
              <a:cs typeface="Nunito Light"/>
            </a:endParaRPr>
          </a:p>
          <a:p>
            <a:pPr marL="0" lvl="0" indent="0" algn="l">
              <a:spcBef>
                <a:spcPts val="0"/>
              </a:spcBef>
              <a:spcAft>
                <a:spcPts val="0"/>
              </a:spcAft>
              <a:buNone/>
            </a:pPr>
            <a:endParaRPr sz="1800">
              <a:solidFill>
                <a:schemeClr val="lt1"/>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p:txBody>
      </p:sp>
    </p:spTree>
    <p:extLst>
      <p:ext uri="{BB962C8B-B14F-4D97-AF65-F5344CB8AC3E}">
        <p14:creationId xmlns:p14="http://schemas.microsoft.com/office/powerpoint/2010/main" val="5864436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E9AA7"/>
        </a:solidFill>
        <a:effectLst/>
      </p:bgPr>
    </p:bg>
    <p:spTree>
      <p:nvGrpSpPr>
        <p:cNvPr id="1" name=""/>
        <p:cNvGrpSpPr/>
        <p:nvPr/>
      </p:nvGrpSpPr>
      <p:grpSpPr>
        <a:xfrm>
          <a:off x="0" y="0"/>
          <a:ext cx="0" cy="0"/>
          <a:chOff x="0" y="0"/>
          <a:chExt cx="0" cy="0"/>
        </a:xfrm>
      </p:grpSpPr>
      <p:sp>
        <p:nvSpPr>
          <p:cNvPr id="186" name="Google Shape;186;p38">
            <a:extLst>
              <a:ext uri="{FF2B5EF4-FFF2-40B4-BE49-F238E27FC236}">
                <a16:creationId xmlns:a16="http://schemas.microsoft.com/office/drawing/2014/main" id="{BA89EE53-0EA6-41D3-BBED-4A31058BDBC8}"/>
              </a:ext>
            </a:extLst>
          </p:cNvPr>
          <p:cNvSpPr>
            <a:spLocks noGrp="1"/>
          </p:cNvSpPr>
          <p:nvPr>
            <p:ph type="ctrTitle"/>
          </p:nvPr>
        </p:nvSpPr>
        <p:spPr>
          <a:xfrm>
            <a:off x="262033" y="177832"/>
            <a:ext cx="8520589" cy="637223"/>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3600">
                <a:solidFill>
                  <a:schemeClr val="lt1"/>
                </a:solidFill>
                <a:latin typeface="Nunito Light"/>
                <a:ea typeface="Nunito Light"/>
                <a:cs typeface="Nunito Light"/>
              </a:rPr>
              <a:t>Transport use barely changes interest</a:t>
            </a: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187" name="Google Shape;187;p38">
            <a:extLst>
              <a:ext uri="{FF2B5EF4-FFF2-40B4-BE49-F238E27FC236}">
                <a16:creationId xmlns:a16="http://schemas.microsoft.com/office/drawing/2014/main" id="{5A5EE1FD-3A51-4B3D-9021-756569907A56}"/>
              </a:ext>
            </a:extLst>
          </p:cNvPr>
          <p:cNvSpPr>
            <a:spLocks noGrp="1"/>
          </p:cNvSpPr>
          <p:nvPr>
            <p:ph type="ctrTitle"/>
          </p:nvPr>
        </p:nvSpPr>
        <p:spPr>
          <a:xfrm>
            <a:off x="329089" y="4591050"/>
            <a:ext cx="8477250" cy="361950"/>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1800">
                <a:solidFill>
                  <a:srgbClr val="FFFFFF"/>
                </a:solidFill>
                <a:latin typeface="Nunito Light"/>
                <a:ea typeface="Nunito Light"/>
                <a:cs typeface="Nunito Light"/>
              </a:rPr>
              <a:t>Taxi: 79.8% vs 81.7%; rideshare: 80.0% vs 80.4%. Neighborhoods: n &gt;= 10.</a:t>
            </a: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p:txBody>
      </p:sp>
      <p:pic>
        <p:nvPicPr>
          <p:cNvPr id="191" name="Picture 190"/>
          <p:cNvPicPr>
            <a:picLocks noChangeAspect="1"/>
          </p:cNvPicPr>
          <p:nvPr/>
        </p:nvPicPr>
        <p:blipFill>
          <a:blip r:embed="rId3"/>
          <a:stretch/>
        </p:blipFill>
        <p:spPr>
          <a:xfrm>
            <a:off x="1231498" y="895350"/>
            <a:ext cx="6681004" cy="3619500"/>
          </a:xfrm>
          <a:prstGeom prst="rect">
            <a:avLst/>
          </a:prstGeom>
        </p:spPr>
      </p:pic>
    </p:spTree>
    <p:extLst>
      <p:ext uri="{BB962C8B-B14F-4D97-AF65-F5344CB8AC3E}">
        <p14:creationId xmlns:p14="http://schemas.microsoft.com/office/powerpoint/2010/main" val="12150969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E9AA7"/>
        </a:solidFill>
        <a:effectLst/>
      </p:bgPr>
    </p:bg>
    <p:spTree>
      <p:nvGrpSpPr>
        <p:cNvPr id="1" name=""/>
        <p:cNvGrpSpPr/>
        <p:nvPr/>
      </p:nvGrpSpPr>
      <p:grpSpPr>
        <a:xfrm>
          <a:off x="0" y="0"/>
          <a:ext cx="0" cy="0"/>
          <a:chOff x="0" y="0"/>
          <a:chExt cx="0" cy="0"/>
        </a:xfrm>
      </p:grpSpPr>
      <p:sp>
        <p:nvSpPr>
          <p:cNvPr id="186" name="Google Shape;186;p38">
            <a:extLst>
              <a:ext uri="{FF2B5EF4-FFF2-40B4-BE49-F238E27FC236}">
                <a16:creationId xmlns:a16="http://schemas.microsoft.com/office/drawing/2014/main" id="{BA89EE53-0EA6-41D3-BBED-4A31058BDBC8}"/>
              </a:ext>
            </a:extLst>
          </p:cNvPr>
          <p:cNvSpPr>
            <a:spLocks noGrp="1"/>
          </p:cNvSpPr>
          <p:nvPr>
            <p:ph type="ctrTitle"/>
          </p:nvPr>
        </p:nvSpPr>
        <p:spPr>
          <a:xfrm>
            <a:off x="262033" y="177832"/>
            <a:ext cx="8520589" cy="637223"/>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3600">
                <a:solidFill>
                  <a:schemeClr val="lt1"/>
                </a:solidFill>
                <a:latin typeface="Nunito Light"/>
                <a:ea typeface="Nunito Light"/>
                <a:cs typeface="Nunito Light"/>
              </a:rPr>
              <a:t>Income predicts willingness to pay</a:t>
            </a: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187" name="Google Shape;187;p38">
            <a:extLst>
              <a:ext uri="{FF2B5EF4-FFF2-40B4-BE49-F238E27FC236}">
                <a16:creationId xmlns:a16="http://schemas.microsoft.com/office/drawing/2014/main" id="{5A5EE1FD-3A51-4B3D-9021-756569907A56}"/>
              </a:ext>
            </a:extLst>
          </p:cNvPr>
          <p:cNvSpPr>
            <a:spLocks noGrp="1"/>
          </p:cNvSpPr>
          <p:nvPr>
            <p:ph type="ctrTitle"/>
          </p:nvPr>
        </p:nvSpPr>
        <p:spPr>
          <a:xfrm>
            <a:off x="329089" y="4591050"/>
            <a:ext cx="8477250" cy="361950"/>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1800">
                <a:solidFill>
                  <a:srgbClr val="FFFFFF"/>
                </a:solidFill>
                <a:latin typeface="Nunito Light"/>
                <a:ea typeface="Nunito Light"/>
                <a:cs typeface="Nunito Light"/>
              </a:rPr>
              <a:t>$23/mile overall; income leads differences; neighborhoods use n &gt;= 10.</a:t>
            </a: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p:txBody>
      </p:sp>
      <p:pic>
        <p:nvPicPr>
          <p:cNvPr id="191" name="Picture 190"/>
          <p:cNvPicPr>
            <a:picLocks noChangeAspect="1"/>
          </p:cNvPicPr>
          <p:nvPr/>
        </p:nvPicPr>
        <p:blipFill>
          <a:blip r:embed="rId3"/>
          <a:stretch/>
        </p:blipFill>
        <p:spPr>
          <a:xfrm>
            <a:off x="1224025" y="895350"/>
            <a:ext cx="6695950" cy="3619500"/>
          </a:xfrm>
          <a:prstGeom prst="rect">
            <a:avLst/>
          </a:prstGeom>
        </p:spPr>
      </p:pic>
    </p:spTree>
    <p:extLst>
      <p:ext uri="{BB962C8B-B14F-4D97-AF65-F5344CB8AC3E}">
        <p14:creationId xmlns:p14="http://schemas.microsoft.com/office/powerpoint/2010/main" val="12150969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E9AA7"/>
        </a:solidFill>
        <a:effectLst/>
      </p:bgPr>
    </p:bg>
    <p:spTree>
      <p:nvGrpSpPr>
        <p:cNvPr id="1" name=""/>
        <p:cNvGrpSpPr/>
        <p:nvPr/>
      </p:nvGrpSpPr>
      <p:grpSpPr>
        <a:xfrm>
          <a:off x="0" y="0"/>
          <a:ext cx="0" cy="0"/>
          <a:chOff x="0" y="0"/>
          <a:chExt cx="0" cy="0"/>
        </a:xfrm>
      </p:grpSpPr>
      <p:sp>
        <p:nvSpPr>
          <p:cNvPr id="186" name="Google Shape;186;p38">
            <a:extLst>
              <a:ext uri="{FF2B5EF4-FFF2-40B4-BE49-F238E27FC236}">
                <a16:creationId xmlns:a16="http://schemas.microsoft.com/office/drawing/2014/main" id="{BA89EE53-0EA6-41D3-BBED-4A31058BDBC8}"/>
              </a:ext>
            </a:extLst>
          </p:cNvPr>
          <p:cNvSpPr>
            <a:spLocks noGrp="1"/>
          </p:cNvSpPr>
          <p:nvPr>
            <p:ph type="ctrTitle"/>
          </p:nvPr>
        </p:nvSpPr>
        <p:spPr>
          <a:xfrm>
            <a:off x="262033" y="177832"/>
            <a:ext cx="8520589" cy="637223"/>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3600">
                <a:solidFill>
                  <a:schemeClr val="lt1"/>
                </a:solidFill>
                <a:latin typeface="Nunito Light"/>
                <a:ea typeface="Nunito Light"/>
                <a:cs typeface="Nunito Light"/>
              </a:rPr>
              <a:t>Safety drives 57.6% of objections</a:t>
            </a: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3600">
              <a:solidFill>
                <a:srgbClr val="434343"/>
              </a:solidFill>
              <a:latin typeface="Nunito Light"/>
              <a:ea typeface="Nunito Light"/>
              <a:cs typeface="Nunito Light"/>
            </a:endParaRPr>
          </a:p>
        </p:txBody>
      </p:sp>
      <p:sp>
        <p:nvSpPr>
          <p:cNvPr id="187" name="Google Shape;187;p38">
            <a:extLst>
              <a:ext uri="{FF2B5EF4-FFF2-40B4-BE49-F238E27FC236}">
                <a16:creationId xmlns:a16="http://schemas.microsoft.com/office/drawing/2014/main" id="{5A5EE1FD-3A51-4B3D-9021-756569907A56}"/>
              </a:ext>
            </a:extLst>
          </p:cNvPr>
          <p:cNvSpPr>
            <a:spLocks noGrp="1"/>
          </p:cNvSpPr>
          <p:nvPr>
            <p:ph type="ctrTitle"/>
          </p:nvPr>
        </p:nvSpPr>
        <p:spPr>
          <a:xfrm>
            <a:off x="329089" y="4591050"/>
            <a:ext cx="8477250" cy="361950"/>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1800">
                <a:solidFill>
                  <a:srgbClr val="FFFFFF"/>
                </a:solidFill>
                <a:latin typeface="Nunito Light"/>
                <a:ea typeface="Nunito Light"/>
                <a:cs typeface="Nunito Light"/>
              </a:rPr>
              <a:t>Negative-response segmentation: n = 99; safety and pilot trust lead.</a:t>
            </a: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a:p>
            <a:pPr marL="0" lvl="0" indent="0" algn="l">
              <a:spcBef>
                <a:spcPts val="0"/>
              </a:spcBef>
              <a:spcAft>
                <a:spcPts val="0"/>
              </a:spcAft>
              <a:buNone/>
            </a:pPr>
            <a:endParaRPr sz="1800">
              <a:solidFill>
                <a:srgbClr val="FFFFFF"/>
              </a:solidFill>
              <a:latin typeface="Nunito Light"/>
              <a:ea typeface="Nunito Light"/>
              <a:cs typeface="Nunito Light"/>
            </a:endParaRPr>
          </a:p>
        </p:txBody>
      </p:sp>
      <p:pic>
        <p:nvPicPr>
          <p:cNvPr id="191" name="Picture 190"/>
          <p:cNvPicPr>
            <a:picLocks noChangeAspect="1"/>
          </p:cNvPicPr>
          <p:nvPr/>
        </p:nvPicPr>
        <p:blipFill>
          <a:blip r:embed="rId3"/>
          <a:stretch/>
        </p:blipFill>
        <p:spPr>
          <a:xfrm>
            <a:off x="1181393" y="895350"/>
            <a:ext cx="6781215" cy="3619500"/>
          </a:xfrm>
          <a:prstGeom prst="rect">
            <a:avLst/>
          </a:prstGeom>
        </p:spPr>
      </p:pic>
    </p:spTree>
    <p:extLst>
      <p:ext uri="{BB962C8B-B14F-4D97-AF65-F5344CB8AC3E}">
        <p14:creationId xmlns:p14="http://schemas.microsoft.com/office/powerpoint/2010/main" val="12150969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6CD61"/>
        </a:solidFill>
        <a:effectLst/>
      </p:bgPr>
    </p:bg>
    <p:spTree>
      <p:nvGrpSpPr>
        <p:cNvPr id="1" name=""/>
        <p:cNvGrpSpPr/>
        <p:nvPr/>
      </p:nvGrpSpPr>
      <p:grpSpPr>
        <a:xfrm>
          <a:off x="0" y="0"/>
          <a:ext cx="0" cy="0"/>
          <a:chOff x="0" y="0"/>
          <a:chExt cx="0" cy="0"/>
        </a:xfrm>
      </p:grpSpPr>
      <p:sp>
        <p:nvSpPr>
          <p:cNvPr id="192" name="Google Shape;192;p39">
            <a:extLst>
              <a:ext uri="{FF2B5EF4-FFF2-40B4-BE49-F238E27FC236}">
                <a16:creationId xmlns:a16="http://schemas.microsoft.com/office/drawing/2014/main" id="{E384A522-85AB-4148-9DFE-5D28DF54697F}"/>
              </a:ext>
            </a:extLst>
          </p:cNvPr>
          <p:cNvSpPr>
            <a:spLocks noGrp="1"/>
          </p:cNvSpPr>
          <p:nvPr>
            <p:ph type="ctrTitle"/>
          </p:nvPr>
        </p:nvSpPr>
        <p:spPr>
          <a:xfrm>
            <a:off x="311700" y="2253150"/>
            <a:ext cx="8520600" cy="6372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pPr>
            <a:r>
              <a:rPr sz="3600">
                <a:solidFill>
                  <a:srgbClr val="434343"/>
                </a:solidFill>
                <a:latin typeface="Nunito Light"/>
                <a:ea typeface="Nunito Light"/>
                <a:cs typeface="Nunito Light"/>
              </a:rPr>
              <a:t>Hooray! End of Section 1.</a:t>
            </a:r>
          </a:p>
        </p:txBody>
      </p:sp>
    </p:spTree>
    <p:extLst>
      <p:ext uri="{BB962C8B-B14F-4D97-AF65-F5344CB8AC3E}">
        <p14:creationId xmlns:p14="http://schemas.microsoft.com/office/powerpoint/2010/main" val="4661132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6CD61"/>
        </a:solidFill>
        <a:effectLst/>
      </p:bgPr>
    </p:bg>
    <p:spTree>
      <p:nvGrpSpPr>
        <p:cNvPr id="1" name=""/>
        <p:cNvGrpSpPr/>
        <p:nvPr/>
      </p:nvGrpSpPr>
      <p:grpSpPr>
        <a:xfrm>
          <a:off x="0" y="0"/>
          <a:ext cx="0" cy="0"/>
          <a:chOff x="0" y="0"/>
          <a:chExt cx="0" cy="0"/>
        </a:xfrm>
      </p:grpSpPr>
      <p:sp>
        <p:nvSpPr>
          <p:cNvPr id="197" name="Google Shape;197;p40">
            <a:extLst>
              <a:ext uri="{FF2B5EF4-FFF2-40B4-BE49-F238E27FC236}">
                <a16:creationId xmlns:a16="http://schemas.microsoft.com/office/drawing/2014/main" id="{48487B13-21D4-4AFC-81D1-E1AEB4DD4584}"/>
              </a:ext>
            </a:extLst>
          </p:cNvPr>
          <p:cNvSpPr>
            <a:spLocks noGrp="1"/>
          </p:cNvSpPr>
          <p:nvPr>
            <p:ph type="ctrTitle"/>
          </p:nvPr>
        </p:nvSpPr>
        <p:spPr>
          <a:xfrm>
            <a:off x="311700" y="2042250"/>
            <a:ext cx="8520600" cy="1059000"/>
          </a:xfrm>
          <a:prstGeom prst="rect">
            <a:avLst/>
          </a:prstGeom>
        </p:spPr>
        <p:txBody>
          <a:bodyPr spcFirstLastPara="1" wrap="square" lIns="91425" tIns="91425" rIns="91425" bIns="91425" anchor="t">
            <a:noAutofit/>
          </a:bodyPr>
          <a:lstStyle/>
          <a:p>
            <a:pPr marL="0" lvl="0" indent="0" algn="l">
              <a:spcBef>
                <a:spcPts val="0"/>
              </a:spcBef>
              <a:spcAft>
                <a:spcPts val="0"/>
              </a:spcAft>
              <a:buNone/>
            </a:pPr>
            <a:r>
              <a:rPr sz="1800">
                <a:solidFill>
                  <a:srgbClr val="434343"/>
                </a:solidFill>
                <a:latin typeface="Nunito Light"/>
                <a:ea typeface="Nunito Light"/>
                <a:cs typeface="Nunito Light"/>
              </a:rPr>
              <a:t>You will complete Section 2 at the end of this course. </a:t>
            </a: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Clr>
                <a:schemeClr val="dk1"/>
              </a:buClr>
              <a:buSzPts val="1100"/>
              <a:buFont typeface="Arial"/>
              <a:buNone/>
            </a:pPr>
            <a:r>
              <a:rPr sz="1800">
                <a:solidFill>
                  <a:srgbClr val="434343"/>
                </a:solidFill>
                <a:latin typeface="Nunito Light"/>
                <a:ea typeface="Nunito Light"/>
                <a:cs typeface="Nunito Light"/>
              </a:rPr>
              <a:t>Please submit this file for review for Section 1. </a:t>
            </a: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a:p>
            <a:pPr marL="0" lvl="0" indent="0" algn="l">
              <a:spcBef>
                <a:spcPts val="0"/>
              </a:spcBef>
              <a:spcAft>
                <a:spcPts val="0"/>
              </a:spcAft>
              <a:buNone/>
            </a:pPr>
            <a:endParaRPr sz="1800">
              <a:solidFill>
                <a:srgbClr val="434343"/>
              </a:solidFill>
              <a:latin typeface="Nunito Light"/>
              <a:ea typeface="Nunito Light"/>
              <a:cs typeface="Nunito Light"/>
            </a:endParaRPr>
          </a:p>
        </p:txBody>
      </p:sp>
    </p:spTree>
    <p:extLst>
      <p:ext uri="{BB962C8B-B14F-4D97-AF65-F5344CB8AC3E}">
        <p14:creationId xmlns:p14="http://schemas.microsoft.com/office/powerpoint/2010/main" val="118303671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2061</Words>
  <Application>Microsoft Office PowerPoint</Application>
  <DocSecurity>0</DocSecurity>
  <PresentationFormat>On-screen Show (16:9)</PresentationFormat>
  <Paragraphs>228</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Nunito Light</vt:lpstr>
      <vt:lpstr>Arial</vt:lpstr>
      <vt:lpstr>Nunito</vt:lpstr>
      <vt:lpstr>Simple Light</vt:lpstr>
      <vt:lpstr>Data Product Manager Nanodegree Applying Data Science to Product Management Final Project: Developing an MVP Launch Strategy for a Flying Taxi Service</vt:lpstr>
      <vt:lpstr>Welcome to your first week at Flyber </vt:lpstr>
      <vt:lpstr>PowerPoint Presentation</vt:lpstr>
      <vt:lpstr>In this project, you will apply the skills acquired in this course to create the MVP launch strategy for the first flying car taxi service, Flyber, in one of the most congested cities in America -- New York City.   You are responsible for bringing the first flying car taxi service to market by analyzing data and building a product proposal.  </vt:lpstr>
      <vt:lpstr>You will need to use the SQL workspace provided in the Classroom, and Tableau Public, in order to successfully complete the project.   You'll present your answers, findings, and insights in the Answer Slides found in this deck. Feel free to include any additional slides, if needed.    </vt:lpstr>
      <vt:lpstr>Section 1: Data Exploration </vt:lpstr>
      <vt:lpstr>Back to the basics of product management, identify your customer and their pain points: What are taxis used for? What are the characteristics of the users that leverage them? What are existing pain points with taxis? What are the existing pain points with digital ride-sharing services?     </vt:lpstr>
      <vt:lpstr>Ground travel creates uncertainty     </vt:lpstr>
      <vt:lpstr>What user improvements do you hypothesize a flying taxi service would have over the existing state of taxis today?   What market improvements do you hypothesize a flying taxi service would have the existing taxi service industry &amp; physical road infrastructure today?     </vt:lpstr>
      <vt:lpstr>Flyber's advantage is time certainty     </vt:lpstr>
      <vt:lpstr>Upload this dataset into Tableau Online.    Ensure the fields are parsed correctly; field headers are included in the first row of the CSV.   Let's begin exploration!     </vt:lpstr>
      <vt:lpstr>Acquire a high-level understanding of the granularity and scope of the dataset, to inform the basis for your analyses: How many records are in the dataset What does each record represent? What is the primary key? What date range is your dataset bound to? What are the geographical bounds of this dataset? Is it limited to Manhattan, or is Brooklyn, Queens, Staten Island, the Bronx, and New Jersey included? Where are most of the data points centralized at? Are there outliers?       </vt:lpstr>
      <vt:lpstr>1,048,468 unique trips define the market     </vt:lpstr>
      <vt:lpstr>You notice that the dataset does not contain explicit data points out-of the-box, we'll need to enrich the dataset with relevant fields: You notice that ride price is not included, but figure it could be derived. Based on information about New York taxi prices gleaned from the internet, create a calculated field called  `price` using the `duration`, `distance`, and `passenger count` fields. You hypothesize your target users will be those who take a relatively longer time getting to a destination that is relatively close, due to heavy traffic conditions and/or limitations to physical road infrastructure. To be able to analyze where this is happening, you will need to create a calculated field called `duration-to-distance ratio`.  </vt:lpstr>
      <vt:lpstr>Let's understand the scope and distribution various dimensions within the dataset. Calculate the average, median, and the first &amp; second standard deviation of the mean for the following measures: duration distance passenger counts duration-to-distance ratio price  </vt:lpstr>
      <vt:lpstr>A typical trip is 11 min over 2.1 mi     </vt:lpstr>
      <vt:lpstr>Flying cars may have to have to be a lower weight for efficiency &amp; take-off. Or you may just decide to leverage mini-copters for your initial MVP.   Create a histogram that visualizes the number of total rides grouped by passenger counts to analyze the potential market volume of low passenger pickups (1-2 passengers). </vt:lpstr>
      <vt:lpstr>1-2 riders represent 85.3% of trips     </vt:lpstr>
      <vt:lpstr>For the initial MVP launch (&amp; most likely GA), we have a finite amount of monetary resources to build Flyber pick-up / drop-off nodes. We'll need to be strategic on where we'll place them:  Which neighborhoods/zip codes tends to experience a relatively higher density of pick-ups?  Which neighborhoods/zip codes tends to experience a relatively higher density of drop-offs? Which neighborhoods/zip codes tends to have the highest duration-to-distance ratios, based on pick-up? Which neighborhoods/zip codes tends to have the highest duration-to-distance ratios, based on drop-off? For any of the neighborhoods identified, are there any potential areas within the neighborhood that are optimal for flying taxi pick-up / drop-off? What makes them suitable? </vt:lpstr>
      <vt:lpstr>Midtown concentrates demand and delay     </vt:lpstr>
      <vt:lpstr>It may not make operational sense to have the service running 24/7, for now. What times throughout the day experience relatively higher volumes of ride pick-ups? What days throughout the week experience relatively higher volumes of ride pick-ups? Pinpoint any periods throughout the year that experience trend fluctuation or seasonality around ride pick-up volumes. This will help us in our post-launch analyses to determine if any spikes or dips were influenced by seasonality or through actual feature adoption/regression. </vt:lpstr>
      <vt:lpstr>Thu-Sat evenings maximize demand     </vt:lpstr>
      <vt:lpstr>You and the user research team ran a quantitative survey on existing taxi and/or rideshare users in New York City to determine sentiment around potentially using a flying taxi service.  Dive into the survey results dataset in order to extract insights from explicit feedback.  Upload this dataset into Tableau Online or a SQL database (the classroom contains a workspace with the data for you as well).     </vt:lpstr>
      <vt:lpstr>Ensure the fields are parsed correctly, field headers are included in the first row of the CSV.  Question schema:  Q1 - What is your email? Q2 - What gender do you identify as? Q3 - What is your age? Q4 - What is your annual income? (income bands) Q5 - What neighborhood do you reside in? Q6 - Do you currently use taxis? (Y/N) Q7 - Do you currently use ridesharing services? (Y/N) Q8 - Would you use a flying taxi service, if such a concept existed? (Y/N) Q9 - If yes to Q8, how much would you be willing to pay per mile for such a service? (USD) Q10 - If no to Q8, what is the reason?         </vt:lpstr>
      <vt:lpstr>To inform our future product marketing efforts, we'll want to extract the following:  Is there an inclination of better Flyber adoption based on gender, age, income level, or neighborhood of residence?  What is the distribution of potential price per mile based on gender, age, income level, and neighborhood of residence? What is the different personas/segments of negative sentiment towards not using a flying taxi car service?   Please support your answers with clear, relevant visualizations.       </vt:lpstr>
      <vt:lpstr>Transport use barely changes interest     </vt:lpstr>
      <vt:lpstr>Income predicts willingness to pay     </vt:lpstr>
      <vt:lpstr>Safety drives 57.6% of objections     </vt:lpstr>
      <vt:lpstr>Hooray! End of Section 1.</vt:lpstr>
      <vt:lpstr>You will complete Section 2 at the end of this course.   Please submit this file for review for Section 1.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Christopher O'Hara</cp:lastModifiedBy>
  <cp:revision>1</cp:revision>
  <dcterms:created xsi:type="dcterms:W3CDTF">2026-08-08T07:20:34Z</dcterms:created>
  <dcterms:modified xsi:type="dcterms:W3CDTF">2026-08-08T07:25:19Z</dcterms:modified>
</cp:coreProperties>
</file>